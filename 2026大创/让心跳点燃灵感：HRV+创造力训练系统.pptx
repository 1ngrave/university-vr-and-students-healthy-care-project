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12192000"/>
  <p:embeddedFontLst>
    <p:embeddedFont>
      <p:font typeface="MiSans" pitchFamily="34" charset="-122"/>
      <p:regular r:id="rId29"/>
    </p:embeddedFont>
    <p:embeddedFont>
      <p:font typeface="MiSans" pitchFamily="34" charset="-120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8.png"/><Relationship Id="rId3" Type="http://schemas.openxmlformats.org/officeDocument/2006/relationships/tags" Target="../tags/tag1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image" Target="../media/image7.png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2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6-d2t9a0lnfo2stf9dj27g.jpg"/>
          <p:cNvPicPr>
            <a:picLocks noChangeAspect="1"/>
          </p:cNvPicPr>
          <p:nvPr/>
        </p:nvPicPr>
        <p:blipFill>
          <a:blip r:embed="rId1"/>
          <a:srcRect l="12595" t="8358" r="640"/>
          <a:stretch>
            <a:fillRect/>
          </a:stretch>
        </p:blipFill>
        <p:spPr>
          <a:xfrm>
            <a:off x="0" y="0"/>
            <a:ext cx="122097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2930" y="1120775"/>
            <a:ext cx="8126095" cy="2130425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让心跳点燃灵感：HRV+创造力训练</a:t>
            </a:r>
            <a:r>
              <a:rPr lang="en-US" sz="6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</a:t>
            </a:r>
            <a:endParaRPr lang="en-US" sz="6000" dirty="0"/>
          </a:p>
        </p:txBody>
      </p:sp>
      <p:pic>
        <p:nvPicPr>
          <p:cNvPr id="4" name="Image 1" descr="https://kimi-img.moonshot.cn/pub/slides/slides_tmpl/image/25-09-05-15:44:58-d2t99ulnfo2stf9dj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95" y="637540"/>
            <a:ext cx="713105" cy="35814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5:44:58-d2t99ulnfo2stf9dj2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95" y="5817235"/>
            <a:ext cx="929640" cy="23749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5:44:58-d2t99ulnfo2stf9dj21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355" y="5814060"/>
            <a:ext cx="5918200" cy="14795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5:44:58-d2t99ulnfo2stf9dj2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5180" y="5608320"/>
            <a:ext cx="2356485" cy="59245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5:44:58-d2t99ulnfo2stf9dj2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420" y="5617210"/>
            <a:ext cx="1889125" cy="59245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7889240" y="5694680"/>
            <a:ext cx="1685290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答辩人</a:t>
            </a: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张欣然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9777095" y="5687695"/>
            <a:ext cx="213677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</a:t>
            </a: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2025/09/17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ic Book" pitchFamily="34" charset="0"/>
                <a:ea typeface="Comic Book" pitchFamily="34" charset="-122"/>
                <a:cs typeface="Comic Book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0-d2t99v5nfo2stf9dj23g.jpg"/>
          <p:cNvPicPr>
            <a:picLocks noChangeAspect="1"/>
          </p:cNvPicPr>
          <p:nvPr/>
        </p:nvPicPr>
        <p:blipFill>
          <a:blip r:embed="rId1">
            <a:alphaModFix amt="60000"/>
          </a:blip>
          <a:srcRect l="5158" t="2146" r="3465" b="8211"/>
          <a:stretch>
            <a:fillRect/>
          </a:stretch>
        </p:blipFill>
        <p:spPr>
          <a:xfrm>
            <a:off x="635" y="-12065"/>
            <a:ext cx="12191365" cy="68700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5:45:00-d2t99v5nfo2stf9dj2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865" y="-203835"/>
            <a:ext cx="3987165" cy="39871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0890" y="1917700"/>
            <a:ext cx="1242695" cy="616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491990" y="902164"/>
            <a:ext cx="3960495" cy="10203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6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5-15:44:58-d2t99ulnfo2stf9dj22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3765" y="2226310"/>
            <a:ext cx="934085" cy="98107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5:44:58-d2t99ulnfo2stf9dj22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18448" y="3444875"/>
            <a:ext cx="934085" cy="98107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5:44:58-d2t99ulnfo2stf9dj22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34585" y="3851910"/>
            <a:ext cx="934085" cy="98107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5:44:58-d2t99ulnfo2stf9dj22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38950" y="3829685"/>
            <a:ext cx="934085" cy="981075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5:44:58-d2t99ulnfo2stf9dj22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811260" y="3462020"/>
            <a:ext cx="934085" cy="98107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5:44:58-d2t99ulnfo2stf9dj22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61625" y="2261235"/>
            <a:ext cx="934085" cy="981075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5:44:58-d2t99ulnfo2stf9dj20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670" y="973455"/>
            <a:ext cx="929640" cy="23749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5:44:58-d2t99ulnfo2stf9dj21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2755" y="1804670"/>
            <a:ext cx="4418965" cy="11049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5:44:58-d2t99ulnfo2stf9dj2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795" y="637540"/>
            <a:ext cx="713105" cy="358140"/>
          </a:xfrm>
          <a:prstGeom prst="rect">
            <a:avLst/>
          </a:prstGeom>
        </p:spPr>
      </p:pic>
      <p:sp>
        <p:nvSpPr>
          <p:cNvPr id="15" name="Text 2"/>
          <p:cNvSpPr/>
          <p:nvPr>
            <p:custDataLst>
              <p:tags r:id="rId13"/>
            </p:custDataLst>
          </p:nvPr>
        </p:nvSpPr>
        <p:spPr>
          <a:xfrm>
            <a:off x="1135380" y="2462213"/>
            <a:ext cx="490855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EF8E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3"/>
          <p:cNvSpPr/>
          <p:nvPr>
            <p:custDataLst>
              <p:tags r:id="rId14"/>
            </p:custDataLst>
          </p:nvPr>
        </p:nvSpPr>
        <p:spPr>
          <a:xfrm>
            <a:off x="716280" y="3347720"/>
            <a:ext cx="1329055" cy="656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项目背景与意义</a:t>
            </a:r>
            <a:endParaRPr lang="en-US" sz="1600" dirty="0"/>
          </a:p>
        </p:txBody>
      </p:sp>
      <p:sp>
        <p:nvSpPr>
          <p:cNvPr id="17" name="Text 4"/>
          <p:cNvSpPr/>
          <p:nvPr>
            <p:custDataLst>
              <p:tags r:id="rId15"/>
            </p:custDataLst>
          </p:nvPr>
        </p:nvSpPr>
        <p:spPr>
          <a:xfrm>
            <a:off x="3040063" y="3680778"/>
            <a:ext cx="490855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EF8E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5"/>
          <p:cNvSpPr/>
          <p:nvPr>
            <p:custDataLst>
              <p:tags r:id="rId16"/>
            </p:custDataLst>
          </p:nvPr>
        </p:nvSpPr>
        <p:spPr>
          <a:xfrm>
            <a:off x="2540635" y="4566285"/>
            <a:ext cx="1489710" cy="656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研究内容与关键问题</a:t>
            </a:r>
            <a:endParaRPr lang="en-US" sz="1600" dirty="0"/>
          </a:p>
        </p:txBody>
      </p:sp>
      <p:sp>
        <p:nvSpPr>
          <p:cNvPr id="19" name="Text 6"/>
          <p:cNvSpPr/>
          <p:nvPr>
            <p:custDataLst>
              <p:tags r:id="rId17"/>
            </p:custDataLst>
          </p:nvPr>
        </p:nvSpPr>
        <p:spPr>
          <a:xfrm>
            <a:off x="5156200" y="4087813"/>
            <a:ext cx="490855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EF8E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7"/>
          <p:cNvSpPr/>
          <p:nvPr>
            <p:custDataLst>
              <p:tags r:id="rId18"/>
            </p:custDataLst>
          </p:nvPr>
        </p:nvSpPr>
        <p:spPr>
          <a:xfrm>
            <a:off x="4804093" y="4901565"/>
            <a:ext cx="1195070" cy="3123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创新亮点</a:t>
            </a:r>
            <a:endParaRPr lang="en-US" sz="1600" dirty="0"/>
          </a:p>
        </p:txBody>
      </p:sp>
      <p:sp>
        <p:nvSpPr>
          <p:cNvPr id="21" name="Text 8"/>
          <p:cNvSpPr/>
          <p:nvPr>
            <p:custDataLst>
              <p:tags r:id="rId19"/>
            </p:custDataLst>
          </p:nvPr>
        </p:nvSpPr>
        <p:spPr>
          <a:xfrm>
            <a:off x="7060565" y="4065588"/>
            <a:ext cx="490855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EF8E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9"/>
          <p:cNvSpPr/>
          <p:nvPr>
            <p:custDataLst>
              <p:tags r:id="rId20"/>
            </p:custDataLst>
          </p:nvPr>
        </p:nvSpPr>
        <p:spPr>
          <a:xfrm>
            <a:off x="6588760" y="4918710"/>
            <a:ext cx="136017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进度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3" name="Text 10"/>
          <p:cNvSpPr/>
          <p:nvPr>
            <p:custDataLst>
              <p:tags r:id="rId21"/>
            </p:custDataLst>
          </p:nvPr>
        </p:nvSpPr>
        <p:spPr>
          <a:xfrm>
            <a:off x="9032875" y="3697923"/>
            <a:ext cx="490855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EF8E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11"/>
          <p:cNvSpPr/>
          <p:nvPr>
            <p:custDataLst>
              <p:tags r:id="rId22"/>
            </p:custDataLst>
          </p:nvPr>
        </p:nvSpPr>
        <p:spPr>
          <a:xfrm>
            <a:off x="8710295" y="4551045"/>
            <a:ext cx="1136015" cy="656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预期成果与展望</a:t>
            </a:r>
            <a:endParaRPr lang="en-US" sz="1600" dirty="0"/>
          </a:p>
        </p:txBody>
      </p:sp>
      <p:sp>
        <p:nvSpPr>
          <p:cNvPr id="25" name="Text 12"/>
          <p:cNvSpPr/>
          <p:nvPr>
            <p:custDataLst>
              <p:tags r:id="rId23"/>
            </p:custDataLst>
          </p:nvPr>
        </p:nvSpPr>
        <p:spPr>
          <a:xfrm>
            <a:off x="10683240" y="2497138"/>
            <a:ext cx="490855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EF8E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13"/>
          <p:cNvSpPr/>
          <p:nvPr>
            <p:custDataLst>
              <p:tags r:id="rId24"/>
            </p:custDataLst>
          </p:nvPr>
        </p:nvSpPr>
        <p:spPr>
          <a:xfrm>
            <a:off x="10360660" y="3350260"/>
            <a:ext cx="1296670" cy="3123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结语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13-d2t9a2dnfo2stf9dj2a0.jpg"/>
          <p:cNvPicPr>
            <a:picLocks noChangeAspect="1"/>
          </p:cNvPicPr>
          <p:nvPr/>
        </p:nvPicPr>
        <p:blipFill>
          <a:blip r:embed="rId1">
            <a:alphaModFix amt="75000"/>
          </a:blip>
          <a:srcRect l="727" r="727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5:45:00-d2t99v5nfo2stf9dj2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80" y="-503555"/>
            <a:ext cx="7865110" cy="78651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44230" y="1732422"/>
            <a:ext cx="2872142" cy="21320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437723" y="3752393"/>
            <a:ext cx="5685155" cy="494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项目背景与意义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321" y="2184715"/>
            <a:ext cx="11785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国家呼唤创新，大学急需创造力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60321" y="2845036"/>
            <a:ext cx="85344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我国把创新驱动上升为国家战略，大学生正是未来创新的主力军。然而传统课堂偏重知识灌输，缺少对创造性思维的系统训练。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0321" y="3860642"/>
            <a:ext cx="3759200" cy="812800"/>
          </a:xfrm>
          <a:custGeom>
            <a:avLst/>
            <a:gdLst/>
            <a:ahLst/>
            <a:cxnLst/>
            <a:rect l="l" t="t" r="r" b="b"/>
            <a:pathLst>
              <a:path w="3759200" h="8128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711200"/>
                </a:lnTo>
                <a:cubicBezTo>
                  <a:pt x="3759200" y="767275"/>
                  <a:pt x="3713675" y="812800"/>
                  <a:pt x="365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8A07A">
              <a:alpha val="2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952343" y="4114511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8A07A"/>
          </a:solidFill>
        </p:spPr>
      </p:sp>
      <p:sp>
        <p:nvSpPr>
          <p:cNvPr id="7" name="Text 4"/>
          <p:cNvSpPr/>
          <p:nvPr/>
        </p:nvSpPr>
        <p:spPr>
          <a:xfrm>
            <a:off x="1422190" y="4114511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回应时代对原创能力的迫切需求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22511" y="3860642"/>
            <a:ext cx="3556000" cy="812800"/>
          </a:xfrm>
          <a:custGeom>
            <a:avLst/>
            <a:gdLst/>
            <a:ahLst/>
            <a:cxnLst/>
            <a:rect l="l" t="t" r="r" b="b"/>
            <a:pathLst>
              <a:path w="3556000" h="812800">
                <a:moveTo>
                  <a:pt x="101600" y="0"/>
                </a:moveTo>
                <a:lnTo>
                  <a:pt x="3454400" y="0"/>
                </a:lnTo>
                <a:cubicBezTo>
                  <a:pt x="3510475" y="0"/>
                  <a:pt x="3556000" y="45525"/>
                  <a:pt x="3556000" y="101600"/>
                </a:cubicBezTo>
                <a:lnTo>
                  <a:pt x="3556000" y="711200"/>
                </a:lnTo>
                <a:cubicBezTo>
                  <a:pt x="3556000" y="767275"/>
                  <a:pt x="3510475" y="812800"/>
                  <a:pt x="3454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876433" y="41145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1865" y="12025"/>
                </a:moveTo>
                <a:cubicBezTo>
                  <a:pt x="156031" y="8692"/>
                  <a:pt x="148828" y="8692"/>
                  <a:pt x="142935" y="12025"/>
                </a:cubicBezTo>
                <a:lnTo>
                  <a:pt x="9585" y="88225"/>
                </a:lnTo>
                <a:cubicBezTo>
                  <a:pt x="2084" y="92512"/>
                  <a:pt x="-1607" y="101322"/>
                  <a:pt x="595" y="109657"/>
                </a:cubicBezTo>
                <a:cubicBezTo>
                  <a:pt x="2798" y="117991"/>
                  <a:pt x="10418" y="123825"/>
                  <a:pt x="19050" y="123825"/>
                </a:cubicBezTo>
                <a:lnTo>
                  <a:pt x="38100" y="123825"/>
                </a:lnTo>
                <a:lnTo>
                  <a:pt x="38100" y="247650"/>
                </a:lnTo>
                <a:lnTo>
                  <a:pt x="38100" y="247650"/>
                </a:lnTo>
                <a:lnTo>
                  <a:pt x="7620" y="270510"/>
                </a:lnTo>
                <a:cubicBezTo>
                  <a:pt x="2798" y="274082"/>
                  <a:pt x="0" y="279737"/>
                  <a:pt x="0" y="285750"/>
                </a:cubicBezTo>
                <a:cubicBezTo>
                  <a:pt x="0" y="296287"/>
                  <a:pt x="8513" y="304800"/>
                  <a:pt x="19050" y="304800"/>
                </a:cubicBezTo>
                <a:lnTo>
                  <a:pt x="285750" y="304800"/>
                </a:lnTo>
                <a:cubicBezTo>
                  <a:pt x="296287" y="304800"/>
                  <a:pt x="304800" y="296287"/>
                  <a:pt x="304800" y="285750"/>
                </a:cubicBezTo>
                <a:cubicBezTo>
                  <a:pt x="304800" y="279737"/>
                  <a:pt x="302002" y="274082"/>
                  <a:pt x="297180" y="270510"/>
                </a:cubicBezTo>
                <a:lnTo>
                  <a:pt x="266700" y="247650"/>
                </a:lnTo>
                <a:lnTo>
                  <a:pt x="266700" y="123825"/>
                </a:lnTo>
                <a:lnTo>
                  <a:pt x="285750" y="123825"/>
                </a:lnTo>
                <a:cubicBezTo>
                  <a:pt x="294382" y="123825"/>
                  <a:pt x="301943" y="117991"/>
                  <a:pt x="304145" y="109657"/>
                </a:cubicBezTo>
                <a:cubicBezTo>
                  <a:pt x="306348" y="101322"/>
                  <a:pt x="302657" y="92512"/>
                  <a:pt x="295156" y="88225"/>
                </a:cubicBezTo>
                <a:lnTo>
                  <a:pt x="161806" y="12025"/>
                </a:lnTo>
                <a:close/>
                <a:moveTo>
                  <a:pt x="238125" y="123825"/>
                </a:moveTo>
                <a:lnTo>
                  <a:pt x="238125" y="247650"/>
                </a:lnTo>
                <a:lnTo>
                  <a:pt x="200025" y="247650"/>
                </a:lnTo>
                <a:lnTo>
                  <a:pt x="200025" y="123825"/>
                </a:lnTo>
                <a:lnTo>
                  <a:pt x="238125" y="123825"/>
                </a:lnTo>
                <a:close/>
                <a:moveTo>
                  <a:pt x="171450" y="123825"/>
                </a:moveTo>
                <a:lnTo>
                  <a:pt x="171450" y="247650"/>
                </a:lnTo>
                <a:lnTo>
                  <a:pt x="133350" y="247650"/>
                </a:lnTo>
                <a:lnTo>
                  <a:pt x="133350" y="123825"/>
                </a:lnTo>
                <a:lnTo>
                  <a:pt x="171450" y="123825"/>
                </a:lnTo>
                <a:close/>
                <a:moveTo>
                  <a:pt x="104775" y="123825"/>
                </a:moveTo>
                <a:lnTo>
                  <a:pt x="104775" y="247650"/>
                </a:lnTo>
                <a:lnTo>
                  <a:pt x="66675" y="247650"/>
                </a:lnTo>
                <a:lnTo>
                  <a:pt x="66675" y="123825"/>
                </a:lnTo>
                <a:lnTo>
                  <a:pt x="104775" y="123825"/>
                </a:lnTo>
                <a:close/>
                <a:moveTo>
                  <a:pt x="152400" y="57150"/>
                </a:moveTo>
                <a:cubicBezTo>
                  <a:pt x="162914" y="57150"/>
                  <a:pt x="171450" y="65686"/>
                  <a:pt x="171450" y="76200"/>
                </a:cubicBezTo>
                <a:cubicBezTo>
                  <a:pt x="171450" y="86714"/>
                  <a:pt x="162914" y="95250"/>
                  <a:pt x="152400" y="95250"/>
                </a:cubicBezTo>
                <a:cubicBezTo>
                  <a:pt x="141886" y="95250"/>
                  <a:pt x="133350" y="86714"/>
                  <a:pt x="133350" y="76200"/>
                </a:cubicBezTo>
                <a:cubicBezTo>
                  <a:pt x="133350" y="65686"/>
                  <a:pt x="141886" y="57150"/>
                  <a:pt x="152400" y="57150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10" name="Text 7"/>
          <p:cNvSpPr/>
          <p:nvPr/>
        </p:nvSpPr>
        <p:spPr>
          <a:xfrm>
            <a:off x="5384380" y="4114511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为校园双创教育提供落地抓手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194167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传统训练方法的三大痛点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752810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热闹有余，实效不足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22849" y="2514547"/>
            <a:ext cx="2921000" cy="2336800"/>
          </a:xfrm>
          <a:custGeom>
            <a:avLst/>
            <a:gdLst/>
            <a:ahLst/>
            <a:cxnLst/>
            <a:rect l="l" t="t" r="r" b="b"/>
            <a:pathLst>
              <a:path w="2921000" h="2336800">
                <a:moveTo>
                  <a:pt x="152406" y="0"/>
                </a:moveTo>
                <a:lnTo>
                  <a:pt x="2768594" y="0"/>
                </a:lnTo>
                <a:cubicBezTo>
                  <a:pt x="2852765" y="0"/>
                  <a:pt x="2921000" y="68235"/>
                  <a:pt x="2921000" y="152406"/>
                </a:cubicBezTo>
                <a:lnTo>
                  <a:pt x="2921000" y="2184394"/>
                </a:lnTo>
                <a:cubicBezTo>
                  <a:pt x="2921000" y="2268565"/>
                  <a:pt x="2852765" y="2336800"/>
                  <a:pt x="27685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78A5E4">
              <a:alpha val="1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976897" y="2717643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2172080" y="2933464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0510" y="-18529"/>
                </a:moveTo>
                <a:cubicBezTo>
                  <a:pt x="23515" y="-25524"/>
                  <a:pt x="12204" y="-25524"/>
                  <a:pt x="5283" y="-18529"/>
                </a:cubicBezTo>
                <a:cubicBezTo>
                  <a:pt x="-1637" y="-11534"/>
                  <a:pt x="-1712" y="-223"/>
                  <a:pt x="5209" y="6772"/>
                </a:cubicBezTo>
                <a:lnTo>
                  <a:pt x="398115" y="399678"/>
                </a:lnTo>
                <a:cubicBezTo>
                  <a:pt x="405110" y="406673"/>
                  <a:pt x="416421" y="406673"/>
                  <a:pt x="423342" y="399678"/>
                </a:cubicBezTo>
                <a:cubicBezTo>
                  <a:pt x="430262" y="392683"/>
                  <a:pt x="430337" y="381372"/>
                  <a:pt x="423342" y="374452"/>
                </a:cubicBezTo>
                <a:lnTo>
                  <a:pt x="351606" y="302716"/>
                </a:lnTo>
                <a:cubicBezTo>
                  <a:pt x="353616" y="300930"/>
                  <a:pt x="355625" y="299145"/>
                  <a:pt x="357560" y="297359"/>
                </a:cubicBezTo>
                <a:cubicBezTo>
                  <a:pt x="392385" y="264988"/>
                  <a:pt x="415677" y="226368"/>
                  <a:pt x="426765" y="199802"/>
                </a:cubicBezTo>
                <a:cubicBezTo>
                  <a:pt x="429220" y="193923"/>
                  <a:pt x="429220" y="187375"/>
                  <a:pt x="426765" y="181496"/>
                </a:cubicBezTo>
                <a:cubicBezTo>
                  <a:pt x="415677" y="154930"/>
                  <a:pt x="392385" y="116235"/>
                  <a:pt x="357560" y="83939"/>
                </a:cubicBezTo>
                <a:cubicBezTo>
                  <a:pt x="322511" y="51420"/>
                  <a:pt x="274365" y="23961"/>
                  <a:pt x="214238" y="23961"/>
                </a:cubicBezTo>
                <a:cubicBezTo>
                  <a:pt x="171971" y="23961"/>
                  <a:pt x="135657" y="37505"/>
                  <a:pt x="105594" y="56852"/>
                </a:cubicBezTo>
                <a:lnTo>
                  <a:pt x="30510" y="-18529"/>
                </a:lnTo>
                <a:close/>
                <a:moveTo>
                  <a:pt x="152177" y="103212"/>
                </a:moveTo>
                <a:cubicBezTo>
                  <a:pt x="169664" y="90711"/>
                  <a:pt x="191170" y="83344"/>
                  <a:pt x="214313" y="83344"/>
                </a:cubicBezTo>
                <a:cubicBezTo>
                  <a:pt x="273472" y="83344"/>
                  <a:pt x="321469" y="131341"/>
                  <a:pt x="321469" y="190500"/>
                </a:cubicBezTo>
                <a:cubicBezTo>
                  <a:pt x="321469" y="213643"/>
                  <a:pt x="314102" y="235074"/>
                  <a:pt x="301600" y="252636"/>
                </a:cubicBezTo>
                <a:lnTo>
                  <a:pt x="275779" y="226814"/>
                </a:lnTo>
                <a:cubicBezTo>
                  <a:pt x="285229" y="210889"/>
                  <a:pt x="288429" y="191319"/>
                  <a:pt x="283294" y="171971"/>
                </a:cubicBezTo>
                <a:cubicBezTo>
                  <a:pt x="273100" y="133871"/>
                  <a:pt x="233883" y="111249"/>
                  <a:pt x="195783" y="121444"/>
                </a:cubicBezTo>
                <a:cubicBezTo>
                  <a:pt x="189384" y="123155"/>
                  <a:pt x="183356" y="125685"/>
                  <a:pt x="177924" y="128885"/>
                </a:cubicBezTo>
                <a:lnTo>
                  <a:pt x="152102" y="103063"/>
                </a:lnTo>
                <a:close/>
                <a:moveTo>
                  <a:pt x="242069" y="294010"/>
                </a:moveTo>
                <a:cubicBezTo>
                  <a:pt x="233214" y="296391"/>
                  <a:pt x="223912" y="297656"/>
                  <a:pt x="214313" y="297656"/>
                </a:cubicBezTo>
                <a:cubicBezTo>
                  <a:pt x="155153" y="297656"/>
                  <a:pt x="107156" y="249659"/>
                  <a:pt x="107156" y="190500"/>
                </a:cubicBezTo>
                <a:cubicBezTo>
                  <a:pt x="107156" y="180901"/>
                  <a:pt x="108421" y="171599"/>
                  <a:pt x="110803" y="162744"/>
                </a:cubicBezTo>
                <a:lnTo>
                  <a:pt x="51643" y="103584"/>
                </a:lnTo>
                <a:cubicBezTo>
                  <a:pt x="27384" y="130969"/>
                  <a:pt x="10716" y="159990"/>
                  <a:pt x="1860" y="181347"/>
                </a:cubicBezTo>
                <a:cubicBezTo>
                  <a:pt x="-595" y="187226"/>
                  <a:pt x="-595" y="193774"/>
                  <a:pt x="1860" y="199653"/>
                </a:cubicBezTo>
                <a:cubicBezTo>
                  <a:pt x="12948" y="226219"/>
                  <a:pt x="36240" y="264914"/>
                  <a:pt x="71065" y="297210"/>
                </a:cubicBezTo>
                <a:cubicBezTo>
                  <a:pt x="106114" y="329729"/>
                  <a:pt x="154260" y="357188"/>
                  <a:pt x="214387" y="357188"/>
                </a:cubicBezTo>
                <a:cubicBezTo>
                  <a:pt x="242143" y="357188"/>
                  <a:pt x="267370" y="351309"/>
                  <a:pt x="289917" y="341858"/>
                </a:cubicBezTo>
                <a:lnTo>
                  <a:pt x="242143" y="294084"/>
                </a:lnTo>
                <a:close/>
              </a:path>
            </a:pathLst>
          </a:custGeom>
          <a:solidFill>
            <a:srgbClr val="78A5E4"/>
          </a:solidFill>
        </p:spPr>
      </p:sp>
      <p:sp>
        <p:nvSpPr>
          <p:cNvPr id="8" name="Text 5"/>
          <p:cNvSpPr/>
          <p:nvPr/>
        </p:nvSpPr>
        <p:spPr>
          <a:xfrm>
            <a:off x="1748349" y="3682738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难量化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5944" y="4139833"/>
            <a:ext cx="251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依赖主观评价，训练效果看不见、摸不着。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48623" y="2717643"/>
            <a:ext cx="3898900" cy="2946400"/>
          </a:xfrm>
          <a:custGeom>
            <a:avLst/>
            <a:gdLst/>
            <a:ahLst/>
            <a:cxnLst/>
            <a:rect l="l" t="t" r="r" b="b"/>
            <a:pathLst>
              <a:path w="3898900" h="2946400">
                <a:moveTo>
                  <a:pt x="152388" y="0"/>
                </a:moveTo>
                <a:lnTo>
                  <a:pt x="3746512" y="0"/>
                </a:lnTo>
                <a:cubicBezTo>
                  <a:pt x="3830674" y="0"/>
                  <a:pt x="3898900" y="68226"/>
                  <a:pt x="3898900" y="152388"/>
                </a:cubicBezTo>
                <a:lnTo>
                  <a:pt x="3898900" y="2794012"/>
                </a:lnTo>
                <a:cubicBezTo>
                  <a:pt x="3898900" y="2878174"/>
                  <a:pt x="3830674" y="2946400"/>
                  <a:pt x="3746512" y="2946400"/>
                </a:cubicBezTo>
                <a:lnTo>
                  <a:pt x="152388" y="2946400"/>
                </a:lnTo>
                <a:cubicBezTo>
                  <a:pt x="68226" y="2946400"/>
                  <a:pt x="0" y="2878174"/>
                  <a:pt x="0" y="2794012"/>
                </a:cubicBezTo>
                <a:lnTo>
                  <a:pt x="0" y="152388"/>
                </a:lnTo>
                <a:cubicBezTo>
                  <a:pt x="0" y="68283"/>
                  <a:pt x="68283" y="0"/>
                  <a:pt x="152388" y="0"/>
                </a:cubicBezTo>
                <a:close/>
              </a:path>
            </a:pathLst>
          </a:custGeom>
          <a:solidFill>
            <a:srgbClr val="E87D65">
              <a:alpha val="1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87869" y="3022416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E87D65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838694" y="3301738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6612" y="-22324"/>
                </a:moveTo>
                <a:cubicBezTo>
                  <a:pt x="28218" y="-30629"/>
                  <a:pt x="14645" y="-30629"/>
                  <a:pt x="6251" y="-22324"/>
                </a:cubicBezTo>
                <a:cubicBezTo>
                  <a:pt x="-2143" y="-14020"/>
                  <a:pt x="-2054" y="-357"/>
                  <a:pt x="6251" y="8037"/>
                </a:cubicBezTo>
                <a:lnTo>
                  <a:pt x="477738" y="479524"/>
                </a:lnTo>
                <a:cubicBezTo>
                  <a:pt x="486132" y="487918"/>
                  <a:pt x="499705" y="487918"/>
                  <a:pt x="508010" y="479524"/>
                </a:cubicBezTo>
                <a:cubicBezTo>
                  <a:pt x="516315" y="471130"/>
                  <a:pt x="516404" y="457557"/>
                  <a:pt x="508010" y="449253"/>
                </a:cubicBezTo>
                <a:lnTo>
                  <a:pt x="421749" y="362992"/>
                </a:lnTo>
                <a:cubicBezTo>
                  <a:pt x="461397" y="324416"/>
                  <a:pt x="485686" y="272088"/>
                  <a:pt x="485686" y="214313"/>
                </a:cubicBezTo>
                <a:cubicBezTo>
                  <a:pt x="485686" y="95994"/>
                  <a:pt x="383351" y="0"/>
                  <a:pt x="257086" y="0"/>
                </a:cubicBezTo>
                <a:cubicBezTo>
                  <a:pt x="200829" y="0"/>
                  <a:pt x="149215" y="19110"/>
                  <a:pt x="109389" y="50721"/>
                </a:cubicBezTo>
                <a:lnTo>
                  <a:pt x="36612" y="-22324"/>
                </a:lnTo>
                <a:close/>
                <a:moveTo>
                  <a:pt x="53935" y="116086"/>
                </a:moveTo>
                <a:cubicBezTo>
                  <a:pt x="37683" y="145554"/>
                  <a:pt x="28575" y="178862"/>
                  <a:pt x="28575" y="214223"/>
                </a:cubicBezTo>
                <a:cubicBezTo>
                  <a:pt x="28575" y="262711"/>
                  <a:pt x="45720" y="307360"/>
                  <a:pt x="74652" y="343257"/>
                </a:cubicBezTo>
                <a:lnTo>
                  <a:pt x="31075" y="425678"/>
                </a:lnTo>
                <a:cubicBezTo>
                  <a:pt x="26789" y="433715"/>
                  <a:pt x="28129" y="443538"/>
                  <a:pt x="34290" y="450235"/>
                </a:cubicBezTo>
                <a:cubicBezTo>
                  <a:pt x="40451" y="456932"/>
                  <a:pt x="50096" y="458986"/>
                  <a:pt x="58489" y="455414"/>
                </a:cubicBezTo>
                <a:lnTo>
                  <a:pt x="164217" y="410141"/>
                </a:lnTo>
                <a:cubicBezTo>
                  <a:pt x="192613" y="422017"/>
                  <a:pt x="224135" y="428625"/>
                  <a:pt x="257175" y="428625"/>
                </a:cubicBezTo>
                <a:cubicBezTo>
                  <a:pt x="289679" y="428625"/>
                  <a:pt x="320486" y="422285"/>
                  <a:pt x="348526" y="410855"/>
                </a:cubicBezTo>
                <a:lnTo>
                  <a:pt x="53846" y="116175"/>
                </a:lnTo>
                <a:close/>
              </a:path>
            </a:pathLst>
          </a:custGeom>
          <a:solidFill>
            <a:srgbClr val="E87D65"/>
          </a:solidFill>
        </p:spPr>
      </p:sp>
      <p:sp>
        <p:nvSpPr>
          <p:cNvPr id="13" name="Text 10"/>
          <p:cNvSpPr/>
          <p:nvPr/>
        </p:nvSpPr>
        <p:spPr>
          <a:xfrm>
            <a:off x="5384643" y="4241512"/>
            <a:ext cx="142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缺反馈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53397" y="4749381"/>
            <a:ext cx="3289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无法实时捕捉学员状态，学员常因缺乏即时成就感而放弃。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348019" y="2514547"/>
            <a:ext cx="2921000" cy="2336800"/>
          </a:xfrm>
          <a:custGeom>
            <a:avLst/>
            <a:gdLst/>
            <a:ahLst/>
            <a:cxnLst/>
            <a:rect l="l" t="t" r="r" b="b"/>
            <a:pathLst>
              <a:path w="2921000" h="2336800">
                <a:moveTo>
                  <a:pt x="152406" y="0"/>
                </a:moveTo>
                <a:lnTo>
                  <a:pt x="2768594" y="0"/>
                </a:lnTo>
                <a:cubicBezTo>
                  <a:pt x="2852765" y="0"/>
                  <a:pt x="2921000" y="68235"/>
                  <a:pt x="2921000" y="152406"/>
                </a:cubicBezTo>
                <a:lnTo>
                  <a:pt x="2921000" y="2184394"/>
                </a:lnTo>
                <a:cubicBezTo>
                  <a:pt x="2921000" y="2268565"/>
                  <a:pt x="2852765" y="2336800"/>
                  <a:pt x="27685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78A5E4">
              <a:alpha val="1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9402067" y="2717643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9573438" y="2933464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54322" y="-18529"/>
                </a:moveTo>
                <a:cubicBezTo>
                  <a:pt x="47327" y="-25524"/>
                  <a:pt x="36016" y="-25524"/>
                  <a:pt x="29096" y="-18529"/>
                </a:cubicBezTo>
                <a:cubicBezTo>
                  <a:pt x="22175" y="-11534"/>
                  <a:pt x="22101" y="-223"/>
                  <a:pt x="29021" y="6772"/>
                </a:cubicBezTo>
                <a:lnTo>
                  <a:pt x="421928" y="399678"/>
                </a:lnTo>
                <a:cubicBezTo>
                  <a:pt x="428923" y="406673"/>
                  <a:pt x="440234" y="406673"/>
                  <a:pt x="447154" y="399678"/>
                </a:cubicBezTo>
                <a:cubicBezTo>
                  <a:pt x="454075" y="392683"/>
                  <a:pt x="454149" y="381372"/>
                  <a:pt x="447154" y="374452"/>
                </a:cubicBezTo>
                <a:lnTo>
                  <a:pt x="239464" y="166688"/>
                </a:lnTo>
                <a:cubicBezTo>
                  <a:pt x="281583" y="165943"/>
                  <a:pt x="315516" y="131564"/>
                  <a:pt x="315516" y="89297"/>
                </a:cubicBezTo>
                <a:cubicBezTo>
                  <a:pt x="315516" y="46583"/>
                  <a:pt x="280839" y="11906"/>
                  <a:pt x="238125" y="11906"/>
                </a:cubicBezTo>
                <a:cubicBezTo>
                  <a:pt x="195858" y="11906"/>
                  <a:pt x="161479" y="45839"/>
                  <a:pt x="160734" y="87957"/>
                </a:cubicBezTo>
                <a:lnTo>
                  <a:pt x="54322" y="-18529"/>
                </a:lnTo>
                <a:close/>
                <a:moveTo>
                  <a:pt x="381000" y="214313"/>
                </a:moveTo>
                <a:cubicBezTo>
                  <a:pt x="368201" y="214313"/>
                  <a:pt x="355922" y="216843"/>
                  <a:pt x="344760" y="221456"/>
                </a:cubicBezTo>
                <a:lnTo>
                  <a:pt x="471264" y="347960"/>
                </a:lnTo>
                <a:cubicBezTo>
                  <a:pt x="474390" y="343942"/>
                  <a:pt x="476250" y="338882"/>
                  <a:pt x="476250" y="333375"/>
                </a:cubicBezTo>
                <a:lnTo>
                  <a:pt x="476250" y="309563"/>
                </a:lnTo>
                <a:cubicBezTo>
                  <a:pt x="476250" y="256952"/>
                  <a:pt x="433611" y="214313"/>
                  <a:pt x="381000" y="214313"/>
                </a:cubicBezTo>
                <a:close/>
                <a:moveTo>
                  <a:pt x="44574" y="72703"/>
                </a:moveTo>
                <a:cubicBezTo>
                  <a:pt x="28575" y="82004"/>
                  <a:pt x="17859" y="99268"/>
                  <a:pt x="17859" y="119063"/>
                </a:cubicBezTo>
                <a:cubicBezTo>
                  <a:pt x="17859" y="148679"/>
                  <a:pt x="41821" y="172641"/>
                  <a:pt x="71438" y="172641"/>
                </a:cubicBezTo>
                <a:cubicBezTo>
                  <a:pt x="91232" y="172641"/>
                  <a:pt x="108496" y="161925"/>
                  <a:pt x="117797" y="145926"/>
                </a:cubicBezTo>
                <a:lnTo>
                  <a:pt x="44574" y="72703"/>
                </a:lnTo>
                <a:close/>
                <a:moveTo>
                  <a:pt x="186184" y="214313"/>
                </a:moveTo>
                <a:cubicBezTo>
                  <a:pt x="146447" y="233586"/>
                  <a:pt x="119063" y="274365"/>
                  <a:pt x="119063" y="321469"/>
                </a:cubicBezTo>
                <a:lnTo>
                  <a:pt x="119063" y="333375"/>
                </a:lnTo>
                <a:cubicBezTo>
                  <a:pt x="119063" y="346546"/>
                  <a:pt x="129704" y="357188"/>
                  <a:pt x="142875" y="357188"/>
                </a:cubicBezTo>
                <a:lnTo>
                  <a:pt x="329059" y="357188"/>
                </a:lnTo>
                <a:lnTo>
                  <a:pt x="186184" y="214313"/>
                </a:lnTo>
                <a:close/>
                <a:moveTo>
                  <a:pt x="95250" y="214313"/>
                </a:moveTo>
                <a:cubicBezTo>
                  <a:pt x="42639" y="214313"/>
                  <a:pt x="0" y="256952"/>
                  <a:pt x="0" y="309563"/>
                </a:cubicBezTo>
                <a:lnTo>
                  <a:pt x="0" y="333375"/>
                </a:lnTo>
                <a:cubicBezTo>
                  <a:pt x="0" y="346546"/>
                  <a:pt x="10641" y="357188"/>
                  <a:pt x="23812" y="357188"/>
                </a:cubicBezTo>
                <a:lnTo>
                  <a:pt x="88329" y="357188"/>
                </a:lnTo>
                <a:cubicBezTo>
                  <a:pt x="85130" y="349895"/>
                  <a:pt x="83344" y="341858"/>
                  <a:pt x="83344" y="333375"/>
                </a:cubicBezTo>
                <a:lnTo>
                  <a:pt x="83344" y="321469"/>
                </a:lnTo>
                <a:cubicBezTo>
                  <a:pt x="83344" y="281880"/>
                  <a:pt x="98227" y="245715"/>
                  <a:pt x="122709" y="218331"/>
                </a:cubicBezTo>
                <a:cubicBezTo>
                  <a:pt x="114002" y="215726"/>
                  <a:pt x="104775" y="214313"/>
                  <a:pt x="95250" y="214313"/>
                </a:cubicBezTo>
                <a:close/>
                <a:moveTo>
                  <a:pt x="458391" y="119063"/>
                </a:moveTo>
                <a:cubicBezTo>
                  <a:pt x="458391" y="89492"/>
                  <a:pt x="434383" y="65484"/>
                  <a:pt x="404813" y="65484"/>
                </a:cubicBezTo>
                <a:cubicBezTo>
                  <a:pt x="375242" y="65484"/>
                  <a:pt x="351234" y="89492"/>
                  <a:pt x="351234" y="119063"/>
                </a:cubicBezTo>
                <a:cubicBezTo>
                  <a:pt x="351234" y="148633"/>
                  <a:pt x="375242" y="172641"/>
                  <a:pt x="404813" y="172641"/>
                </a:cubicBezTo>
                <a:cubicBezTo>
                  <a:pt x="434383" y="172641"/>
                  <a:pt x="458391" y="148633"/>
                  <a:pt x="458391" y="119063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18" name="Text 15"/>
          <p:cNvSpPr/>
          <p:nvPr/>
        </p:nvSpPr>
        <p:spPr>
          <a:xfrm>
            <a:off x="9173519" y="3682738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不个性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51114" y="4139833"/>
            <a:ext cx="251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难以因材施教，教师无法依据数据调整教学。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676715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心率变异性 (HRV)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336905"/>
            <a:ext cx="5943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身体给出的创造力信号灯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3048000"/>
            <a:ext cx="543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HRV是心跳间隔的微小波动，能实时反映自主神经系统的协调程度。科研发现，</a:t>
            </a:r>
            <a:r>
              <a:rPr lang="en-US" sz="1600" dirty="0">
                <a:solidFill>
                  <a:srgbClr val="4A4A4A"/>
                </a:solidFill>
                <a:highlight>
                  <a:srgbClr val="F8A07A">
                    <a:alpha val="30196"/>
                  </a:srgbClr>
                </a:highlight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 HRV越高，大脑执行注意与认知灵活性越好，灵感闪现的概率也越高。 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4165417"/>
            <a:ext cx="5435600" cy="1016000"/>
          </a:xfrm>
          <a:custGeom>
            <a:avLst/>
            <a:gdLst/>
            <a:ahLst/>
            <a:cxnLst/>
            <a:rect l="l" t="t" r="r" b="b"/>
            <a:pathLst>
              <a:path w="5435600" h="1016000">
                <a:moveTo>
                  <a:pt x="101600" y="0"/>
                </a:moveTo>
                <a:lnTo>
                  <a:pt x="5334000" y="0"/>
                </a:lnTo>
                <a:cubicBezTo>
                  <a:pt x="5390075" y="0"/>
                  <a:pt x="5435600" y="45525"/>
                  <a:pt x="5435600" y="101600"/>
                </a:cubicBezTo>
                <a:lnTo>
                  <a:pt x="5435600" y="914400"/>
                </a:lnTo>
                <a:cubicBezTo>
                  <a:pt x="5435600" y="970475"/>
                  <a:pt x="5390075" y="1016000"/>
                  <a:pt x="5334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457095" y="4368512"/>
            <a:ext cx="5029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通过呼吸把HRV“抬”上去，就像给大脑打开</a:t>
            </a:r>
            <a:r>
              <a:rPr lang="en-US" sz="1600" dirty="0">
                <a:solidFill>
                  <a:srgbClr val="78A5E4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绿色通道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，让创造性思维更容易进入流畅状态。</a:t>
            </a:r>
            <a:endParaRPr lang="en-US" sz="1600" dirty="0"/>
          </a:p>
        </p:txBody>
      </p:sp>
      <p:pic>
        <p:nvPicPr>
          <p:cNvPr id="8" name="Image 1" descr="https://kimi-web-img.moonshot.cn/img/img.freepik.com/7b05db6431a3b1e8cfcc2188d5df14e4d641d64f.jpg"/>
          <p:cNvPicPr>
            <a:picLocks noChangeAspect="1"/>
          </p:cNvPicPr>
          <p:nvPr/>
        </p:nvPicPr>
        <p:blipFill>
          <a:blip r:embed="rId2"/>
          <a:srcRect t="25622" b="25622"/>
          <a:stretch>
            <a:fillRect/>
          </a:stretch>
        </p:blipFill>
        <p:spPr>
          <a:xfrm>
            <a:off x="6096000" y="889000"/>
            <a:ext cx="5842000" cy="508000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13-d2t9a2dnfo2stf9dj2a0.jpg"/>
          <p:cNvPicPr>
            <a:picLocks noChangeAspect="1"/>
          </p:cNvPicPr>
          <p:nvPr/>
        </p:nvPicPr>
        <p:blipFill>
          <a:blip r:embed="rId1">
            <a:alphaModFix amt="75000"/>
          </a:blip>
          <a:srcRect l="727" r="727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5:45:00-d2t99v5nfo2stf9dj2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80" y="-503555"/>
            <a:ext cx="7865110" cy="78651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44230" y="1732422"/>
            <a:ext cx="2872142" cy="21320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437723" y="3752393"/>
            <a:ext cx="5685155" cy="494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研究内容与关键问题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295977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低成本硬件实时采心跳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28070" y="2489357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380443" y="2870226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-14287"/>
                </a:moveTo>
                <a:cubicBezTo>
                  <a:pt x="245299" y="-14287"/>
                  <a:pt x="235744" y="-4733"/>
                  <a:pt x="235744" y="7144"/>
                </a:cubicBezTo>
                <a:lnTo>
                  <a:pt x="235744" y="17859"/>
                </a:lnTo>
                <a:lnTo>
                  <a:pt x="234136" y="17859"/>
                </a:lnTo>
                <a:cubicBezTo>
                  <a:pt x="201454" y="17859"/>
                  <a:pt x="175022" y="44381"/>
                  <a:pt x="175022" y="76974"/>
                </a:cubicBezTo>
                <a:cubicBezTo>
                  <a:pt x="175022" y="106799"/>
                  <a:pt x="197257" y="131981"/>
                  <a:pt x="226814" y="135642"/>
                </a:cubicBezTo>
                <a:lnTo>
                  <a:pt x="281285" y="142429"/>
                </a:lnTo>
                <a:cubicBezTo>
                  <a:pt x="285839" y="142964"/>
                  <a:pt x="289322" y="146893"/>
                  <a:pt x="289322" y="151537"/>
                </a:cubicBezTo>
                <a:cubicBezTo>
                  <a:pt x="289322" y="156627"/>
                  <a:pt x="285214" y="160645"/>
                  <a:pt x="280214" y="160645"/>
                </a:cubicBezTo>
                <a:lnTo>
                  <a:pt x="214313" y="160734"/>
                </a:lnTo>
                <a:cubicBezTo>
                  <a:pt x="200471" y="160734"/>
                  <a:pt x="189309" y="171896"/>
                  <a:pt x="189309" y="185738"/>
                </a:cubicBezTo>
                <a:cubicBezTo>
                  <a:pt x="189309" y="199579"/>
                  <a:pt x="200471" y="210741"/>
                  <a:pt x="214313" y="210741"/>
                </a:cubicBezTo>
                <a:lnTo>
                  <a:pt x="235744" y="210741"/>
                </a:lnTo>
                <a:lnTo>
                  <a:pt x="235744" y="221456"/>
                </a:lnTo>
                <a:cubicBezTo>
                  <a:pt x="235744" y="233333"/>
                  <a:pt x="245299" y="242888"/>
                  <a:pt x="257175" y="242888"/>
                </a:cubicBezTo>
                <a:cubicBezTo>
                  <a:pt x="269051" y="242888"/>
                  <a:pt x="278606" y="233333"/>
                  <a:pt x="278606" y="221456"/>
                </a:cubicBezTo>
                <a:lnTo>
                  <a:pt x="278606" y="210741"/>
                </a:lnTo>
                <a:lnTo>
                  <a:pt x="280214" y="210741"/>
                </a:lnTo>
                <a:cubicBezTo>
                  <a:pt x="312896" y="210741"/>
                  <a:pt x="339328" y="184219"/>
                  <a:pt x="339328" y="151626"/>
                </a:cubicBezTo>
                <a:cubicBezTo>
                  <a:pt x="339328" y="121801"/>
                  <a:pt x="317093" y="96619"/>
                  <a:pt x="287536" y="92958"/>
                </a:cubicBezTo>
                <a:lnTo>
                  <a:pt x="233065" y="86171"/>
                </a:lnTo>
                <a:cubicBezTo>
                  <a:pt x="228511" y="85636"/>
                  <a:pt x="225028" y="81707"/>
                  <a:pt x="225028" y="77063"/>
                </a:cubicBezTo>
                <a:cubicBezTo>
                  <a:pt x="225028" y="71973"/>
                  <a:pt x="229136" y="67955"/>
                  <a:pt x="234136" y="67955"/>
                </a:cubicBezTo>
                <a:lnTo>
                  <a:pt x="292894" y="67866"/>
                </a:lnTo>
                <a:cubicBezTo>
                  <a:pt x="306735" y="67866"/>
                  <a:pt x="317897" y="56704"/>
                  <a:pt x="317897" y="42863"/>
                </a:cubicBezTo>
                <a:cubicBezTo>
                  <a:pt x="317897" y="29021"/>
                  <a:pt x="306735" y="17859"/>
                  <a:pt x="292894" y="17859"/>
                </a:cubicBezTo>
                <a:lnTo>
                  <a:pt x="278606" y="17859"/>
                </a:lnTo>
                <a:lnTo>
                  <a:pt x="278606" y="7144"/>
                </a:lnTo>
                <a:cubicBezTo>
                  <a:pt x="278606" y="-4733"/>
                  <a:pt x="269051" y="-14287"/>
                  <a:pt x="257175" y="-14287"/>
                </a:cubicBezTo>
                <a:close/>
                <a:moveTo>
                  <a:pt x="97601" y="304949"/>
                </a:moveTo>
                <a:lnTo>
                  <a:pt x="59561" y="342900"/>
                </a:lnTo>
                <a:lnTo>
                  <a:pt x="28575" y="342900"/>
                </a:lnTo>
                <a:cubicBezTo>
                  <a:pt x="12769" y="342900"/>
                  <a:pt x="0" y="355669"/>
                  <a:pt x="0" y="371475"/>
                </a:cubicBezTo>
                <a:lnTo>
                  <a:pt x="0" y="428625"/>
                </a:lnTo>
                <a:cubicBezTo>
                  <a:pt x="0" y="444431"/>
                  <a:pt x="12769" y="457200"/>
                  <a:pt x="28575" y="457200"/>
                </a:cubicBezTo>
                <a:lnTo>
                  <a:pt x="314771" y="457200"/>
                </a:lnTo>
                <a:cubicBezTo>
                  <a:pt x="340668" y="457200"/>
                  <a:pt x="365939" y="448895"/>
                  <a:pt x="386834" y="433536"/>
                </a:cubicBezTo>
                <a:lnTo>
                  <a:pt x="499884" y="350222"/>
                </a:lnTo>
                <a:cubicBezTo>
                  <a:pt x="515779" y="338524"/>
                  <a:pt x="519172" y="316200"/>
                  <a:pt x="507474" y="300305"/>
                </a:cubicBezTo>
                <a:cubicBezTo>
                  <a:pt x="495776" y="284411"/>
                  <a:pt x="473452" y="281017"/>
                  <a:pt x="457557" y="292715"/>
                </a:cubicBezTo>
                <a:lnTo>
                  <a:pt x="350580" y="371475"/>
                </a:lnTo>
                <a:lnTo>
                  <a:pt x="250031" y="371475"/>
                </a:lnTo>
                <a:cubicBezTo>
                  <a:pt x="238155" y="371475"/>
                  <a:pt x="228600" y="361920"/>
                  <a:pt x="228600" y="350044"/>
                </a:cubicBezTo>
                <a:cubicBezTo>
                  <a:pt x="228600" y="338167"/>
                  <a:pt x="238155" y="328613"/>
                  <a:pt x="250031" y="328613"/>
                </a:cubicBezTo>
                <a:lnTo>
                  <a:pt x="314325" y="328613"/>
                </a:lnTo>
                <a:cubicBezTo>
                  <a:pt x="330131" y="328613"/>
                  <a:pt x="342900" y="315843"/>
                  <a:pt x="342900" y="300038"/>
                </a:cubicBezTo>
                <a:cubicBezTo>
                  <a:pt x="342900" y="284232"/>
                  <a:pt x="330131" y="271463"/>
                  <a:pt x="314325" y="271463"/>
                </a:cubicBezTo>
                <a:lnTo>
                  <a:pt x="178415" y="271463"/>
                </a:lnTo>
                <a:cubicBezTo>
                  <a:pt x="148144" y="271463"/>
                  <a:pt x="119033" y="283518"/>
                  <a:pt x="97601" y="304949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6" name="Text 3"/>
          <p:cNvSpPr/>
          <p:nvPr/>
        </p:nvSpPr>
        <p:spPr>
          <a:xfrm>
            <a:off x="463524" y="3860774"/>
            <a:ext cx="234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百元级PPG传感器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9201" y="4216189"/>
            <a:ext cx="299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通过指尖或耳垂即可连续取脉。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26009" y="3175000"/>
            <a:ext cx="1117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40462" y="2159394"/>
            <a:ext cx="3708400" cy="2641600"/>
          </a:xfrm>
          <a:custGeom>
            <a:avLst/>
            <a:gdLst/>
            <a:ahLst/>
            <a:cxnLst/>
            <a:rect l="l" t="t" r="r" b="b"/>
            <a:pathLst>
              <a:path w="3708400" h="2641600">
                <a:moveTo>
                  <a:pt x="152394" y="0"/>
                </a:moveTo>
                <a:lnTo>
                  <a:pt x="3556006" y="0"/>
                </a:lnTo>
                <a:cubicBezTo>
                  <a:pt x="3640171" y="0"/>
                  <a:pt x="3708400" y="68229"/>
                  <a:pt x="3708400" y="152394"/>
                </a:cubicBezTo>
                <a:lnTo>
                  <a:pt x="3708400" y="2489206"/>
                </a:lnTo>
                <a:cubicBezTo>
                  <a:pt x="3708400" y="2573371"/>
                  <a:pt x="3640171" y="2641600"/>
                  <a:pt x="3556006" y="2641600"/>
                </a:cubicBezTo>
                <a:lnTo>
                  <a:pt x="152394" y="2641600"/>
                </a:lnTo>
                <a:cubicBezTo>
                  <a:pt x="68229" y="2641600"/>
                  <a:pt x="0" y="2573371"/>
                  <a:pt x="0" y="24892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8A07A">
              <a:alpha val="1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486452" y="236248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8A07A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867400" y="274335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F8A07A"/>
          </a:solidFill>
        </p:spPr>
      </p:sp>
      <p:sp>
        <p:nvSpPr>
          <p:cNvPr id="12" name="Text 9"/>
          <p:cNvSpPr/>
          <p:nvPr/>
        </p:nvSpPr>
        <p:spPr>
          <a:xfrm>
            <a:off x="4964021" y="3733905"/>
            <a:ext cx="226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自研R峰检测算法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43557" y="4089321"/>
            <a:ext cx="330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在Arduino与PC端同步运行，毫秒级精度。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56312" y="3175000"/>
            <a:ext cx="1117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944835" y="236248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10354357" y="2743357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17" name="Text 14"/>
          <p:cNvSpPr/>
          <p:nvPr/>
        </p:nvSpPr>
        <p:spPr>
          <a:xfrm>
            <a:off x="9728882" y="3733905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稳定数据源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70764" y="4089321"/>
            <a:ext cx="27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为后续HRV计算提供干净、稳定的数据。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4000" y="5206474"/>
            <a:ext cx="1168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实现“</a:t>
            </a:r>
            <a:r>
              <a:rPr lang="en-US" sz="1800" dirty="0">
                <a:solidFill>
                  <a:srgbClr val="4A4A4A"/>
                </a:solidFill>
                <a:highlight>
                  <a:srgbClr val="E87D65">
                    <a:alpha val="30196"/>
                  </a:srgbClr>
                </a:highlight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 人人可负担 </a:t>
            </a: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”的生理监测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829169"/>
            <a:ext cx="604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游戏化呼吸反馈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489358"/>
            <a:ext cx="604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让训练像闯关一样有趣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3200453"/>
            <a:ext cx="553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系统将生硬的HRV数值转化为</a:t>
            </a:r>
            <a:r>
              <a:rPr lang="en-US" sz="1600" dirty="0">
                <a:solidFill>
                  <a:srgbClr val="78A5E4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山水风景、光点律动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等视听场景，引导用户以</a:t>
            </a:r>
            <a:r>
              <a:rPr lang="en-US" sz="1600" dirty="0">
                <a:solidFill>
                  <a:srgbClr val="4A4A4A"/>
                </a:solidFill>
                <a:highlight>
                  <a:srgbClr val="F8A07A">
                    <a:alpha val="30196"/>
                  </a:srgbClr>
                </a:highlight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 6次/分的共振频率 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深呼吸。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4013098"/>
            <a:ext cx="5537200" cy="1016000"/>
          </a:xfrm>
          <a:custGeom>
            <a:avLst/>
            <a:gdLst/>
            <a:ahLst/>
            <a:cxnLst/>
            <a:rect l="l" t="t" r="r" b="b"/>
            <a:pathLst>
              <a:path w="5537200" h="10160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914400"/>
                </a:lnTo>
                <a:cubicBezTo>
                  <a:pt x="5537200" y="970475"/>
                  <a:pt x="5491675" y="1016000"/>
                  <a:pt x="5435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457095" y="4216192"/>
            <a:ext cx="5130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用户仿佛在游戏里“养”出一条会随心跳起舞的龙，在放松与好奇中完成神经调节热身。</a:t>
            </a:r>
            <a:endParaRPr lang="en-US" sz="1600" dirty="0"/>
          </a:p>
        </p:txBody>
      </p:sp>
      <p:pic>
        <p:nvPicPr>
          <p:cNvPr id="8" name="Image 1" descr="https://kimi-web-img.moonshot.cn/img/thumbs.dreamstime.com/4b1cb6e424b4d87bc484434128d0b8ca7f8db5c5.jpg"/>
          <p:cNvPicPr>
            <a:picLocks noChangeAspect="1"/>
          </p:cNvPicPr>
          <p:nvPr/>
        </p:nvPicPr>
        <p:blipFill>
          <a:blip r:embed="rId2"/>
          <a:srcRect l="17153" r="17153"/>
          <a:stretch>
            <a:fillRect/>
          </a:stretch>
        </p:blipFill>
        <p:spPr>
          <a:xfrm>
            <a:off x="6096000" y="889000"/>
            <a:ext cx="5842000" cy="508000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991598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HRV达标，才能解锁创意任务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651788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“先调心跳、再激灵感”的实证研究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9721" y="2413527"/>
            <a:ext cx="4622800" cy="2641600"/>
          </a:xfrm>
          <a:custGeom>
            <a:avLst/>
            <a:gdLst/>
            <a:ahLst/>
            <a:cxnLst/>
            <a:rect l="l" t="t" r="r" b="b"/>
            <a:pathLst>
              <a:path w="4622800" h="2641600">
                <a:moveTo>
                  <a:pt x="152394" y="0"/>
                </a:moveTo>
                <a:lnTo>
                  <a:pt x="4470406" y="0"/>
                </a:lnTo>
                <a:cubicBezTo>
                  <a:pt x="4554571" y="0"/>
                  <a:pt x="4622800" y="68229"/>
                  <a:pt x="4622800" y="152394"/>
                </a:cubicBezTo>
                <a:lnTo>
                  <a:pt x="4622800" y="2489206"/>
                </a:lnTo>
                <a:cubicBezTo>
                  <a:pt x="4622800" y="2573371"/>
                  <a:pt x="4554571" y="2641600"/>
                  <a:pt x="4470406" y="2641600"/>
                </a:cubicBezTo>
                <a:lnTo>
                  <a:pt x="152394" y="2641600"/>
                </a:lnTo>
                <a:cubicBezTo>
                  <a:pt x="68229" y="2641600"/>
                  <a:pt x="0" y="2573371"/>
                  <a:pt x="0" y="24892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190">
            <a:solidFill>
              <a:srgbClr val="78A5E4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2175269" y="2641811"/>
            <a:ext cx="142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78A5E4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实验组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56876" y="3302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90500" y="19050"/>
                </a:moveTo>
                <a:cubicBezTo>
                  <a:pt x="190500" y="8513"/>
                  <a:pt x="181987" y="0"/>
                  <a:pt x="171450" y="0"/>
                </a:cubicBezTo>
                <a:cubicBezTo>
                  <a:pt x="160913" y="0"/>
                  <a:pt x="152400" y="8513"/>
                  <a:pt x="152400" y="19050"/>
                </a:cubicBezTo>
                <a:lnTo>
                  <a:pt x="152400" y="103525"/>
                </a:lnTo>
                <a:lnTo>
                  <a:pt x="133350" y="114955"/>
                </a:lnTo>
                <a:lnTo>
                  <a:pt x="133350" y="45482"/>
                </a:lnTo>
                <a:cubicBezTo>
                  <a:pt x="133350" y="30897"/>
                  <a:pt x="121503" y="19050"/>
                  <a:pt x="106918" y="19050"/>
                </a:cubicBezTo>
                <a:cubicBezTo>
                  <a:pt x="99477" y="19050"/>
                  <a:pt x="92393" y="22205"/>
                  <a:pt x="87392" y="27682"/>
                </a:cubicBezTo>
                <a:lnTo>
                  <a:pt x="71676" y="44946"/>
                </a:lnTo>
                <a:cubicBezTo>
                  <a:pt x="25539" y="95726"/>
                  <a:pt x="0" y="161806"/>
                  <a:pt x="0" y="230386"/>
                </a:cubicBezTo>
                <a:lnTo>
                  <a:pt x="0" y="248543"/>
                </a:lnTo>
                <a:cubicBezTo>
                  <a:pt x="0" y="279618"/>
                  <a:pt x="25182" y="304800"/>
                  <a:pt x="56257" y="304800"/>
                </a:cubicBezTo>
                <a:cubicBezTo>
                  <a:pt x="69354" y="304800"/>
                  <a:pt x="82272" y="301764"/>
                  <a:pt x="94000" y="295870"/>
                </a:cubicBezTo>
                <a:lnTo>
                  <a:pt x="96976" y="294382"/>
                </a:lnTo>
                <a:cubicBezTo>
                  <a:pt x="119241" y="283250"/>
                  <a:pt x="133290" y="260509"/>
                  <a:pt x="133290" y="235565"/>
                </a:cubicBezTo>
                <a:lnTo>
                  <a:pt x="133290" y="159365"/>
                </a:lnTo>
                <a:lnTo>
                  <a:pt x="171390" y="136505"/>
                </a:lnTo>
                <a:lnTo>
                  <a:pt x="209490" y="159365"/>
                </a:lnTo>
                <a:lnTo>
                  <a:pt x="209490" y="235565"/>
                </a:lnTo>
                <a:cubicBezTo>
                  <a:pt x="209490" y="260449"/>
                  <a:pt x="223540" y="283250"/>
                  <a:pt x="245805" y="294382"/>
                </a:cubicBezTo>
                <a:lnTo>
                  <a:pt x="248781" y="295870"/>
                </a:lnTo>
                <a:cubicBezTo>
                  <a:pt x="260509" y="301704"/>
                  <a:pt x="273427" y="304800"/>
                  <a:pt x="286524" y="304800"/>
                </a:cubicBezTo>
                <a:cubicBezTo>
                  <a:pt x="317599" y="304800"/>
                  <a:pt x="342781" y="279618"/>
                  <a:pt x="342781" y="248543"/>
                </a:cubicBezTo>
                <a:lnTo>
                  <a:pt x="342781" y="244852"/>
                </a:lnTo>
                <a:cubicBezTo>
                  <a:pt x="342781" y="178713"/>
                  <a:pt x="320933" y="114479"/>
                  <a:pt x="280630" y="62091"/>
                </a:cubicBezTo>
                <a:lnTo>
                  <a:pt x="255330" y="28992"/>
                </a:lnTo>
                <a:cubicBezTo>
                  <a:pt x="250507" y="22681"/>
                  <a:pt x="243007" y="19050"/>
                  <a:pt x="235089" y="19050"/>
                </a:cubicBezTo>
                <a:cubicBezTo>
                  <a:pt x="220980" y="19050"/>
                  <a:pt x="209550" y="30480"/>
                  <a:pt x="209550" y="44589"/>
                </a:cubicBezTo>
                <a:lnTo>
                  <a:pt x="209550" y="114955"/>
                </a:lnTo>
                <a:lnTo>
                  <a:pt x="190500" y="103525"/>
                </a:lnTo>
                <a:lnTo>
                  <a:pt x="190500" y="19050"/>
                </a:lnTo>
                <a:close/>
              </a:path>
            </a:pathLst>
          </a:custGeom>
          <a:solidFill>
            <a:srgbClr val="78A5E4"/>
          </a:solidFill>
        </p:spPr>
      </p:sp>
      <p:sp>
        <p:nvSpPr>
          <p:cNvPr id="8" name="Text 5"/>
          <p:cNvSpPr/>
          <p:nvPr/>
        </p:nvSpPr>
        <p:spPr>
          <a:xfrm>
            <a:off x="2079100" y="3302000"/>
            <a:ext cx="212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HRV进入目标区间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80042" y="3860645"/>
            <a:ext cx="812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0064" y="4520834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11" name="Text 8"/>
          <p:cNvSpPr/>
          <p:nvPr/>
        </p:nvSpPr>
        <p:spPr>
          <a:xfrm>
            <a:off x="2175137" y="4520834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解锁发散思维题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14711" y="3505098"/>
            <a:ext cx="1066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68600" y="2413527"/>
            <a:ext cx="4622800" cy="2641600"/>
          </a:xfrm>
          <a:custGeom>
            <a:avLst/>
            <a:gdLst/>
            <a:ahLst/>
            <a:cxnLst/>
            <a:rect l="l" t="t" r="r" b="b"/>
            <a:pathLst>
              <a:path w="4622800" h="2641600">
                <a:moveTo>
                  <a:pt x="152394" y="0"/>
                </a:moveTo>
                <a:lnTo>
                  <a:pt x="4470406" y="0"/>
                </a:lnTo>
                <a:cubicBezTo>
                  <a:pt x="4554571" y="0"/>
                  <a:pt x="4622800" y="68229"/>
                  <a:pt x="4622800" y="152394"/>
                </a:cubicBezTo>
                <a:lnTo>
                  <a:pt x="4622800" y="2489206"/>
                </a:lnTo>
                <a:cubicBezTo>
                  <a:pt x="4622800" y="2573371"/>
                  <a:pt x="4554571" y="2641600"/>
                  <a:pt x="4470406" y="2641600"/>
                </a:cubicBezTo>
                <a:lnTo>
                  <a:pt x="152394" y="2641600"/>
                </a:lnTo>
                <a:cubicBezTo>
                  <a:pt x="68229" y="2641600"/>
                  <a:pt x="0" y="2573371"/>
                  <a:pt x="0" y="24892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190">
            <a:solidFill>
              <a:srgbClr val="E87D65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8594148" y="2641811"/>
            <a:ext cx="142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对照组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99711" y="330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E87D65"/>
          </a:solidFill>
        </p:spPr>
      </p:sp>
      <p:sp>
        <p:nvSpPr>
          <p:cNvPr id="16" name="Text 13"/>
          <p:cNvSpPr/>
          <p:nvPr/>
        </p:nvSpPr>
        <p:spPr>
          <a:xfrm>
            <a:off x="8802884" y="3302000"/>
            <a:ext cx="151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无HRV要求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898921" y="3860645"/>
            <a:ext cx="812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695617" y="452083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669" y="210264"/>
                </a:moveTo>
                <a:cubicBezTo>
                  <a:pt x="24110" y="201573"/>
                  <a:pt x="28694" y="193655"/>
                  <a:pt x="35123" y="187226"/>
                </a:cubicBezTo>
                <a:lnTo>
                  <a:pt x="142994" y="79355"/>
                </a:lnTo>
                <a:lnTo>
                  <a:pt x="163175" y="59174"/>
                </a:lnTo>
                <a:cubicBezTo>
                  <a:pt x="173057" y="69056"/>
                  <a:pt x="193715" y="89714"/>
                  <a:pt x="225088" y="121087"/>
                </a:cubicBezTo>
                <a:lnTo>
                  <a:pt x="245269" y="141268"/>
                </a:lnTo>
                <a:lnTo>
                  <a:pt x="225088" y="161449"/>
                </a:lnTo>
                <a:lnTo>
                  <a:pt x="117217" y="269319"/>
                </a:lnTo>
                <a:cubicBezTo>
                  <a:pt x="110847" y="275689"/>
                  <a:pt x="102870" y="280333"/>
                  <a:pt x="94178" y="282773"/>
                </a:cubicBezTo>
                <a:lnTo>
                  <a:pt x="18098" y="303967"/>
                </a:lnTo>
                <a:cubicBezTo>
                  <a:pt x="13156" y="305336"/>
                  <a:pt x="7799" y="303967"/>
                  <a:pt x="4167" y="300276"/>
                </a:cubicBezTo>
                <a:cubicBezTo>
                  <a:pt x="536" y="296585"/>
                  <a:pt x="-833" y="291286"/>
                  <a:pt x="536" y="286345"/>
                </a:cubicBezTo>
                <a:lnTo>
                  <a:pt x="21669" y="210264"/>
                </a:lnTo>
                <a:close/>
                <a:moveTo>
                  <a:pt x="54769" y="208062"/>
                </a:moveTo>
                <a:cubicBezTo>
                  <a:pt x="52149" y="210860"/>
                  <a:pt x="50244" y="214253"/>
                  <a:pt x="49232" y="217944"/>
                </a:cubicBezTo>
                <a:lnTo>
                  <a:pt x="34885" y="269677"/>
                </a:lnTo>
                <a:lnTo>
                  <a:pt x="86618" y="255330"/>
                </a:lnTo>
                <a:cubicBezTo>
                  <a:pt x="90428" y="254258"/>
                  <a:pt x="93881" y="252293"/>
                  <a:pt x="96738" y="249555"/>
                </a:cubicBezTo>
                <a:lnTo>
                  <a:pt x="54709" y="208062"/>
                </a:lnTo>
                <a:close/>
                <a:moveTo>
                  <a:pt x="265509" y="121087"/>
                </a:moveTo>
                <a:cubicBezTo>
                  <a:pt x="255627" y="111204"/>
                  <a:pt x="234970" y="90547"/>
                  <a:pt x="203597" y="59174"/>
                </a:cubicBezTo>
                <a:lnTo>
                  <a:pt x="183356" y="38993"/>
                </a:lnTo>
                <a:cubicBezTo>
                  <a:pt x="199132" y="23217"/>
                  <a:pt x="208002" y="14347"/>
                  <a:pt x="210086" y="12263"/>
                </a:cubicBezTo>
                <a:cubicBezTo>
                  <a:pt x="218123" y="4167"/>
                  <a:pt x="229076" y="-357"/>
                  <a:pt x="240506" y="-357"/>
                </a:cubicBezTo>
                <a:cubicBezTo>
                  <a:pt x="251936" y="-357"/>
                  <a:pt x="262890" y="4167"/>
                  <a:pt x="270927" y="12263"/>
                </a:cubicBezTo>
                <a:lnTo>
                  <a:pt x="292179" y="33516"/>
                </a:lnTo>
                <a:cubicBezTo>
                  <a:pt x="300276" y="41612"/>
                  <a:pt x="304800" y="52566"/>
                  <a:pt x="304800" y="63937"/>
                </a:cubicBezTo>
                <a:cubicBezTo>
                  <a:pt x="304800" y="75307"/>
                  <a:pt x="300276" y="86320"/>
                  <a:pt x="292179" y="94357"/>
                </a:cubicBezTo>
                <a:cubicBezTo>
                  <a:pt x="290096" y="96441"/>
                  <a:pt x="281226" y="105311"/>
                  <a:pt x="265450" y="121087"/>
                </a:cubicBezTo>
                <a:close/>
              </a:path>
            </a:pathLst>
          </a:custGeom>
          <a:solidFill>
            <a:srgbClr val="E87D65"/>
          </a:solidFill>
        </p:spPr>
      </p:sp>
      <p:sp>
        <p:nvSpPr>
          <p:cNvPr id="19" name="Text 16"/>
          <p:cNvSpPr/>
          <p:nvPr/>
        </p:nvSpPr>
        <p:spPr>
          <a:xfrm>
            <a:off x="8898790" y="4520834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直接答题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54000" y="5510988"/>
            <a:ext cx="1168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通过比较前后测</a:t>
            </a:r>
            <a:r>
              <a:rPr lang="en-US" sz="18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托兰斯图形、AUT</a:t>
            </a: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得分，验证训练有效性。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48829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四模块无缝集成，告别拼凑式原型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81024" y="1710696"/>
            <a:ext cx="2336800" cy="1524000"/>
          </a:xfrm>
          <a:custGeom>
            <a:avLst/>
            <a:gdLst/>
            <a:ahLst/>
            <a:cxnLst/>
            <a:rect l="l" t="t" r="r" b="b"/>
            <a:pathLst>
              <a:path w="2336800" h="1524000">
                <a:moveTo>
                  <a:pt x="101605" y="0"/>
                </a:moveTo>
                <a:lnTo>
                  <a:pt x="2235195" y="0"/>
                </a:lnTo>
                <a:cubicBezTo>
                  <a:pt x="2291310" y="0"/>
                  <a:pt x="2336800" y="45490"/>
                  <a:pt x="2336800" y="101605"/>
                </a:cubicBezTo>
                <a:lnTo>
                  <a:pt x="2336800" y="1422395"/>
                </a:lnTo>
                <a:cubicBezTo>
                  <a:pt x="2336800" y="1478510"/>
                  <a:pt x="2291310" y="1524000"/>
                  <a:pt x="2235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762020" y="19772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78A5E4"/>
          </a:solidFill>
        </p:spPr>
      </p:sp>
      <p:sp>
        <p:nvSpPr>
          <p:cNvPr id="6" name="Text 3"/>
          <p:cNvSpPr/>
          <p:nvPr/>
        </p:nvSpPr>
        <p:spPr>
          <a:xfrm>
            <a:off x="1492119" y="2574113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硬件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6797" y="2878888"/>
            <a:ext cx="96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传感器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19345" y="2244018"/>
            <a:ext cx="73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45373" y="1710696"/>
            <a:ext cx="2336800" cy="1524000"/>
          </a:xfrm>
          <a:custGeom>
            <a:avLst/>
            <a:gdLst/>
            <a:ahLst/>
            <a:cxnLst/>
            <a:rect l="l" t="t" r="r" b="b"/>
            <a:pathLst>
              <a:path w="2336800" h="1524000">
                <a:moveTo>
                  <a:pt x="101605" y="0"/>
                </a:moveTo>
                <a:lnTo>
                  <a:pt x="2235195" y="0"/>
                </a:lnTo>
                <a:cubicBezTo>
                  <a:pt x="2291310" y="0"/>
                  <a:pt x="2336800" y="45490"/>
                  <a:pt x="2336800" y="101605"/>
                </a:cubicBezTo>
                <a:lnTo>
                  <a:pt x="2336800" y="1422395"/>
                </a:lnTo>
                <a:cubicBezTo>
                  <a:pt x="2336800" y="1478510"/>
                  <a:pt x="2291310" y="1524000"/>
                  <a:pt x="2235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526369" y="19772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11" name="Text 8"/>
          <p:cNvSpPr/>
          <p:nvPr/>
        </p:nvSpPr>
        <p:spPr>
          <a:xfrm>
            <a:off x="4256468" y="2574113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算法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59119" y="2878888"/>
            <a:ext cx="1104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HRV计算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83694" y="2244018"/>
            <a:ext cx="73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9722" y="1710696"/>
            <a:ext cx="2336800" cy="1524000"/>
          </a:xfrm>
          <a:custGeom>
            <a:avLst/>
            <a:gdLst/>
            <a:ahLst/>
            <a:cxnLst/>
            <a:rect l="l" t="t" r="r" b="b"/>
            <a:pathLst>
              <a:path w="2336800" h="1524000">
                <a:moveTo>
                  <a:pt x="101605" y="0"/>
                </a:moveTo>
                <a:lnTo>
                  <a:pt x="2235195" y="0"/>
                </a:lnTo>
                <a:cubicBezTo>
                  <a:pt x="2291310" y="0"/>
                  <a:pt x="2336800" y="45490"/>
                  <a:pt x="2336800" y="101605"/>
                </a:cubicBezTo>
                <a:lnTo>
                  <a:pt x="2336800" y="1422395"/>
                </a:lnTo>
                <a:cubicBezTo>
                  <a:pt x="2336800" y="1478510"/>
                  <a:pt x="2291310" y="1524000"/>
                  <a:pt x="2235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7290719" y="19772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261938"/>
                </a:lnTo>
                <a:cubicBezTo>
                  <a:pt x="0" y="288206"/>
                  <a:pt x="21357" y="309563"/>
                  <a:pt x="47625" y="309563"/>
                </a:cubicBezTo>
                <a:lnTo>
                  <a:pt x="154781" y="309563"/>
                </a:lnTo>
                <a:lnTo>
                  <a:pt x="142875" y="345281"/>
                </a:lnTo>
                <a:lnTo>
                  <a:pt x="89297" y="345281"/>
                </a:lnTo>
                <a:cubicBezTo>
                  <a:pt x="79400" y="345281"/>
                  <a:pt x="71438" y="353244"/>
                  <a:pt x="71438" y="363141"/>
                </a:cubicBezTo>
                <a:cubicBezTo>
                  <a:pt x="71438" y="373038"/>
                  <a:pt x="79400" y="381000"/>
                  <a:pt x="89297" y="381000"/>
                </a:cubicBezTo>
                <a:lnTo>
                  <a:pt x="291703" y="381000"/>
                </a:lnTo>
                <a:cubicBezTo>
                  <a:pt x="301600" y="381000"/>
                  <a:pt x="309563" y="373038"/>
                  <a:pt x="309563" y="363141"/>
                </a:cubicBezTo>
                <a:cubicBezTo>
                  <a:pt x="309563" y="353244"/>
                  <a:pt x="301600" y="345281"/>
                  <a:pt x="291703" y="345281"/>
                </a:cubicBezTo>
                <a:lnTo>
                  <a:pt x="238125" y="345281"/>
                </a:lnTo>
                <a:lnTo>
                  <a:pt x="226219" y="309563"/>
                </a:lnTo>
                <a:lnTo>
                  <a:pt x="333375" y="309563"/>
                </a:lnTo>
                <a:cubicBezTo>
                  <a:pt x="359643" y="309563"/>
                  <a:pt x="381000" y="288206"/>
                  <a:pt x="381000" y="261938"/>
                </a:cubicBezTo>
                <a:lnTo>
                  <a:pt x="381000" y="71438"/>
                </a:lnTo>
                <a:cubicBezTo>
                  <a:pt x="381000" y="45169"/>
                  <a:pt x="359643" y="23812"/>
                  <a:pt x="333375" y="23812"/>
                </a:cubicBezTo>
                <a:lnTo>
                  <a:pt x="47625" y="23812"/>
                </a:lnTo>
                <a:close/>
                <a:moveTo>
                  <a:pt x="71438" y="71438"/>
                </a:moveTo>
                <a:lnTo>
                  <a:pt x="309563" y="71438"/>
                </a:lnTo>
                <a:cubicBezTo>
                  <a:pt x="322734" y="71438"/>
                  <a:pt x="333375" y="82079"/>
                  <a:pt x="333375" y="95250"/>
                </a:cubicBezTo>
                <a:lnTo>
                  <a:pt x="333375" y="214313"/>
                </a:lnTo>
                <a:cubicBezTo>
                  <a:pt x="333375" y="227484"/>
                  <a:pt x="322734" y="238125"/>
                  <a:pt x="309563" y="238125"/>
                </a:cubicBezTo>
                <a:lnTo>
                  <a:pt x="71438" y="238125"/>
                </a:lnTo>
                <a:cubicBezTo>
                  <a:pt x="58266" y="238125"/>
                  <a:pt x="47625" y="227484"/>
                  <a:pt x="47625" y="214313"/>
                </a:cubicBezTo>
                <a:lnTo>
                  <a:pt x="47625" y="95250"/>
                </a:lnTo>
                <a:cubicBezTo>
                  <a:pt x="47625" y="82079"/>
                  <a:pt x="58266" y="71438"/>
                  <a:pt x="71438" y="71438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16" name="Text 13"/>
          <p:cNvSpPr/>
          <p:nvPr/>
        </p:nvSpPr>
        <p:spPr>
          <a:xfrm>
            <a:off x="6747794" y="2574113"/>
            <a:ext cx="1460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Unity前端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19269" y="2878888"/>
            <a:ext cx="1117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游戏界面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48044" y="2244018"/>
            <a:ext cx="73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74071" y="1710696"/>
            <a:ext cx="2336800" cy="1524000"/>
          </a:xfrm>
          <a:custGeom>
            <a:avLst/>
            <a:gdLst/>
            <a:ahLst/>
            <a:cxnLst/>
            <a:rect l="l" t="t" r="r" b="b"/>
            <a:pathLst>
              <a:path w="2336800" h="1524000">
                <a:moveTo>
                  <a:pt x="101605" y="0"/>
                </a:moveTo>
                <a:lnTo>
                  <a:pt x="2235195" y="0"/>
                </a:lnTo>
                <a:cubicBezTo>
                  <a:pt x="2291310" y="0"/>
                  <a:pt x="2336800" y="45490"/>
                  <a:pt x="2336800" y="101605"/>
                </a:cubicBezTo>
                <a:lnTo>
                  <a:pt x="2336800" y="1422395"/>
                </a:lnTo>
                <a:cubicBezTo>
                  <a:pt x="2336800" y="1478510"/>
                  <a:pt x="2291310" y="1524000"/>
                  <a:pt x="2235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10078880" y="197729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27273" y="149200"/>
                </a:moveTo>
                <a:cubicBezTo>
                  <a:pt x="321543" y="126206"/>
                  <a:pt x="310679" y="108868"/>
                  <a:pt x="287536" y="108868"/>
                </a:cubicBezTo>
                <a:lnTo>
                  <a:pt x="257696" y="108868"/>
                </a:lnTo>
                <a:lnTo>
                  <a:pt x="257696" y="144140"/>
                </a:lnTo>
                <a:cubicBezTo>
                  <a:pt x="257696" y="171524"/>
                  <a:pt x="234479" y="194593"/>
                  <a:pt x="207987" y="194593"/>
                </a:cubicBezTo>
                <a:lnTo>
                  <a:pt x="128513" y="194593"/>
                </a:lnTo>
                <a:cubicBezTo>
                  <a:pt x="106784" y="194593"/>
                  <a:pt x="88776" y="213196"/>
                  <a:pt x="88776" y="235000"/>
                </a:cubicBezTo>
                <a:lnTo>
                  <a:pt x="88776" y="310753"/>
                </a:lnTo>
                <a:cubicBezTo>
                  <a:pt x="88776" y="332333"/>
                  <a:pt x="107528" y="344984"/>
                  <a:pt x="128513" y="351160"/>
                </a:cubicBezTo>
                <a:cubicBezTo>
                  <a:pt x="153665" y="358527"/>
                  <a:pt x="177850" y="359866"/>
                  <a:pt x="207987" y="351160"/>
                </a:cubicBezTo>
                <a:cubicBezTo>
                  <a:pt x="228005" y="345356"/>
                  <a:pt x="247724" y="333673"/>
                  <a:pt x="247724" y="310753"/>
                </a:cubicBezTo>
                <a:lnTo>
                  <a:pt x="247724" y="280467"/>
                </a:lnTo>
                <a:lnTo>
                  <a:pt x="168325" y="280467"/>
                </a:lnTo>
                <a:lnTo>
                  <a:pt x="168325" y="270346"/>
                </a:lnTo>
                <a:lnTo>
                  <a:pt x="287536" y="270346"/>
                </a:lnTo>
                <a:cubicBezTo>
                  <a:pt x="310679" y="270346"/>
                  <a:pt x="319236" y="254198"/>
                  <a:pt x="327273" y="230014"/>
                </a:cubicBezTo>
                <a:cubicBezTo>
                  <a:pt x="335607" y="205085"/>
                  <a:pt x="335235" y="181124"/>
                  <a:pt x="327273" y="149200"/>
                </a:cubicBezTo>
                <a:close/>
                <a:moveTo>
                  <a:pt x="212973" y="330919"/>
                </a:moveTo>
                <a:cubicBezTo>
                  <a:pt x="207310" y="331317"/>
                  <a:pt x="201898" y="328520"/>
                  <a:pt x="198945" y="323671"/>
                </a:cubicBezTo>
                <a:cubicBezTo>
                  <a:pt x="195992" y="318822"/>
                  <a:pt x="195992" y="312730"/>
                  <a:pt x="198945" y="307881"/>
                </a:cubicBezTo>
                <a:cubicBezTo>
                  <a:pt x="201898" y="303032"/>
                  <a:pt x="207310" y="300236"/>
                  <a:pt x="212973" y="300633"/>
                </a:cubicBezTo>
                <a:cubicBezTo>
                  <a:pt x="218637" y="300236"/>
                  <a:pt x="224048" y="303032"/>
                  <a:pt x="227001" y="307881"/>
                </a:cubicBezTo>
                <a:cubicBezTo>
                  <a:pt x="229954" y="312730"/>
                  <a:pt x="229954" y="318822"/>
                  <a:pt x="227001" y="323671"/>
                </a:cubicBezTo>
                <a:cubicBezTo>
                  <a:pt x="224048" y="328520"/>
                  <a:pt x="218637" y="331317"/>
                  <a:pt x="212973" y="330919"/>
                </a:cubicBezTo>
                <a:close/>
                <a:moveTo>
                  <a:pt x="124867" y="184621"/>
                </a:moveTo>
                <a:lnTo>
                  <a:pt x="204341" y="184621"/>
                </a:lnTo>
                <a:cubicBezTo>
                  <a:pt x="226442" y="184621"/>
                  <a:pt x="244078" y="166390"/>
                  <a:pt x="244078" y="144214"/>
                </a:cubicBezTo>
                <a:lnTo>
                  <a:pt x="244078" y="68387"/>
                </a:lnTo>
                <a:cubicBezTo>
                  <a:pt x="244078" y="46806"/>
                  <a:pt x="225921" y="30659"/>
                  <a:pt x="204341" y="27012"/>
                </a:cubicBezTo>
                <a:cubicBezTo>
                  <a:pt x="177701" y="22622"/>
                  <a:pt x="148754" y="22845"/>
                  <a:pt x="124867" y="27087"/>
                </a:cubicBezTo>
                <a:cubicBezTo>
                  <a:pt x="91232" y="33040"/>
                  <a:pt x="85130" y="45467"/>
                  <a:pt x="85130" y="68461"/>
                </a:cubicBezTo>
                <a:lnTo>
                  <a:pt x="85130" y="98747"/>
                </a:lnTo>
                <a:lnTo>
                  <a:pt x="164678" y="98747"/>
                </a:lnTo>
                <a:lnTo>
                  <a:pt x="164678" y="108868"/>
                </a:lnTo>
                <a:lnTo>
                  <a:pt x="55290" y="108868"/>
                </a:lnTo>
                <a:cubicBezTo>
                  <a:pt x="32147" y="108868"/>
                  <a:pt x="11906" y="122783"/>
                  <a:pt x="5581" y="149200"/>
                </a:cubicBezTo>
                <a:cubicBezTo>
                  <a:pt x="-1712" y="179487"/>
                  <a:pt x="-2009" y="198388"/>
                  <a:pt x="5581" y="230014"/>
                </a:cubicBezTo>
                <a:cubicBezTo>
                  <a:pt x="11237" y="253529"/>
                  <a:pt x="24705" y="270346"/>
                  <a:pt x="47848" y="270346"/>
                </a:cubicBezTo>
                <a:lnTo>
                  <a:pt x="75158" y="270346"/>
                </a:lnTo>
                <a:lnTo>
                  <a:pt x="75158" y="234032"/>
                </a:lnTo>
                <a:cubicBezTo>
                  <a:pt x="75158" y="207764"/>
                  <a:pt x="97854" y="184621"/>
                  <a:pt x="124867" y="184621"/>
                </a:cubicBezTo>
                <a:close/>
                <a:moveTo>
                  <a:pt x="119955" y="48146"/>
                </a:moveTo>
                <a:cubicBezTo>
                  <a:pt x="128334" y="48146"/>
                  <a:pt x="135136" y="54948"/>
                  <a:pt x="135136" y="63326"/>
                </a:cubicBezTo>
                <a:cubicBezTo>
                  <a:pt x="135136" y="71705"/>
                  <a:pt x="128334" y="78507"/>
                  <a:pt x="119955" y="78507"/>
                </a:cubicBezTo>
                <a:cubicBezTo>
                  <a:pt x="111577" y="78507"/>
                  <a:pt x="104775" y="71705"/>
                  <a:pt x="104775" y="63326"/>
                </a:cubicBezTo>
                <a:cubicBezTo>
                  <a:pt x="104775" y="54948"/>
                  <a:pt x="111577" y="48146"/>
                  <a:pt x="119955" y="48146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21" name="Text 18"/>
          <p:cNvSpPr/>
          <p:nvPr/>
        </p:nvSpPr>
        <p:spPr>
          <a:xfrm>
            <a:off x="9422665" y="2574113"/>
            <a:ext cx="1638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Python后端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83618" y="2878888"/>
            <a:ext cx="1117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03952" y="3437530"/>
            <a:ext cx="584200" cy="546100"/>
          </a:xfrm>
          <a:custGeom>
            <a:avLst/>
            <a:gdLst/>
            <a:ahLst/>
            <a:cxnLst/>
            <a:rect l="l" t="t" r="r" b="b"/>
            <a:pathLst>
              <a:path w="584200" h="546100">
                <a:moveTo>
                  <a:pt x="273050" y="0"/>
                </a:moveTo>
                <a:lnTo>
                  <a:pt x="311150" y="0"/>
                </a:lnTo>
                <a:cubicBezTo>
                  <a:pt x="461850" y="0"/>
                  <a:pt x="584200" y="122350"/>
                  <a:pt x="584200" y="273050"/>
                </a:cubicBezTo>
                <a:lnTo>
                  <a:pt x="584200" y="273050"/>
                </a:lnTo>
                <a:cubicBezTo>
                  <a:pt x="584200" y="423750"/>
                  <a:pt x="461850" y="546100"/>
                  <a:pt x="311150" y="546100"/>
                </a:cubicBezTo>
                <a:lnTo>
                  <a:pt x="273050" y="546100"/>
                </a:lnTo>
                <a:cubicBezTo>
                  <a:pt x="122350" y="546100"/>
                  <a:pt x="0" y="423750"/>
                  <a:pt x="0" y="273050"/>
                </a:cubicBezTo>
                <a:lnTo>
                  <a:pt x="0" y="273050"/>
                </a:lnTo>
                <a:cubicBezTo>
                  <a:pt x="0" y="122350"/>
                  <a:pt x="122350" y="0"/>
                  <a:pt x="273050" y="0"/>
                </a:cubicBezTo>
                <a:close/>
              </a:path>
            </a:pathLst>
          </a:custGeom>
          <a:solidFill>
            <a:srgbClr val="E87D65"/>
          </a:solidFill>
        </p:spPr>
      </p:sp>
      <p:sp>
        <p:nvSpPr>
          <p:cNvPr id="24" name="Shape 21"/>
          <p:cNvSpPr/>
          <p:nvPr/>
        </p:nvSpPr>
        <p:spPr>
          <a:xfrm>
            <a:off x="5981700" y="3539077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2"/>
          <p:cNvSpPr/>
          <p:nvPr/>
        </p:nvSpPr>
        <p:spPr>
          <a:xfrm>
            <a:off x="254000" y="4182080"/>
            <a:ext cx="11684000" cy="1727200"/>
          </a:xfrm>
          <a:custGeom>
            <a:avLst/>
            <a:gdLst/>
            <a:ahLst/>
            <a:cxnLst/>
            <a:rect l="l" t="t" r="r" b="b"/>
            <a:pathLst>
              <a:path w="11684000" h="1727200">
                <a:moveTo>
                  <a:pt x="152408" y="0"/>
                </a:moveTo>
                <a:lnTo>
                  <a:pt x="11531592" y="0"/>
                </a:lnTo>
                <a:cubicBezTo>
                  <a:pt x="11615765" y="0"/>
                  <a:pt x="11684000" y="68235"/>
                  <a:pt x="11684000" y="152408"/>
                </a:cubicBezTo>
                <a:lnTo>
                  <a:pt x="11684000" y="1574792"/>
                </a:lnTo>
                <a:cubicBezTo>
                  <a:pt x="11684000" y="1658965"/>
                  <a:pt x="11615765" y="1727200"/>
                  <a:pt x="11531592" y="1727200"/>
                </a:cubicBezTo>
                <a:lnTo>
                  <a:pt x="152408" y="1727200"/>
                </a:lnTo>
                <a:cubicBezTo>
                  <a:pt x="68235" y="1727200"/>
                  <a:pt x="0" y="1658965"/>
                  <a:pt x="0" y="15747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8A07A">
              <a:alpha val="20000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304774" y="4486852"/>
            <a:ext cx="1158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一体化桌面应用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58774" y="4994721"/>
            <a:ext cx="11074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硬件、算法、前端、后端被封装为</a:t>
            </a:r>
            <a:r>
              <a:rPr lang="en-US" sz="16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一体化桌面应用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，插上传感器即可一键启动。解决串口掉线、数据延迟、界面卡顿等痛点，让非工科师生也能“</a:t>
            </a:r>
            <a:r>
              <a:rPr lang="en-US" sz="16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开箱即用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”。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13-d2t9a2dnfo2stf9dj2a0.jpg"/>
          <p:cNvPicPr>
            <a:picLocks noChangeAspect="1"/>
          </p:cNvPicPr>
          <p:nvPr/>
        </p:nvPicPr>
        <p:blipFill>
          <a:blip r:embed="rId1">
            <a:alphaModFix amt="75000"/>
          </a:blip>
          <a:srcRect l="727" r="727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5:45:00-d2t99v5nfo2stf9dj2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80" y="-503555"/>
            <a:ext cx="7865110" cy="78651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44230" y="1732422"/>
            <a:ext cx="2872142" cy="21320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437723" y="3752393"/>
            <a:ext cx="5685155" cy="494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创新亮点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pic>
        <p:nvPicPr>
          <p:cNvPr id="3" name="Image 1" descr="https://kimi-web-img.moonshot.cn/img/122.114.192.84/0d0cfa8ba5c3a4954473ed1d21631167d857798a.jpg"/>
          <p:cNvPicPr>
            <a:picLocks noChangeAspect="1"/>
          </p:cNvPicPr>
          <p:nvPr/>
        </p:nvPicPr>
        <p:blipFill>
          <a:blip r:embed="rId2"/>
          <a:srcRect t="16672" b="16672"/>
          <a:stretch>
            <a:fillRect/>
          </a:stretch>
        </p:blipFill>
        <p:spPr>
          <a:xfrm>
            <a:off x="254000" y="783124"/>
            <a:ext cx="5842000" cy="5295900"/>
          </a:xfrm>
          <a:prstGeom prst="roundRect">
            <a:avLst>
              <a:gd name="adj" fmla="val 2878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502321" y="1676716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创新亮点 1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502321" y="2336905"/>
            <a:ext cx="5943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生理-认知双模态训练首进高校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502321" y="3048000"/>
            <a:ext cx="543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国内外尚无把HRV生物反馈与创造性思维任务按“</a:t>
            </a:r>
            <a:r>
              <a:rPr lang="en-US" sz="1600" dirty="0">
                <a:solidFill>
                  <a:srgbClr val="4A4A4A"/>
                </a:solidFill>
                <a:highlight>
                  <a:srgbClr val="F8A07A">
                    <a:alpha val="30196"/>
                  </a:srgbClr>
                </a:highlight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 先状态、后任务 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”顺序耦合的系统。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502321" y="3860645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6705416" y="406374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项目突破单一心理干预视角，让“</a:t>
            </a:r>
            <a:r>
              <a:rPr lang="en-US" sz="1600" dirty="0">
                <a:solidFill>
                  <a:srgbClr val="78A5E4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身体状态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”成为创意课程的准入门票，为跨学科人才培养提供可复制的技术范式。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143527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创新亮点 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803716"/>
            <a:ext cx="1219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算法自动匹配个人最佳呼吸节奏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01491" y="2616361"/>
            <a:ext cx="3898900" cy="2387600"/>
          </a:xfrm>
          <a:custGeom>
            <a:avLst/>
            <a:gdLst/>
            <a:ahLst/>
            <a:cxnLst/>
            <a:rect l="l" t="t" r="r" b="b"/>
            <a:pathLst>
              <a:path w="3898900" h="2387600">
                <a:moveTo>
                  <a:pt x="101592" y="0"/>
                </a:moveTo>
                <a:lnTo>
                  <a:pt x="3797308" y="0"/>
                </a:lnTo>
                <a:cubicBezTo>
                  <a:pt x="3853416" y="0"/>
                  <a:pt x="3898900" y="45484"/>
                  <a:pt x="3898900" y="101592"/>
                </a:cubicBezTo>
                <a:lnTo>
                  <a:pt x="3898900" y="2286008"/>
                </a:lnTo>
                <a:cubicBezTo>
                  <a:pt x="3898900" y="2342116"/>
                  <a:pt x="3853416" y="2387600"/>
                  <a:pt x="37973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750586" y="2819456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传统方法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462986" y="3454189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78A5E4"/>
          </a:solidFill>
        </p:spPr>
      </p:sp>
      <p:sp>
        <p:nvSpPr>
          <p:cNvPr id="8" name="Text 5"/>
          <p:cNvSpPr/>
          <p:nvPr/>
        </p:nvSpPr>
        <p:spPr>
          <a:xfrm>
            <a:off x="1004586" y="4190740"/>
            <a:ext cx="34925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一刀切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固定频率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91095" y="3505095"/>
            <a:ext cx="1117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95755" y="2616361"/>
            <a:ext cx="3898900" cy="2387600"/>
          </a:xfrm>
          <a:custGeom>
            <a:avLst/>
            <a:gdLst/>
            <a:ahLst/>
            <a:cxnLst/>
            <a:rect l="l" t="t" r="r" b="b"/>
            <a:pathLst>
              <a:path w="3898900" h="2387600">
                <a:moveTo>
                  <a:pt x="101592" y="0"/>
                </a:moveTo>
                <a:lnTo>
                  <a:pt x="3797308" y="0"/>
                </a:lnTo>
                <a:cubicBezTo>
                  <a:pt x="3853416" y="0"/>
                  <a:pt x="3898900" y="45484"/>
                  <a:pt x="3898900" y="101592"/>
                </a:cubicBezTo>
                <a:lnTo>
                  <a:pt x="3898900" y="2286008"/>
                </a:lnTo>
                <a:cubicBezTo>
                  <a:pt x="3898900" y="2342116"/>
                  <a:pt x="3853416" y="2387600"/>
                  <a:pt x="37973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F8A07A">
              <a:alpha val="20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7444850" y="2819456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我们的方法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57251" y="3454189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29046" y="7144"/>
                </a:moveTo>
                <a:cubicBezTo>
                  <a:pt x="288188" y="7144"/>
                  <a:pt x="336203" y="55159"/>
                  <a:pt x="336203" y="114300"/>
                </a:cubicBezTo>
                <a:cubicBezTo>
                  <a:pt x="336203" y="173441"/>
                  <a:pt x="288188" y="221456"/>
                  <a:pt x="229046" y="221456"/>
                </a:cubicBezTo>
                <a:cubicBezTo>
                  <a:pt x="169905" y="221456"/>
                  <a:pt x="121890" y="173441"/>
                  <a:pt x="121890" y="114300"/>
                </a:cubicBezTo>
                <a:cubicBezTo>
                  <a:pt x="121890" y="55159"/>
                  <a:pt x="169905" y="7144"/>
                  <a:pt x="229046" y="7144"/>
                </a:cubicBezTo>
                <a:close/>
                <a:moveTo>
                  <a:pt x="202436" y="271463"/>
                </a:moveTo>
                <a:lnTo>
                  <a:pt x="255478" y="271463"/>
                </a:lnTo>
                <a:lnTo>
                  <a:pt x="256818" y="271463"/>
                </a:lnTo>
                <a:cubicBezTo>
                  <a:pt x="245299" y="295394"/>
                  <a:pt x="249853" y="323433"/>
                  <a:pt x="267087" y="342454"/>
                </a:cubicBezTo>
                <a:cubicBezTo>
                  <a:pt x="249049" y="362367"/>
                  <a:pt x="244941" y="392281"/>
                  <a:pt x="258693" y="416927"/>
                </a:cubicBezTo>
                <a:lnTo>
                  <a:pt x="278785" y="453003"/>
                </a:lnTo>
                <a:cubicBezTo>
                  <a:pt x="279589" y="454432"/>
                  <a:pt x="280481" y="455861"/>
                  <a:pt x="281374" y="457200"/>
                </a:cubicBezTo>
                <a:lnTo>
                  <a:pt x="69741" y="457200"/>
                </a:lnTo>
                <a:cubicBezTo>
                  <a:pt x="55096" y="457200"/>
                  <a:pt x="43220" y="445324"/>
                  <a:pt x="43220" y="430679"/>
                </a:cubicBezTo>
                <a:cubicBezTo>
                  <a:pt x="43220" y="342721"/>
                  <a:pt x="114479" y="271462"/>
                  <a:pt x="202436" y="271462"/>
                </a:cubicBezTo>
                <a:close/>
                <a:moveTo>
                  <a:pt x="386298" y="221099"/>
                </a:moveTo>
                <a:cubicBezTo>
                  <a:pt x="386298" y="209223"/>
                  <a:pt x="395853" y="199668"/>
                  <a:pt x="407730" y="199668"/>
                </a:cubicBezTo>
                <a:lnTo>
                  <a:pt x="450592" y="199668"/>
                </a:lnTo>
                <a:cubicBezTo>
                  <a:pt x="462469" y="199668"/>
                  <a:pt x="472023" y="209223"/>
                  <a:pt x="472023" y="221099"/>
                </a:cubicBezTo>
                <a:lnTo>
                  <a:pt x="472023" y="226546"/>
                </a:lnTo>
                <a:cubicBezTo>
                  <a:pt x="472023" y="243423"/>
                  <a:pt x="493544" y="255836"/>
                  <a:pt x="508189" y="247442"/>
                </a:cubicBezTo>
                <a:lnTo>
                  <a:pt x="512653" y="244852"/>
                </a:lnTo>
                <a:cubicBezTo>
                  <a:pt x="523012" y="238869"/>
                  <a:pt x="536317" y="242530"/>
                  <a:pt x="542121" y="252978"/>
                </a:cubicBezTo>
                <a:lnTo>
                  <a:pt x="562124" y="288875"/>
                </a:lnTo>
                <a:cubicBezTo>
                  <a:pt x="567660" y="298877"/>
                  <a:pt x="564446" y="311378"/>
                  <a:pt x="554801" y="317450"/>
                </a:cubicBezTo>
                <a:lnTo>
                  <a:pt x="550605" y="320040"/>
                </a:lnTo>
                <a:cubicBezTo>
                  <a:pt x="536138" y="329059"/>
                  <a:pt x="536138" y="355669"/>
                  <a:pt x="550605" y="364778"/>
                </a:cubicBezTo>
                <a:lnTo>
                  <a:pt x="554712" y="367367"/>
                </a:lnTo>
                <a:cubicBezTo>
                  <a:pt x="564356" y="373440"/>
                  <a:pt x="567660" y="385941"/>
                  <a:pt x="562124" y="395942"/>
                </a:cubicBezTo>
                <a:lnTo>
                  <a:pt x="542032" y="432018"/>
                </a:lnTo>
                <a:cubicBezTo>
                  <a:pt x="536228" y="442466"/>
                  <a:pt x="522922" y="446216"/>
                  <a:pt x="512564" y="440144"/>
                </a:cubicBezTo>
                <a:lnTo>
                  <a:pt x="508189" y="437555"/>
                </a:lnTo>
                <a:cubicBezTo>
                  <a:pt x="493544" y="429071"/>
                  <a:pt x="472023" y="441573"/>
                  <a:pt x="472023" y="458450"/>
                </a:cubicBezTo>
                <a:lnTo>
                  <a:pt x="472023" y="463897"/>
                </a:lnTo>
                <a:cubicBezTo>
                  <a:pt x="472023" y="475774"/>
                  <a:pt x="462469" y="485329"/>
                  <a:pt x="450592" y="485329"/>
                </a:cubicBezTo>
                <a:lnTo>
                  <a:pt x="407730" y="485329"/>
                </a:lnTo>
                <a:cubicBezTo>
                  <a:pt x="395853" y="485329"/>
                  <a:pt x="386298" y="475774"/>
                  <a:pt x="386298" y="463897"/>
                </a:cubicBezTo>
                <a:lnTo>
                  <a:pt x="386298" y="458629"/>
                </a:lnTo>
                <a:cubicBezTo>
                  <a:pt x="386298" y="441662"/>
                  <a:pt x="364688" y="429161"/>
                  <a:pt x="349954" y="437644"/>
                </a:cubicBezTo>
                <a:lnTo>
                  <a:pt x="345668" y="440144"/>
                </a:lnTo>
                <a:cubicBezTo>
                  <a:pt x="335310" y="446127"/>
                  <a:pt x="322094" y="442466"/>
                  <a:pt x="316200" y="432018"/>
                </a:cubicBezTo>
                <a:lnTo>
                  <a:pt x="296019" y="395942"/>
                </a:lnTo>
                <a:cubicBezTo>
                  <a:pt x="290483" y="385941"/>
                  <a:pt x="293697" y="373350"/>
                  <a:pt x="303431" y="367278"/>
                </a:cubicBezTo>
                <a:lnTo>
                  <a:pt x="307360" y="364867"/>
                </a:lnTo>
                <a:cubicBezTo>
                  <a:pt x="321915" y="355848"/>
                  <a:pt x="321915" y="329059"/>
                  <a:pt x="307360" y="320040"/>
                </a:cubicBezTo>
                <a:lnTo>
                  <a:pt x="303341" y="317540"/>
                </a:lnTo>
                <a:cubicBezTo>
                  <a:pt x="293608" y="311468"/>
                  <a:pt x="290393" y="298877"/>
                  <a:pt x="295930" y="288875"/>
                </a:cubicBezTo>
                <a:lnTo>
                  <a:pt x="316022" y="252889"/>
                </a:lnTo>
                <a:cubicBezTo>
                  <a:pt x="321826" y="242441"/>
                  <a:pt x="335131" y="238780"/>
                  <a:pt x="345400" y="244763"/>
                </a:cubicBezTo>
                <a:lnTo>
                  <a:pt x="349687" y="247263"/>
                </a:lnTo>
                <a:cubicBezTo>
                  <a:pt x="364421" y="255746"/>
                  <a:pt x="386030" y="243245"/>
                  <a:pt x="386030" y="226278"/>
                </a:cubicBezTo>
                <a:lnTo>
                  <a:pt x="386030" y="221010"/>
                </a:lnTo>
                <a:close/>
                <a:moveTo>
                  <a:pt x="475506" y="342721"/>
                </a:moveTo>
                <a:cubicBezTo>
                  <a:pt x="475506" y="317094"/>
                  <a:pt x="454699" y="296287"/>
                  <a:pt x="429071" y="296287"/>
                </a:cubicBezTo>
                <a:cubicBezTo>
                  <a:pt x="403444" y="296287"/>
                  <a:pt x="382637" y="317094"/>
                  <a:pt x="382637" y="342721"/>
                </a:cubicBezTo>
                <a:cubicBezTo>
                  <a:pt x="382637" y="368349"/>
                  <a:pt x="403444" y="389156"/>
                  <a:pt x="429071" y="389156"/>
                </a:cubicBezTo>
                <a:cubicBezTo>
                  <a:pt x="454699" y="389156"/>
                  <a:pt x="475506" y="368349"/>
                  <a:pt x="475506" y="342721"/>
                </a:cubicBezTo>
                <a:close/>
              </a:path>
            </a:pathLst>
          </a:custGeom>
          <a:solidFill>
            <a:srgbClr val="F8A07A"/>
          </a:solidFill>
        </p:spPr>
      </p:sp>
      <p:sp>
        <p:nvSpPr>
          <p:cNvPr id="13" name="Text 10"/>
          <p:cNvSpPr/>
          <p:nvPr/>
        </p:nvSpPr>
        <p:spPr>
          <a:xfrm>
            <a:off x="7698850" y="4190740"/>
            <a:ext cx="34925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动态调整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个性化引导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4000" y="5409704"/>
            <a:ext cx="1168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系统记录用户基线HRV与训练响应曲线，通过</a:t>
            </a:r>
            <a:r>
              <a:rPr lang="en-US" sz="16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轻量级机器学习模型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，实现“</a:t>
            </a:r>
            <a:r>
              <a:rPr lang="en-US" sz="1600" dirty="0">
                <a:solidFill>
                  <a:srgbClr val="4A4A4A"/>
                </a:solidFill>
                <a:highlight>
                  <a:srgbClr val="E87D65">
                    <a:alpha val="30196"/>
                  </a:srgbClr>
                </a:highlight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 千人千面 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”的个性化神经调节。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13-d2t9a2dnfo2stf9dj2a0.jpg"/>
          <p:cNvPicPr>
            <a:picLocks noChangeAspect="1"/>
          </p:cNvPicPr>
          <p:nvPr/>
        </p:nvPicPr>
        <p:blipFill>
          <a:blip r:embed="rId1">
            <a:alphaModFix amt="75000"/>
          </a:blip>
          <a:srcRect l="727" r="727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5:45:00-d2t99v5nfo2stf9dj2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80" y="-503555"/>
            <a:ext cx="7865110" cy="78651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44230" y="1732422"/>
            <a:ext cx="2872142" cy="21320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437723" y="3752393"/>
            <a:ext cx="5685155" cy="494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进度与预算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73721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四阶段，迭代发表两不误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62000" y="3403612"/>
            <a:ext cx="10668000" cy="50800"/>
          </a:xfrm>
          <a:custGeom>
            <a:avLst/>
            <a:gdLst/>
            <a:ahLst/>
            <a:cxnLst/>
            <a:rect l="l" t="t" r="r" b="b"/>
            <a:pathLst>
              <a:path w="10668000" h="50800">
                <a:moveTo>
                  <a:pt x="0" y="0"/>
                </a:moveTo>
                <a:lnTo>
                  <a:pt x="10668000" y="0"/>
                </a:lnTo>
                <a:lnTo>
                  <a:pt x="1066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78A5E4">
              <a:alpha val="3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762000" y="3403612"/>
            <a:ext cx="8763000" cy="50800"/>
          </a:xfrm>
          <a:custGeom>
            <a:avLst/>
            <a:gdLst/>
            <a:ahLst/>
            <a:cxnLst/>
            <a:rect l="l" t="t" r="r" b="b"/>
            <a:pathLst>
              <a:path w="8763000" h="50800">
                <a:moveTo>
                  <a:pt x="0" y="0"/>
                </a:moveTo>
                <a:lnTo>
                  <a:pt x="8763000" y="0"/>
                </a:lnTo>
                <a:lnTo>
                  <a:pt x="8763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78A5E4"/>
          </a:solidFill>
        </p:spPr>
      </p:sp>
      <p:sp>
        <p:nvSpPr>
          <p:cNvPr id="6" name="Shape 3"/>
          <p:cNvSpPr/>
          <p:nvPr/>
        </p:nvSpPr>
        <p:spPr>
          <a:xfrm>
            <a:off x="1892274" y="28355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A5E4"/>
          </a:solidFill>
          <a:ln w="5038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8000" y="3413125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2025.09-11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376867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实验设计与预研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59274" y="28355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A5E4"/>
          </a:solidFill>
          <a:ln w="5038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75000" y="3413125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2025.12-03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75000" y="376867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正式数据采集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26274" y="28355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A5E4"/>
          </a:solidFill>
          <a:ln w="5038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42000" y="3413125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2026.03-06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42000" y="376867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投稿会议论文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893274" y="28355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7D65"/>
          </a:solidFill>
          <a:ln w="5038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09000" y="3413125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2026.06-07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09000" y="376867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申请专利与优化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54000" y="4428865"/>
            <a:ext cx="1168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每三个月设置里程碑，确保</a:t>
            </a:r>
            <a:r>
              <a:rPr lang="en-US" sz="18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既出论文又出产品</a:t>
            </a: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，实现学术与产业双轮驱动。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13-d2t9a2dnfo2stf9dj2a0.jpg"/>
          <p:cNvPicPr>
            <a:picLocks noChangeAspect="1"/>
          </p:cNvPicPr>
          <p:nvPr/>
        </p:nvPicPr>
        <p:blipFill>
          <a:blip r:embed="rId1">
            <a:alphaModFix amt="75000"/>
          </a:blip>
          <a:srcRect l="727" r="727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5:45:00-d2t99v5nfo2stf9dj2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80" y="-503555"/>
            <a:ext cx="7865110" cy="78651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44230" y="1732422"/>
            <a:ext cx="2872142" cy="21320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437723" y="3752393"/>
            <a:ext cx="5685155" cy="494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预期成果与展望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73752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预期研究成果：论文专利双收，系统校园落地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337166"/>
            <a:ext cx="3695700" cy="1930400"/>
          </a:xfrm>
          <a:custGeom>
            <a:avLst/>
            <a:gdLst/>
            <a:ahLst/>
            <a:cxnLst/>
            <a:rect l="l" t="t" r="r" b="b"/>
            <a:pathLst>
              <a:path w="3695700" h="19304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1828803"/>
                </a:lnTo>
                <a:cubicBezTo>
                  <a:pt x="3695700" y="1884913"/>
                  <a:pt x="3650213" y="1930400"/>
                  <a:pt x="3594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813817" y="2718036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239" y="57150"/>
                </a:moveTo>
                <a:cubicBezTo>
                  <a:pt x="57239" y="25628"/>
                  <a:pt x="82867" y="0"/>
                  <a:pt x="114389" y="0"/>
                </a:cubicBezTo>
                <a:lnTo>
                  <a:pt x="247888" y="0"/>
                </a:lnTo>
                <a:cubicBezTo>
                  <a:pt x="263069" y="0"/>
                  <a:pt x="277624" y="5983"/>
                  <a:pt x="288340" y="16699"/>
                </a:cubicBezTo>
                <a:lnTo>
                  <a:pt x="383351" y="111889"/>
                </a:lnTo>
                <a:cubicBezTo>
                  <a:pt x="394067" y="122605"/>
                  <a:pt x="400050" y="137160"/>
                  <a:pt x="400050" y="152340"/>
                </a:cubicBezTo>
                <a:lnTo>
                  <a:pt x="400050" y="239405"/>
                </a:lnTo>
                <a:lnTo>
                  <a:pt x="282178" y="357277"/>
                </a:lnTo>
                <a:lnTo>
                  <a:pt x="244584" y="357277"/>
                </a:lnTo>
                <a:lnTo>
                  <a:pt x="230207" y="309414"/>
                </a:lnTo>
                <a:cubicBezTo>
                  <a:pt x="226010" y="295394"/>
                  <a:pt x="213152" y="285839"/>
                  <a:pt x="198507" y="285839"/>
                </a:cubicBezTo>
                <a:cubicBezTo>
                  <a:pt x="188416" y="285839"/>
                  <a:pt x="178951" y="290393"/>
                  <a:pt x="172700" y="298252"/>
                </a:cubicBezTo>
                <a:lnTo>
                  <a:pt x="119033" y="365224"/>
                </a:lnTo>
                <a:cubicBezTo>
                  <a:pt x="111621" y="374422"/>
                  <a:pt x="113139" y="387995"/>
                  <a:pt x="122337" y="395317"/>
                </a:cubicBezTo>
                <a:cubicBezTo>
                  <a:pt x="131534" y="402640"/>
                  <a:pt x="145107" y="401211"/>
                  <a:pt x="152430" y="391924"/>
                </a:cubicBezTo>
                <a:lnTo>
                  <a:pt x="194489" y="339417"/>
                </a:lnTo>
                <a:lnTo>
                  <a:pt x="208062" y="384691"/>
                </a:lnTo>
                <a:cubicBezTo>
                  <a:pt x="210741" y="393799"/>
                  <a:pt x="219135" y="399961"/>
                  <a:pt x="228600" y="399961"/>
                </a:cubicBezTo>
                <a:lnTo>
                  <a:pt x="256729" y="399961"/>
                </a:lnTo>
                <a:cubicBezTo>
                  <a:pt x="255925" y="402729"/>
                  <a:pt x="255210" y="405586"/>
                  <a:pt x="254675" y="408444"/>
                </a:cubicBezTo>
                <a:lnTo>
                  <a:pt x="244941" y="457111"/>
                </a:lnTo>
                <a:lnTo>
                  <a:pt x="114389" y="457111"/>
                </a:lnTo>
                <a:cubicBezTo>
                  <a:pt x="82868" y="457111"/>
                  <a:pt x="57239" y="431483"/>
                  <a:pt x="57239" y="399961"/>
                </a:cubicBezTo>
                <a:lnTo>
                  <a:pt x="57239" y="57061"/>
                </a:lnTo>
                <a:close/>
                <a:moveTo>
                  <a:pt x="242977" y="52239"/>
                </a:moveTo>
                <a:lnTo>
                  <a:pt x="242977" y="135731"/>
                </a:lnTo>
                <a:cubicBezTo>
                  <a:pt x="242977" y="147608"/>
                  <a:pt x="252532" y="157163"/>
                  <a:pt x="264408" y="157163"/>
                </a:cubicBezTo>
                <a:lnTo>
                  <a:pt x="347901" y="157163"/>
                </a:lnTo>
                <a:lnTo>
                  <a:pt x="242977" y="52239"/>
                </a:lnTo>
                <a:close/>
                <a:moveTo>
                  <a:pt x="296734" y="416927"/>
                </a:moveTo>
                <a:cubicBezTo>
                  <a:pt x="298966" y="405854"/>
                  <a:pt x="304413" y="395674"/>
                  <a:pt x="312360" y="387727"/>
                </a:cubicBezTo>
                <a:lnTo>
                  <a:pt x="418534" y="281553"/>
                </a:lnTo>
                <a:lnTo>
                  <a:pt x="489972" y="352991"/>
                </a:lnTo>
                <a:lnTo>
                  <a:pt x="383798" y="459165"/>
                </a:lnTo>
                <a:cubicBezTo>
                  <a:pt x="375851" y="467112"/>
                  <a:pt x="365671" y="472559"/>
                  <a:pt x="354598" y="474791"/>
                </a:cubicBezTo>
                <a:lnTo>
                  <a:pt x="301377" y="485418"/>
                </a:lnTo>
                <a:cubicBezTo>
                  <a:pt x="300573" y="485596"/>
                  <a:pt x="299680" y="485686"/>
                  <a:pt x="298787" y="485686"/>
                </a:cubicBezTo>
                <a:cubicBezTo>
                  <a:pt x="291644" y="485686"/>
                  <a:pt x="285750" y="479881"/>
                  <a:pt x="285750" y="472648"/>
                </a:cubicBezTo>
                <a:cubicBezTo>
                  <a:pt x="285750" y="471755"/>
                  <a:pt x="285839" y="470952"/>
                  <a:pt x="286018" y="470059"/>
                </a:cubicBezTo>
                <a:lnTo>
                  <a:pt x="296644" y="416838"/>
                </a:lnTo>
                <a:close/>
                <a:moveTo>
                  <a:pt x="535871" y="307092"/>
                </a:moveTo>
                <a:lnTo>
                  <a:pt x="510153" y="332809"/>
                </a:lnTo>
                <a:lnTo>
                  <a:pt x="438716" y="261372"/>
                </a:lnTo>
                <a:lnTo>
                  <a:pt x="464433" y="235654"/>
                </a:lnTo>
                <a:cubicBezTo>
                  <a:pt x="484168" y="215920"/>
                  <a:pt x="516136" y="215920"/>
                  <a:pt x="535871" y="235654"/>
                </a:cubicBezTo>
                <a:cubicBezTo>
                  <a:pt x="555605" y="255389"/>
                  <a:pt x="555605" y="287357"/>
                  <a:pt x="535871" y="307092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6" name="Text 3"/>
          <p:cNvSpPr/>
          <p:nvPr/>
        </p:nvSpPr>
        <p:spPr>
          <a:xfrm>
            <a:off x="203095" y="3454586"/>
            <a:ext cx="379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学术论文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3095" y="3810000"/>
            <a:ext cx="379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发表1篇以上SCI/EI论文或会议论文。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0170" y="2337166"/>
            <a:ext cx="3695700" cy="1930400"/>
          </a:xfrm>
          <a:custGeom>
            <a:avLst/>
            <a:gdLst/>
            <a:ahLst/>
            <a:cxnLst/>
            <a:rect l="l" t="t" r="r" b="b"/>
            <a:pathLst>
              <a:path w="3695700" h="19304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1828803"/>
                </a:lnTo>
                <a:cubicBezTo>
                  <a:pt x="3695700" y="1884913"/>
                  <a:pt x="3650213" y="1930400"/>
                  <a:pt x="3594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E87D65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838694" y="2718036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13598" y="-7144"/>
                </a:moveTo>
                <a:cubicBezTo>
                  <a:pt x="208151" y="-12680"/>
                  <a:pt x="200204" y="-14913"/>
                  <a:pt x="192703" y="-12859"/>
                </a:cubicBezTo>
                <a:cubicBezTo>
                  <a:pt x="185202" y="-10805"/>
                  <a:pt x="179397" y="-5001"/>
                  <a:pt x="177522" y="2500"/>
                </a:cubicBezTo>
                <a:lnTo>
                  <a:pt x="163860" y="56257"/>
                </a:lnTo>
                <a:cubicBezTo>
                  <a:pt x="162877" y="60186"/>
                  <a:pt x="158859" y="62508"/>
                  <a:pt x="155019" y="61347"/>
                </a:cubicBezTo>
                <a:lnTo>
                  <a:pt x="101620" y="46345"/>
                </a:lnTo>
                <a:cubicBezTo>
                  <a:pt x="94119" y="44202"/>
                  <a:pt x="86082" y="46345"/>
                  <a:pt x="80635" y="51792"/>
                </a:cubicBezTo>
                <a:cubicBezTo>
                  <a:pt x="75188" y="57239"/>
                  <a:pt x="73045" y="65276"/>
                  <a:pt x="75188" y="72777"/>
                </a:cubicBezTo>
                <a:lnTo>
                  <a:pt x="90279" y="126176"/>
                </a:lnTo>
                <a:cubicBezTo>
                  <a:pt x="91351" y="130016"/>
                  <a:pt x="89029" y="134035"/>
                  <a:pt x="85189" y="135017"/>
                </a:cubicBezTo>
                <a:lnTo>
                  <a:pt x="31343" y="148679"/>
                </a:lnTo>
                <a:cubicBezTo>
                  <a:pt x="23842" y="150555"/>
                  <a:pt x="17949" y="156448"/>
                  <a:pt x="15895" y="163949"/>
                </a:cubicBezTo>
                <a:cubicBezTo>
                  <a:pt x="13841" y="171450"/>
                  <a:pt x="16073" y="179397"/>
                  <a:pt x="21610" y="184845"/>
                </a:cubicBezTo>
                <a:lnTo>
                  <a:pt x="61347" y="223510"/>
                </a:lnTo>
                <a:cubicBezTo>
                  <a:pt x="64204" y="226278"/>
                  <a:pt x="64204" y="230922"/>
                  <a:pt x="61347" y="233779"/>
                </a:cubicBezTo>
                <a:lnTo>
                  <a:pt x="21699" y="272445"/>
                </a:lnTo>
                <a:cubicBezTo>
                  <a:pt x="16163" y="277892"/>
                  <a:pt x="13930" y="285839"/>
                  <a:pt x="15984" y="293340"/>
                </a:cubicBezTo>
                <a:cubicBezTo>
                  <a:pt x="18038" y="300841"/>
                  <a:pt x="23932" y="306645"/>
                  <a:pt x="31433" y="308610"/>
                </a:cubicBezTo>
                <a:lnTo>
                  <a:pt x="85189" y="322272"/>
                </a:lnTo>
                <a:cubicBezTo>
                  <a:pt x="89118" y="323255"/>
                  <a:pt x="91440" y="327273"/>
                  <a:pt x="90279" y="331113"/>
                </a:cubicBezTo>
                <a:lnTo>
                  <a:pt x="75188" y="384423"/>
                </a:lnTo>
                <a:cubicBezTo>
                  <a:pt x="73045" y="391924"/>
                  <a:pt x="75188" y="399961"/>
                  <a:pt x="80635" y="405408"/>
                </a:cubicBezTo>
                <a:cubicBezTo>
                  <a:pt x="86082" y="410855"/>
                  <a:pt x="94119" y="412998"/>
                  <a:pt x="101620" y="410855"/>
                </a:cubicBezTo>
                <a:lnTo>
                  <a:pt x="155019" y="395764"/>
                </a:lnTo>
                <a:cubicBezTo>
                  <a:pt x="158859" y="394692"/>
                  <a:pt x="162877" y="397014"/>
                  <a:pt x="163860" y="400854"/>
                </a:cubicBezTo>
                <a:lnTo>
                  <a:pt x="177522" y="454610"/>
                </a:lnTo>
                <a:cubicBezTo>
                  <a:pt x="179397" y="462111"/>
                  <a:pt x="185291" y="468005"/>
                  <a:pt x="192792" y="470059"/>
                </a:cubicBezTo>
                <a:cubicBezTo>
                  <a:pt x="200293" y="472113"/>
                  <a:pt x="208240" y="469880"/>
                  <a:pt x="213687" y="464344"/>
                </a:cubicBezTo>
                <a:lnTo>
                  <a:pt x="252353" y="424607"/>
                </a:lnTo>
                <a:cubicBezTo>
                  <a:pt x="255121" y="421749"/>
                  <a:pt x="259765" y="421749"/>
                  <a:pt x="262622" y="424607"/>
                </a:cubicBezTo>
                <a:lnTo>
                  <a:pt x="301198" y="464344"/>
                </a:lnTo>
                <a:cubicBezTo>
                  <a:pt x="306645" y="469880"/>
                  <a:pt x="314593" y="472113"/>
                  <a:pt x="322094" y="470059"/>
                </a:cubicBezTo>
                <a:cubicBezTo>
                  <a:pt x="329595" y="468005"/>
                  <a:pt x="335399" y="462111"/>
                  <a:pt x="337364" y="454610"/>
                </a:cubicBezTo>
                <a:lnTo>
                  <a:pt x="351026" y="400943"/>
                </a:lnTo>
                <a:cubicBezTo>
                  <a:pt x="352008" y="397014"/>
                  <a:pt x="356027" y="394692"/>
                  <a:pt x="359866" y="395853"/>
                </a:cubicBezTo>
                <a:lnTo>
                  <a:pt x="413266" y="410944"/>
                </a:lnTo>
                <a:cubicBezTo>
                  <a:pt x="420767" y="413087"/>
                  <a:pt x="428804" y="410944"/>
                  <a:pt x="434251" y="405497"/>
                </a:cubicBezTo>
                <a:cubicBezTo>
                  <a:pt x="439698" y="400050"/>
                  <a:pt x="441841" y="392013"/>
                  <a:pt x="439698" y="384512"/>
                </a:cubicBezTo>
                <a:lnTo>
                  <a:pt x="424607" y="331113"/>
                </a:lnTo>
                <a:cubicBezTo>
                  <a:pt x="423535" y="327273"/>
                  <a:pt x="425857" y="323255"/>
                  <a:pt x="429697" y="322272"/>
                </a:cubicBezTo>
                <a:lnTo>
                  <a:pt x="483453" y="308610"/>
                </a:lnTo>
                <a:cubicBezTo>
                  <a:pt x="490954" y="306735"/>
                  <a:pt x="496848" y="300841"/>
                  <a:pt x="498902" y="293340"/>
                </a:cubicBezTo>
                <a:cubicBezTo>
                  <a:pt x="500955" y="285839"/>
                  <a:pt x="498723" y="277803"/>
                  <a:pt x="493187" y="272445"/>
                </a:cubicBezTo>
                <a:lnTo>
                  <a:pt x="453450" y="233779"/>
                </a:lnTo>
                <a:cubicBezTo>
                  <a:pt x="450592" y="231011"/>
                  <a:pt x="450592" y="226368"/>
                  <a:pt x="453450" y="223510"/>
                </a:cubicBezTo>
                <a:lnTo>
                  <a:pt x="493187" y="184845"/>
                </a:lnTo>
                <a:cubicBezTo>
                  <a:pt x="498723" y="179397"/>
                  <a:pt x="500955" y="171450"/>
                  <a:pt x="498902" y="163949"/>
                </a:cubicBezTo>
                <a:cubicBezTo>
                  <a:pt x="496848" y="156448"/>
                  <a:pt x="490954" y="150644"/>
                  <a:pt x="483453" y="148679"/>
                </a:cubicBezTo>
                <a:lnTo>
                  <a:pt x="429697" y="135017"/>
                </a:lnTo>
                <a:cubicBezTo>
                  <a:pt x="425768" y="134035"/>
                  <a:pt x="423446" y="130016"/>
                  <a:pt x="424607" y="126176"/>
                </a:cubicBezTo>
                <a:lnTo>
                  <a:pt x="439698" y="72777"/>
                </a:lnTo>
                <a:cubicBezTo>
                  <a:pt x="441841" y="65276"/>
                  <a:pt x="439698" y="57239"/>
                  <a:pt x="434251" y="51792"/>
                </a:cubicBezTo>
                <a:cubicBezTo>
                  <a:pt x="428804" y="46345"/>
                  <a:pt x="420767" y="44202"/>
                  <a:pt x="413266" y="46345"/>
                </a:cubicBezTo>
                <a:lnTo>
                  <a:pt x="359866" y="61436"/>
                </a:lnTo>
                <a:cubicBezTo>
                  <a:pt x="356027" y="62508"/>
                  <a:pt x="352008" y="60186"/>
                  <a:pt x="351026" y="56346"/>
                </a:cubicBezTo>
                <a:lnTo>
                  <a:pt x="337364" y="2500"/>
                </a:lnTo>
                <a:cubicBezTo>
                  <a:pt x="335488" y="-5001"/>
                  <a:pt x="329595" y="-10894"/>
                  <a:pt x="322094" y="-12948"/>
                </a:cubicBezTo>
                <a:cubicBezTo>
                  <a:pt x="314593" y="-15002"/>
                  <a:pt x="306645" y="-12769"/>
                  <a:pt x="301198" y="-7233"/>
                </a:cubicBezTo>
                <a:lnTo>
                  <a:pt x="262533" y="32593"/>
                </a:lnTo>
                <a:cubicBezTo>
                  <a:pt x="259765" y="35451"/>
                  <a:pt x="255121" y="35451"/>
                  <a:pt x="252264" y="32593"/>
                </a:cubicBezTo>
                <a:lnTo>
                  <a:pt x="213598" y="-7144"/>
                </a:lnTo>
                <a:close/>
              </a:path>
            </a:pathLst>
          </a:custGeom>
          <a:solidFill>
            <a:srgbClr val="E87D65"/>
          </a:solidFill>
        </p:spPr>
      </p:sp>
      <p:sp>
        <p:nvSpPr>
          <p:cNvPr id="10" name="Text 7"/>
          <p:cNvSpPr/>
          <p:nvPr/>
        </p:nvSpPr>
        <p:spPr>
          <a:xfrm>
            <a:off x="4199265" y="3454586"/>
            <a:ext cx="379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知识产权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99265" y="3810000"/>
            <a:ext cx="379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申请1项软件著作权与1项发明专利。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46472" y="2337166"/>
            <a:ext cx="3695700" cy="1930400"/>
          </a:xfrm>
          <a:custGeom>
            <a:avLst/>
            <a:gdLst/>
            <a:ahLst/>
            <a:cxnLst/>
            <a:rect l="l" t="t" r="r" b="b"/>
            <a:pathLst>
              <a:path w="3695700" h="19304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1828803"/>
                </a:lnTo>
                <a:cubicBezTo>
                  <a:pt x="3695700" y="1884913"/>
                  <a:pt x="3650213" y="1930400"/>
                  <a:pt x="3594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78A5E4">
              <a:alpha val="2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9806289" y="2718036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457200" y="28575"/>
                </a:lnTo>
                <a:cubicBezTo>
                  <a:pt x="488722" y="28575"/>
                  <a:pt x="514350" y="54203"/>
                  <a:pt x="514350" y="85725"/>
                </a:cubicBezTo>
                <a:lnTo>
                  <a:pt x="514350" y="300038"/>
                </a:lnTo>
                <a:lnTo>
                  <a:pt x="457200" y="300038"/>
                </a:lnTo>
                <a:lnTo>
                  <a:pt x="457200" y="85725"/>
                </a:lnTo>
                <a:lnTo>
                  <a:pt x="114300" y="85725"/>
                </a:lnTo>
                <a:lnTo>
                  <a:pt x="114300" y="300038"/>
                </a:lnTo>
                <a:lnTo>
                  <a:pt x="57150" y="300038"/>
                </a:lnTo>
                <a:lnTo>
                  <a:pt x="57150" y="85725"/>
                </a:lnTo>
                <a:close/>
                <a:moveTo>
                  <a:pt x="0" y="360045"/>
                </a:moveTo>
                <a:cubicBezTo>
                  <a:pt x="0" y="350580"/>
                  <a:pt x="7680" y="342900"/>
                  <a:pt x="17145" y="342900"/>
                </a:cubicBezTo>
                <a:lnTo>
                  <a:pt x="554355" y="342900"/>
                </a:lnTo>
                <a:cubicBezTo>
                  <a:pt x="563820" y="342900"/>
                  <a:pt x="571500" y="350580"/>
                  <a:pt x="571500" y="360045"/>
                </a:cubicBezTo>
                <a:cubicBezTo>
                  <a:pt x="571500" y="397907"/>
                  <a:pt x="540782" y="428625"/>
                  <a:pt x="502920" y="428625"/>
                </a:cubicBezTo>
                <a:lnTo>
                  <a:pt x="68580" y="428625"/>
                </a:lnTo>
                <a:cubicBezTo>
                  <a:pt x="30718" y="428625"/>
                  <a:pt x="0" y="397907"/>
                  <a:pt x="0" y="360045"/>
                </a:cubicBezTo>
                <a:close/>
                <a:moveTo>
                  <a:pt x="250924" y="186630"/>
                </a:moveTo>
                <a:lnTo>
                  <a:pt x="223242" y="214313"/>
                </a:lnTo>
                <a:lnTo>
                  <a:pt x="250924" y="241995"/>
                </a:lnTo>
                <a:cubicBezTo>
                  <a:pt x="259318" y="250388"/>
                  <a:pt x="259318" y="263962"/>
                  <a:pt x="250924" y="272266"/>
                </a:cubicBezTo>
                <a:cubicBezTo>
                  <a:pt x="242530" y="280571"/>
                  <a:pt x="228957" y="280660"/>
                  <a:pt x="220653" y="272266"/>
                </a:cubicBezTo>
                <a:lnTo>
                  <a:pt x="177790" y="229404"/>
                </a:lnTo>
                <a:cubicBezTo>
                  <a:pt x="169396" y="221010"/>
                  <a:pt x="169396" y="207437"/>
                  <a:pt x="177790" y="199132"/>
                </a:cubicBezTo>
                <a:lnTo>
                  <a:pt x="220653" y="156270"/>
                </a:lnTo>
                <a:cubicBezTo>
                  <a:pt x="229046" y="147876"/>
                  <a:pt x="242620" y="147876"/>
                  <a:pt x="250924" y="156270"/>
                </a:cubicBezTo>
                <a:cubicBezTo>
                  <a:pt x="259229" y="164663"/>
                  <a:pt x="259318" y="178237"/>
                  <a:pt x="250924" y="186541"/>
                </a:cubicBezTo>
                <a:close/>
                <a:moveTo>
                  <a:pt x="350937" y="156270"/>
                </a:moveTo>
                <a:lnTo>
                  <a:pt x="393799" y="199132"/>
                </a:lnTo>
                <a:cubicBezTo>
                  <a:pt x="402193" y="207526"/>
                  <a:pt x="402193" y="221099"/>
                  <a:pt x="393799" y="229404"/>
                </a:cubicBezTo>
                <a:lnTo>
                  <a:pt x="350937" y="272266"/>
                </a:lnTo>
                <a:cubicBezTo>
                  <a:pt x="342543" y="280660"/>
                  <a:pt x="328970" y="280660"/>
                  <a:pt x="320665" y="272266"/>
                </a:cubicBezTo>
                <a:cubicBezTo>
                  <a:pt x="312360" y="263872"/>
                  <a:pt x="312271" y="250299"/>
                  <a:pt x="320665" y="241995"/>
                </a:cubicBezTo>
                <a:lnTo>
                  <a:pt x="348347" y="214313"/>
                </a:lnTo>
                <a:lnTo>
                  <a:pt x="320665" y="186630"/>
                </a:lnTo>
                <a:cubicBezTo>
                  <a:pt x="312271" y="178237"/>
                  <a:pt x="312271" y="164663"/>
                  <a:pt x="320665" y="156359"/>
                </a:cubicBezTo>
                <a:cubicBezTo>
                  <a:pt x="329059" y="148054"/>
                  <a:pt x="342632" y="147965"/>
                  <a:pt x="350937" y="156359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14" name="Text 11"/>
          <p:cNvSpPr/>
          <p:nvPr/>
        </p:nvSpPr>
        <p:spPr>
          <a:xfrm>
            <a:off x="8195567" y="3454586"/>
            <a:ext cx="379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系统原型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95567" y="3810000"/>
            <a:ext cx="379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形成可运行于公共机房的安装包。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4673284"/>
            <a:ext cx="11684000" cy="711200"/>
          </a:xfrm>
          <a:custGeom>
            <a:avLst/>
            <a:gdLst/>
            <a:ahLst/>
            <a:cxnLst/>
            <a:rect l="l" t="t" r="r" b="b"/>
            <a:pathLst>
              <a:path w="11684000" h="7112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609598"/>
                </a:lnTo>
                <a:cubicBezTo>
                  <a:pt x="11684000" y="665711"/>
                  <a:pt x="11638511" y="711200"/>
                  <a:pt x="11582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8A07A">
              <a:alpha val="20000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57095" y="4876378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通过体育与健康学院、软件学院联合推广，让“</a:t>
            </a:r>
            <a:r>
              <a:rPr lang="en-US" sz="16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心跳训练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”成为创新教育的标准动作。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pic>
        <p:nvPicPr>
          <p:cNvPr id="3" name="Image 1" descr="https://kimi-web-img.moonshot.cn/img/img.freepik.com/544b25f3d2cc83fceba26e20c4a66d4f53fd83fa.jpg"/>
          <p:cNvPicPr>
            <a:picLocks noChangeAspect="1"/>
          </p:cNvPicPr>
          <p:nvPr/>
        </p:nvPicPr>
        <p:blipFill>
          <a:blip r:embed="rId2"/>
          <a:srcRect l="17760" r="17760"/>
          <a:stretch>
            <a:fillRect/>
          </a:stretch>
        </p:blipFill>
        <p:spPr>
          <a:xfrm>
            <a:off x="254000" y="889000"/>
            <a:ext cx="5842000" cy="5080000"/>
          </a:xfrm>
          <a:prstGeom prst="roundRect">
            <a:avLst>
              <a:gd name="adj" fmla="val 3000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502321" y="1829166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502321" y="2489355"/>
            <a:ext cx="5943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E87D65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向情绪管理与终身学习延伸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502321" y="3200450"/>
            <a:ext cx="543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HRV训练同样适用于</a:t>
            </a:r>
            <a:r>
              <a:rPr lang="en-US" sz="1600" dirty="0">
                <a:solidFill>
                  <a:srgbClr val="78A5E4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考试焦虑、演讲恐惧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等场景。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502321" y="3708319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8A07A">
              <a:alpha val="20000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6705416" y="3911414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计划开放API，接入</a:t>
            </a:r>
            <a:r>
              <a:rPr lang="en-US" sz="16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VR头显与可穿戴手表</a:t>
            </a: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，构建面向终身学习的“状态-任务”平台，让每个人都能随时把身体调到最佳模式。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13-d2t9a2dnfo2stf9dj2a0.jpg"/>
          <p:cNvPicPr>
            <a:picLocks noChangeAspect="1"/>
          </p:cNvPicPr>
          <p:nvPr/>
        </p:nvPicPr>
        <p:blipFill>
          <a:blip r:embed="rId1">
            <a:alphaModFix amt="75000"/>
          </a:blip>
          <a:srcRect l="727" r="727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5:45:00-d2t99v5nfo2stf9dj2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80" y="-503555"/>
            <a:ext cx="7865110" cy="78651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44230" y="1732422"/>
            <a:ext cx="2872142" cy="21320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437723" y="3752393"/>
            <a:ext cx="5685155" cy="494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结语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04-d2t9a05nfo2stf9dj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660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22716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让心跳成为大学生创新的新燃料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19226" y="2133811"/>
            <a:ext cx="9753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项目用低成本硬件把看不见的自主神经活动变成可交互的“创意开关”，用科学实验回答“调心跳能否真提升创造力”。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788207" y="34541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28468"/>
                </a:moveTo>
                <a:lnTo>
                  <a:pt x="286941" y="103703"/>
                </a:lnTo>
                <a:cubicBezTo>
                  <a:pt x="257175" y="62508"/>
                  <a:pt x="209431" y="38100"/>
                  <a:pt x="158472" y="38100"/>
                </a:cubicBezTo>
                <a:cubicBezTo>
                  <a:pt x="70961" y="38100"/>
                  <a:pt x="0" y="109061"/>
                  <a:pt x="0" y="196572"/>
                </a:cubicBezTo>
                <a:lnTo>
                  <a:pt x="0" y="199668"/>
                </a:lnTo>
                <a:cubicBezTo>
                  <a:pt x="0" y="227767"/>
                  <a:pt x="7382" y="256818"/>
                  <a:pt x="19764" y="285750"/>
                </a:cubicBezTo>
                <a:lnTo>
                  <a:pt x="145971" y="285750"/>
                </a:lnTo>
                <a:cubicBezTo>
                  <a:pt x="149781" y="285750"/>
                  <a:pt x="153233" y="283488"/>
                  <a:pt x="154781" y="279916"/>
                </a:cubicBezTo>
                <a:lnTo>
                  <a:pt x="192643" y="189071"/>
                </a:lnTo>
                <a:cubicBezTo>
                  <a:pt x="197048" y="178594"/>
                  <a:pt x="207288" y="171688"/>
                  <a:pt x="218599" y="171450"/>
                </a:cubicBezTo>
                <a:cubicBezTo>
                  <a:pt x="229910" y="171212"/>
                  <a:pt x="240387" y="177879"/>
                  <a:pt x="245031" y="188238"/>
                </a:cubicBezTo>
                <a:lnTo>
                  <a:pt x="306110" y="323850"/>
                </a:lnTo>
                <a:lnTo>
                  <a:pt x="355402" y="225266"/>
                </a:lnTo>
                <a:cubicBezTo>
                  <a:pt x="360283" y="215622"/>
                  <a:pt x="370165" y="209431"/>
                  <a:pt x="381000" y="209431"/>
                </a:cubicBezTo>
                <a:cubicBezTo>
                  <a:pt x="391835" y="209431"/>
                  <a:pt x="401717" y="215503"/>
                  <a:pt x="406598" y="225266"/>
                </a:cubicBezTo>
                <a:lnTo>
                  <a:pt x="434221" y="280392"/>
                </a:lnTo>
                <a:cubicBezTo>
                  <a:pt x="435888" y="283607"/>
                  <a:pt x="439103" y="285631"/>
                  <a:pt x="442793" y="285631"/>
                </a:cubicBezTo>
                <a:lnTo>
                  <a:pt x="589955" y="285631"/>
                </a:lnTo>
                <a:cubicBezTo>
                  <a:pt x="602456" y="256699"/>
                  <a:pt x="609719" y="227648"/>
                  <a:pt x="609719" y="199549"/>
                </a:cubicBezTo>
                <a:lnTo>
                  <a:pt x="609719" y="196453"/>
                </a:lnTo>
                <a:cubicBezTo>
                  <a:pt x="609600" y="109061"/>
                  <a:pt x="538639" y="38100"/>
                  <a:pt x="451128" y="38100"/>
                </a:cubicBezTo>
                <a:cubicBezTo>
                  <a:pt x="400288" y="38100"/>
                  <a:pt x="352425" y="62508"/>
                  <a:pt x="322659" y="103703"/>
                </a:cubicBezTo>
                <a:lnTo>
                  <a:pt x="304800" y="128349"/>
                </a:lnTo>
                <a:close/>
                <a:moveTo>
                  <a:pt x="559118" y="342900"/>
                </a:moveTo>
                <a:lnTo>
                  <a:pt x="442674" y="342900"/>
                </a:lnTo>
                <a:cubicBezTo>
                  <a:pt x="417433" y="342900"/>
                  <a:pt x="394335" y="328613"/>
                  <a:pt x="383024" y="305991"/>
                </a:cubicBezTo>
                <a:lnTo>
                  <a:pt x="381000" y="301943"/>
                </a:lnTo>
                <a:lnTo>
                  <a:pt x="330398" y="403265"/>
                </a:lnTo>
                <a:cubicBezTo>
                  <a:pt x="325517" y="413147"/>
                  <a:pt x="315278" y="419338"/>
                  <a:pt x="304205" y="419100"/>
                </a:cubicBezTo>
                <a:cubicBezTo>
                  <a:pt x="293132" y="418862"/>
                  <a:pt x="283250" y="412313"/>
                  <a:pt x="278725" y="402312"/>
                </a:cubicBezTo>
                <a:lnTo>
                  <a:pt x="220028" y="271939"/>
                </a:lnTo>
                <a:lnTo>
                  <a:pt x="207526" y="301942"/>
                </a:lnTo>
                <a:cubicBezTo>
                  <a:pt x="197168" y="326827"/>
                  <a:pt x="172879" y="343019"/>
                  <a:pt x="145971" y="343019"/>
                </a:cubicBezTo>
                <a:lnTo>
                  <a:pt x="50483" y="343019"/>
                </a:lnTo>
                <a:cubicBezTo>
                  <a:pt x="106680" y="430887"/>
                  <a:pt x="196929" y="511731"/>
                  <a:pt x="253365" y="554831"/>
                </a:cubicBezTo>
                <a:cubicBezTo>
                  <a:pt x="268129" y="566023"/>
                  <a:pt x="286226" y="571619"/>
                  <a:pt x="304681" y="571619"/>
                </a:cubicBezTo>
                <a:cubicBezTo>
                  <a:pt x="323136" y="571619"/>
                  <a:pt x="341352" y="566142"/>
                  <a:pt x="355997" y="554831"/>
                </a:cubicBezTo>
                <a:cubicBezTo>
                  <a:pt x="412671" y="511612"/>
                  <a:pt x="502920" y="430768"/>
                  <a:pt x="559118" y="342900"/>
                </a:cubicBezTo>
                <a:close/>
              </a:path>
            </a:pathLst>
          </a:custGeom>
          <a:solidFill>
            <a:srgbClr val="E87D65"/>
          </a:solidFill>
        </p:spPr>
      </p:sp>
      <p:sp>
        <p:nvSpPr>
          <p:cNvPr id="6" name="Text 3"/>
          <p:cNvSpPr/>
          <p:nvPr/>
        </p:nvSpPr>
        <p:spPr>
          <a:xfrm>
            <a:off x="1229328" y="4368509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生理信号采集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05828" y="3708059"/>
            <a:ext cx="774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91200" y="34541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78A5E4"/>
          </a:solidFill>
        </p:spPr>
      </p:sp>
      <p:sp>
        <p:nvSpPr>
          <p:cNvPr id="9" name="Text 6"/>
          <p:cNvSpPr/>
          <p:nvPr/>
        </p:nvSpPr>
        <p:spPr>
          <a:xfrm>
            <a:off x="5232321" y="4368509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认知科学训练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08821" y="3708059"/>
            <a:ext cx="774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F8A07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=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794193" y="34541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F8A07A"/>
          </a:solidFill>
        </p:spPr>
      </p:sp>
      <p:sp>
        <p:nvSpPr>
          <p:cNvPr id="12" name="Text 9"/>
          <p:cNvSpPr/>
          <p:nvPr/>
        </p:nvSpPr>
        <p:spPr>
          <a:xfrm>
            <a:off x="9235314" y="4368509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创新人才培养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4000" y="5079609"/>
            <a:ext cx="1168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期待为新时代创新人才培养贡献“</a:t>
            </a:r>
            <a:r>
              <a:rPr lang="en-US" sz="2000" dirty="0">
                <a:solidFill>
                  <a:srgbClr val="4A4A4A"/>
                </a:solidFill>
                <a:highlight>
                  <a:srgbClr val="E87D65">
                    <a:alpha val="30196"/>
                  </a:srgbClr>
                </a:highlight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 心 </a:t>
            </a:r>
            <a:r>
              <a:rPr lang="en-US" sz="2000" dirty="0">
                <a:solidFill>
                  <a:srgbClr val="4A4A4A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”方案。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5:45:38-d2t9a8lnfo2stf9dj2hg.jpg"/>
          <p:cNvPicPr>
            <a:picLocks noChangeAspect="1"/>
          </p:cNvPicPr>
          <p:nvPr/>
        </p:nvPicPr>
        <p:blipFill>
          <a:blip r:embed="rId1"/>
          <a:srcRect l="15622" t="13086" r="7284" b="1928"/>
          <a:stretch>
            <a:fillRect/>
          </a:stretch>
        </p:blipFill>
        <p:spPr>
          <a:xfrm>
            <a:off x="0" y="0"/>
            <a:ext cx="122097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61093" y="2866390"/>
            <a:ext cx="4871085" cy="738188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89555" y="1707515"/>
            <a:ext cx="6614160" cy="1233091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感谢大家观看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5:44:58-d2t99ulnfo2stf9dj20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" y="900430"/>
            <a:ext cx="929640" cy="23749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5:45:39-d2t9a8tnfo2stf9dj2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7580" y="637540"/>
            <a:ext cx="518160" cy="63436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5:44:58-d2t99ulnfo2stf9dj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565" y="4561840"/>
            <a:ext cx="2410460" cy="59245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5:44:58-d2t99ulnfo2stf9dj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270" y="4570730"/>
            <a:ext cx="2409825" cy="59245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693795" y="4648200"/>
            <a:ext cx="2165350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张欣然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6193790" y="4641215"/>
            <a:ext cx="2030095" cy="3435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</a:t>
            </a: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2025/09/17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mic Book" pitchFamily="34" charset="0"/>
                <a:ea typeface="Comic Book" pitchFamily="34" charset="-122"/>
                <a:cs typeface="Comic Book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2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3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4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5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6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7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8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9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0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1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2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3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4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5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6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7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ags/tag18.xml><?xml version="1.0" encoding="utf-8"?>
<p:tagLst xmlns:p="http://schemas.openxmlformats.org/presentationml/2006/main">
  <p:tag name="KSO_WM_DIAGRAM_VIRTUALLY_FRAME" val="{&quot;height&quot;:236.59377952755904,&quot;left&quot;:56.4,&quot;top&quot;:175.3,&quot;width&quot;:861.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AF26E"/>
      </a:accent1>
      <a:accent2>
        <a:srgbClr val="F9DB6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AF26E"/>
      </a:accent1>
      <a:accent2>
        <a:srgbClr val="F9DB6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1582</Words>
  <Application>WPS 演示</Application>
  <PresentationFormat>On-screen Show (16:9)</PresentationFormat>
  <Paragraphs>264</Paragraphs>
  <Slides>22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宋体</vt:lpstr>
      <vt:lpstr>Wingdings</vt:lpstr>
      <vt:lpstr>MiSans</vt:lpstr>
      <vt:lpstr>MiSans</vt:lpstr>
      <vt:lpstr>Comic Book</vt:lpstr>
      <vt:lpstr>Segoe Print</vt:lpstr>
      <vt:lpstr>Comic Book</vt:lpstr>
      <vt:lpstr>Comic Book</vt:lpstr>
      <vt:lpstr>Noto Sans SC</vt:lpstr>
      <vt:lpstr>Noto Sans SC</vt:lpstr>
      <vt:lpstr>Calibri</vt:lpstr>
      <vt:lpstr>微软雅黑</vt:lpstr>
      <vt:lpstr>Arial Unicode MS</vt:lpstr>
      <vt:lpstr>等线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让心跳点燃灵感：HRV+创造力训练系统</dc:title>
  <dc:creator>Kimi</dc:creator>
  <dc:subject>让心跳点燃灵感：HRV+创造力训练系统</dc:subject>
  <cp:lastModifiedBy>cactusz</cp:lastModifiedBy>
  <cp:revision>4</cp:revision>
  <dcterms:created xsi:type="dcterms:W3CDTF">2025-09-16T11:39:00Z</dcterms:created>
  <dcterms:modified xsi:type="dcterms:W3CDTF">2025-09-17T06:07:04Z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{"Label":"让心跳点燃灵感：HRV+创造力训练系统","ContentProducer":"001191110108MACG2KBH8F10000","ProduceID":"d34j6siav1f9jrskd7eg","ReservedCode1":"","ContentPropagator":"001191110108MACG2KBH8F20000","PropagateID":"d34j6siav1f9jrskd7eg","ReservedCode2":""}</vt:lpwstr>
  </property>
  <property fmtid="{D5CDD505-2E9C-101B-9397-08002B2CF9AE}" pid="3" name="ICV">
    <vt:lpwstr>2ACC6E3C80A2410D96E81C49ED24C768_12</vt:lpwstr>
  </property>
  <property fmtid="{D5CDD505-2E9C-101B-9397-08002B2CF9AE}" pid="4" name="KSOProductBuildVer">
    <vt:lpwstr>2052-12.1.0.19770</vt:lpwstr>
  </property>
</Properties>
</file>