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</p:sldIdLst>
  <p:sldSz cx="12192000" cy="6858000"/>
  <p:notesSz cx="6858000" cy="12192000"/>
  <p:embeddedFontLst>
    <p:embeddedFont>
      <p:font typeface="MiSans" panose="02010600030101010101" charset="-122"/>
      <p:regular r:id="rId1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119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7891145" cy="6837680"/>
          </a:xfrm>
          <a:prstGeom prst="rect">
            <a:avLst/>
          </a:prstGeom>
          <a:gradFill flip="none" rotWithShape="1">
            <a:gsLst>
              <a:gs pos="0">
                <a:srgbClr val="000002"/>
              </a:gs>
              <a:gs pos="38000">
                <a:srgbClr val="000002"/>
              </a:gs>
              <a:gs pos="100000">
                <a:srgbClr val="4843C2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1430"/>
            <a:ext cx="7891145" cy="6837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4-14:36:33-d2sj6se1bb2p4onbprk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552" y="3062635"/>
            <a:ext cx="10325100" cy="3112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zh-CN" altLang="zh-CN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虚拟现实（</a:t>
            </a:r>
            <a:r>
              <a:rPr lang="en-US" altLang="zh-CN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VR</a:t>
            </a:r>
            <a:r>
              <a:rPr lang="zh-CN" altLang="zh-CN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）技术支持下的大学生身心脑协同训练系统开发</a:t>
            </a:r>
            <a:endParaRPr lang="en-US" sz="54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47318" y="5477510"/>
            <a:ext cx="411162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刘原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47318" y="5974715"/>
            <a:ext cx="411162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时间：2025/09/17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891145" y="-1819275"/>
            <a:ext cx="5327015" cy="5248275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0" y="653415"/>
            <a:ext cx="596900" cy="50038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9650" y="4872355"/>
            <a:ext cx="59118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/>
          <p:cNvPicPr>
            <a:picLocks noChangeAspect="1"/>
          </p:cNvPicPr>
          <p:nvPr/>
        </p:nvPicPr>
        <p:blipFill>
          <a:blip r:embed="rId3"/>
          <a:srcRect l="14918" t="13324" r="60738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6848475" y="5066982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项目背景与问题提出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43-d2sj6uu1bb2p4onbprp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650" y="0"/>
            <a:ext cx="826135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680" y="177800"/>
            <a:ext cx="781050" cy="603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4950" y="83121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大学生压力日益加剧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78712" y="1281405"/>
            <a:ext cx="4950843" cy="797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大学生面临的压力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77681" y="1948504"/>
            <a:ext cx="4950843" cy="14371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当代大学生处于学业、就业、人际关系等多重压力之下，焦虑、抑郁、注意力障碍等问题日益凸显，严重影响学业成就与生活质量。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05382" y="3615665"/>
            <a:ext cx="4950843" cy="797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传统心理疏导的局限性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04165" y="4283075"/>
            <a:ext cx="3947795" cy="2392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传统心理疏导方式如面对面咨询、团体辅导等存在资源有限、响应滞后、形式单一、隐私顾虑等问题，难以满足学生广泛、即时、个性化的需求</a:t>
            </a:r>
            <a:r>
              <a:rPr lang="zh-CN" alt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/>
          <p:cNvPicPr>
            <a:picLocks noChangeAspect="1"/>
          </p:cNvPicPr>
          <p:nvPr/>
        </p:nvPicPr>
        <p:blipFill>
          <a:blip r:embed="rId3"/>
          <a:srcRect l="14918" t="13324" r="60738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核心概念解析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5-d2sj6su1bb2p4onbprm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32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680" y="177800"/>
            <a:ext cx="781050" cy="6038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6200000">
            <a:off x="96520" y="2344420"/>
            <a:ext cx="4302125" cy="322580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7" name="Text 3"/>
          <p:cNvSpPr/>
          <p:nvPr/>
        </p:nvSpPr>
        <p:spPr>
          <a:xfrm rot="16200000">
            <a:off x="96520" y="2344420"/>
            <a:ext cx="4302125" cy="3225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rot="16200000">
            <a:off x="-30480" y="2217420"/>
            <a:ext cx="4302125" cy="322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5"/>
          <p:cNvSpPr/>
          <p:nvPr/>
        </p:nvSpPr>
        <p:spPr>
          <a:xfrm rot="16200000">
            <a:off x="-30480" y="2217420"/>
            <a:ext cx="4302125" cy="3225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16200000">
            <a:off x="4060190" y="2344420"/>
            <a:ext cx="4302125" cy="322580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11" name="Text 7"/>
          <p:cNvSpPr/>
          <p:nvPr/>
        </p:nvSpPr>
        <p:spPr>
          <a:xfrm rot="16200000">
            <a:off x="4060190" y="2344420"/>
            <a:ext cx="4302125" cy="3225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 rot="16200000">
            <a:off x="3933190" y="2217420"/>
            <a:ext cx="4302125" cy="322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9"/>
          <p:cNvSpPr/>
          <p:nvPr/>
        </p:nvSpPr>
        <p:spPr>
          <a:xfrm rot="16200000">
            <a:off x="3933190" y="2217420"/>
            <a:ext cx="4302125" cy="3225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 rot="16200000">
            <a:off x="8023860" y="2344420"/>
            <a:ext cx="4302125" cy="322580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15" name="Text 11"/>
          <p:cNvSpPr/>
          <p:nvPr/>
        </p:nvSpPr>
        <p:spPr>
          <a:xfrm rot="16200000">
            <a:off x="8023860" y="2344420"/>
            <a:ext cx="4302125" cy="3225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 rot="16200000">
            <a:off x="7896860" y="2217420"/>
            <a:ext cx="4302125" cy="322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3"/>
          <p:cNvSpPr/>
          <p:nvPr/>
        </p:nvSpPr>
        <p:spPr>
          <a:xfrm rot="16200000">
            <a:off x="7896860" y="2217420"/>
            <a:ext cx="4302125" cy="3225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8" name="Image 2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>
            <a:off x="2011045" y="2082165"/>
            <a:ext cx="887730" cy="744855"/>
          </a:xfrm>
          <a:prstGeom prst="rect">
            <a:avLst/>
          </a:prstGeom>
        </p:spPr>
      </p:pic>
      <p:pic>
        <p:nvPicPr>
          <p:cNvPr id="19" name="Image 3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>
            <a:off x="5947410" y="2082165"/>
            <a:ext cx="887730" cy="744855"/>
          </a:xfrm>
          <a:prstGeom prst="rect">
            <a:avLst/>
          </a:prstGeom>
        </p:spPr>
      </p:pic>
      <p:pic>
        <p:nvPicPr>
          <p:cNvPr id="20" name="Image 4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>
            <a:off x="9819005" y="2082165"/>
            <a:ext cx="887730" cy="74485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34950" y="701040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什么是身心脑协同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727710" y="1765935"/>
            <a:ext cx="2171065" cy="1272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03885" y="3090545"/>
            <a:ext cx="3030855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身（Body）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89280" y="3630295"/>
            <a:ext cx="3030855" cy="21856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身指生理层面，包括躯体感觉、运动功能、生理唤醒水平（如心率、HRV、呼吸）。在系统中体现为体感交互和生物反馈。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691380" y="1765935"/>
            <a:ext cx="2171065" cy="1272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567555" y="3090545"/>
            <a:ext cx="3030855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心（Mind）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52950" y="3630295"/>
            <a:ext cx="3030855" cy="21856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心指心理层面，包括情绪、压力、动机、心理状态。在系统中体现为情绪调节、压力管理、正念冥想。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8655050" y="1765935"/>
            <a:ext cx="2171065" cy="1272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531225" y="3090545"/>
            <a:ext cx="3030855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脑（Brain）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8516620" y="3630295"/>
            <a:ext cx="3030855" cy="21856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脑指认知层面，包括注意力、记忆力、执行功能、认知灵活性等高级神经认知过程。在系统中体现为认知训练任务。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/>
          <p:cNvPicPr>
            <a:picLocks noChangeAspect="1"/>
          </p:cNvPicPr>
          <p:nvPr/>
        </p:nvPicPr>
        <p:blipFill>
          <a:blip r:embed="rId3"/>
          <a:srcRect l="14918" t="13324" r="60738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系统功能模块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9-d2sj6tu1bb2p4onbpr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V="1">
            <a:off x="-589915" y="495300"/>
            <a:ext cx="6858000" cy="58680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58430" y="-1572895"/>
            <a:ext cx="5327015" cy="524827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913745" y="6343015"/>
            <a:ext cx="737870" cy="14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0913745" y="6343015"/>
            <a:ext cx="737870" cy="1473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747510" y="1352550"/>
            <a:ext cx="382651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身体调节模块设计</a:t>
            </a:r>
            <a:endParaRPr lang="en-US" sz="1600" dirty="0"/>
          </a:p>
        </p:txBody>
      </p:sp>
      <p:pic>
        <p:nvPicPr>
          <p:cNvPr id="7" name="Image 2" descr="https://kimi-img.moonshot.cn/pub/slides/slides_tmpl/image/25-09-04-14:36:27-d2sj6qu1bb2p4onbpri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700000">
            <a:off x="-301625" y="269875"/>
            <a:ext cx="6281420" cy="6858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90055" y="2249170"/>
            <a:ext cx="2288540" cy="8578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身体调节模块功能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789420" y="3429000"/>
            <a:ext cx="3509645" cy="26936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佩戴心率传感器，在VR环境中进行呼吸训练与生物反馈，用户可实时观察自身心率变化并学习如何通过调节呼吸来放松身体。系统根据心率变异性（HRV）指标判断用户的放松程度，并动态调整训练节奏与场景反馈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9987915" y="-1130935"/>
            <a:ext cx="5327015" cy="52482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08835" y="2018030"/>
            <a:ext cx="7745095" cy="468630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2108835" y="2018030"/>
            <a:ext cx="7745095" cy="4686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680" y="320040"/>
            <a:ext cx="781050" cy="6038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109470" y="4117340"/>
            <a:ext cx="7745095" cy="468630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7" name="Text 3"/>
          <p:cNvSpPr/>
          <p:nvPr/>
        </p:nvSpPr>
        <p:spPr>
          <a:xfrm>
            <a:off x="2109470" y="4117340"/>
            <a:ext cx="7745095" cy="4686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8" name="Image 2" descr="https://kimi-img.moonshot.cn/pub/slides/slides_tmpl/image/25-09-04-14:36:27-d2sj6qu1bb2p4onbpri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28140" y="4317365"/>
            <a:ext cx="4300855" cy="42564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4950" y="76136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心理调适模块功能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2237740" y="2061845"/>
            <a:ext cx="7484745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沉浸式心理调适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108835" y="2604135"/>
            <a:ext cx="7745730" cy="1034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在沉浸式的VR自然场景中进行正念冥想，有效缓解焦虑和压力。系统根据用户的生理数据与交互行为判断其情绪状态，智能推荐合适的冥想内容或场景。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2238375" y="4161155"/>
            <a:ext cx="7484745" cy="384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个性化心理干预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2109470" y="4703445"/>
            <a:ext cx="7745730" cy="1034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系统根据用户的情绪状态，动态调整心理干预的内容与难度，确保用户始终处于最佳的心理状态，提升干预效果与体验感。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27-d2sj6qu1bb2p4onbpri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9620000">
            <a:off x="4344670" y="-1221105"/>
            <a:ext cx="5622290" cy="556387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31-d2sj6ru1bb2p4onbprk0.jpg"/>
          <p:cNvPicPr>
            <a:picLocks noChangeAspect="1"/>
          </p:cNvPicPr>
          <p:nvPr/>
        </p:nvPicPr>
        <p:blipFill>
          <a:blip r:embed="rId4"/>
          <a:srcRect l="2411" t="53415" r="89323" b="514"/>
          <a:stretch/>
        </p:blipFill>
        <p:spPr>
          <a:xfrm rot="16200000">
            <a:off x="5349240" y="-250190"/>
            <a:ext cx="1492885" cy="121926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1-d2sj6ru1bb2p4onbprk0.jpg"/>
          <p:cNvPicPr>
            <a:picLocks noChangeAspect="1"/>
          </p:cNvPicPr>
          <p:nvPr/>
        </p:nvPicPr>
        <p:blipFill>
          <a:blip r:embed="rId4"/>
          <a:srcRect l="2411" t="53415" r="89323" b="514"/>
          <a:stretch/>
        </p:blipFill>
        <p:spPr>
          <a:xfrm rot="16200000">
            <a:off x="5350510" y="-2052955"/>
            <a:ext cx="1492885" cy="1219263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4:36:31-d2sj6ru1bb2p4onbprk0.jpg"/>
          <p:cNvPicPr>
            <a:picLocks noChangeAspect="1"/>
          </p:cNvPicPr>
          <p:nvPr/>
        </p:nvPicPr>
        <p:blipFill>
          <a:blip r:embed="rId4"/>
          <a:srcRect l="8912" t="52438" r="82822" b="1491"/>
          <a:stretch/>
        </p:blipFill>
        <p:spPr>
          <a:xfrm rot="16200000">
            <a:off x="5349875" y="-3855720"/>
            <a:ext cx="1492885" cy="12192635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8680" y="320040"/>
            <a:ext cx="781050" cy="60388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34950" y="761365"/>
            <a:ext cx="4203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大脑训练模块机制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485140" y="1686560"/>
            <a:ext cx="2171065" cy="1071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认知训练任务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3012440" y="1622425"/>
            <a:ext cx="8760460" cy="1272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大脑模块将注意力、记忆力、执行功能等认知训练内容转化为VR游戏中的任务，如Stroop、N-back、多目标追踪等，提升用户的认知灵活性与学习能力。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485140" y="3507105"/>
            <a:ext cx="2171065" cy="1071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动态难度调整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3012440" y="3425190"/>
            <a:ext cx="8760460" cy="1272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系统根据用户的实时表现与生理状态动态调整任务难度，确保训练始终处于适度挑战区间，激发潜能而不造成挫败感。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485140" y="5245100"/>
            <a:ext cx="2171065" cy="1071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实时反馈与进步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3012440" y="5174615"/>
            <a:ext cx="8760460" cy="1272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训练结果实时反馈，用户可清晰看到自身进步，增强自我效能感。该模块不仅提升认知功能，也为心理与生理状态的改善提供正向支持。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/>
          <p:cNvPicPr>
            <a:picLocks noChangeAspect="1"/>
          </p:cNvPicPr>
          <p:nvPr/>
        </p:nvPicPr>
        <p:blipFill>
          <a:blip r:embed="rId3"/>
          <a:srcRect l="14918" t="13324" r="60738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系统协同机制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405" y="445135"/>
            <a:ext cx="11475720" cy="5359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319405" y="445135"/>
            <a:ext cx="11475720" cy="5359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10800000">
            <a:off x="319405" y="5839460"/>
            <a:ext cx="11475085" cy="653415"/>
          </a:xfrm>
          <a:prstGeom prst="round2SameRect">
            <a:avLst>
              <a:gd name="adj1" fmla="val 34095"/>
              <a:gd name="adj2" fmla="val 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 rot="10800000">
            <a:off x="319405" y="5839460"/>
            <a:ext cx="11475085" cy="653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095990" y="5974080"/>
            <a:ext cx="417830" cy="403225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11095990" y="5974080"/>
            <a:ext cx="417830" cy="403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8" name="Image 0" descr="https://kimi-img.moonshot.cn/pub/slides/slides_tmpl/image/25-09-04-14:36:34-d2sj6sm1bb2p4onbprm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70" y="3015615"/>
            <a:ext cx="5305425" cy="2628265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4-14:36:37-d2sj6te1bb2p4onbprn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345" y="2992120"/>
            <a:ext cx="5507355" cy="265620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4-14:36:34-d2sj6sm1bb2p4onbpr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0765" y="6022975"/>
            <a:ext cx="235585" cy="3054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15105" y="522605"/>
            <a:ext cx="408241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实时数据驱动协同训练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19405" y="1195070"/>
            <a:ext cx="4739640" cy="485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协同训练机制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19405" y="1795145"/>
            <a:ext cx="11474450" cy="12204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通过实时采集生理数据，动态调整心理干预与认知任务，实现身、心、脑三者的双向互动与闭环反馈。用户在呼吸训练中放松身体后，系统自动引导进入冥想状态；情绪平稳后，认知任务难度适度提升，进入高效学习状态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36:31-d2sj6ru1bb2p4onbprk0.jpg"/>
          <p:cNvPicPr>
            <a:picLocks noChangeAspect="1"/>
          </p:cNvPicPr>
          <p:nvPr/>
        </p:nvPicPr>
        <p:blipFill>
          <a:blip r:embed="rId3"/>
          <a:srcRect l="14918" t="13324" r="60738" b="10867"/>
          <a:stretch/>
        </p:blipFill>
        <p:spPr>
          <a:xfrm flipH="1" flipV="1">
            <a:off x="6622415" y="635"/>
            <a:ext cx="5569585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36:27-d2sj6qu1bb2p4onbprh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16200000">
            <a:off x="7379970" y="1793240"/>
            <a:ext cx="6697980" cy="3111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00000">
            <a:off x="593725" y="1102360"/>
            <a:ext cx="5044440" cy="49707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23050" y="1781810"/>
            <a:ext cx="5110480" cy="304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90740" y="4969510"/>
            <a:ext cx="4658995" cy="17278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197725" y="5149850"/>
            <a:ext cx="4652645" cy="1532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项目创新点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75" y="766445"/>
            <a:ext cx="570230" cy="4781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385" y="0"/>
            <a:ext cx="12195385" cy="7462384"/>
          </a:xfrm>
          <a:prstGeom prst="rect">
            <a:avLst/>
          </a:prstGeom>
          <a:gradFill flip="none" rotWithShape="1">
            <a:gsLst>
              <a:gs pos="0">
                <a:srgbClr val="426AF4"/>
              </a:gs>
              <a:gs pos="100000">
                <a:srgbClr val="9A62FE"/>
              </a:gs>
            </a:gsLst>
            <a:lin ang="135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-3385" y="0"/>
            <a:ext cx="12195385" cy="746238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8680" y="320040"/>
            <a:ext cx="781050" cy="603885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4-14:36:46-d2sj6vm1bb2p4onbprr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25" y="1805305"/>
            <a:ext cx="5180330" cy="31603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95975" y="1571625"/>
            <a:ext cx="2596515" cy="59880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3"/>
          <p:cNvSpPr/>
          <p:nvPr/>
        </p:nvSpPr>
        <p:spPr>
          <a:xfrm>
            <a:off x="5895975" y="1571625"/>
            <a:ext cx="2596515" cy="5988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789035" y="1571625"/>
            <a:ext cx="2596515" cy="59880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5"/>
          <p:cNvSpPr/>
          <p:nvPr/>
        </p:nvSpPr>
        <p:spPr>
          <a:xfrm>
            <a:off x="8789035" y="1571625"/>
            <a:ext cx="2596515" cy="5988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73710" y="5164455"/>
            <a:ext cx="2952115" cy="58039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7"/>
          <p:cNvSpPr/>
          <p:nvPr/>
        </p:nvSpPr>
        <p:spPr>
          <a:xfrm>
            <a:off x="473710" y="5164455"/>
            <a:ext cx="2952115" cy="5803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34950" y="761365"/>
            <a:ext cx="855472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理念技术模式三重创新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94705" y="1571625"/>
            <a:ext cx="2596515" cy="598805"/>
          </a:xfrm>
          <a:prstGeom prst="rect">
            <a:avLst/>
          </a:prstGeom>
          <a:noFill/>
          <a:ln/>
        </p:spPr>
        <p:txBody>
          <a:bodyPr wrap="square" lIns="71374" tIns="71374" rIns="71374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理念创新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 flipH="1">
            <a:off x="5814695" y="2283460"/>
            <a:ext cx="2787015" cy="262826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5814695" y="2283460"/>
            <a:ext cx="2787015" cy="2628265"/>
          </a:xfrm>
          <a:prstGeom prst="rect">
            <a:avLst/>
          </a:prstGeom>
          <a:noFill/>
          <a:ln/>
        </p:spPr>
        <p:txBody>
          <a:bodyPr wrap="square" lIns="46990" tIns="90170" rIns="90170" bIns="4699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首次将身体、心理、大脑三者整合于VR平台，突破传统干预碎片化局限，构建一个整体性、智能化、个性化的训练框架。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3075" y="5164455"/>
            <a:ext cx="2952115" cy="580390"/>
          </a:xfrm>
          <a:prstGeom prst="rect">
            <a:avLst/>
          </a:prstGeom>
          <a:noFill/>
          <a:ln/>
        </p:spPr>
        <p:txBody>
          <a:bodyPr wrap="square" lIns="71374" tIns="71374" rIns="71374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技术创新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 flipH="1">
            <a:off x="377190" y="5744845"/>
            <a:ext cx="10993755" cy="7334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377190" y="5744845"/>
            <a:ext cx="10993755" cy="733425"/>
          </a:xfrm>
          <a:prstGeom prst="rect">
            <a:avLst/>
          </a:prstGeom>
          <a:noFill/>
          <a:ln/>
        </p:spPr>
        <p:txBody>
          <a:bodyPr wrap="square" lIns="46990" tIns="90170" rIns="90170" bIns="4699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采用智能算法实时分析多模态数据，动态调整训练内容与难度，实现个性化干预，提升训练效果与用户体验。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787765" y="1571625"/>
            <a:ext cx="2596515" cy="598805"/>
          </a:xfrm>
          <a:prstGeom prst="rect">
            <a:avLst/>
          </a:prstGeom>
          <a:noFill/>
          <a:ln/>
        </p:spPr>
        <p:txBody>
          <a:bodyPr wrap="square" lIns="71374" tIns="71374" rIns="71374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模式创新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 flipH="1">
            <a:off x="8708390" y="2283460"/>
            <a:ext cx="2787015" cy="262826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8708390" y="2283460"/>
            <a:ext cx="2787015" cy="2628265"/>
          </a:xfrm>
          <a:prstGeom prst="rect">
            <a:avLst/>
          </a:prstGeom>
          <a:noFill/>
          <a:ln/>
        </p:spPr>
        <p:txBody>
          <a:bodyPr wrap="square" lIns="46990" tIns="90170" rIns="90170" bIns="4699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通过深度游戏化设计提升训练趣味性与用户粘性，解决传统训练枯燥、难以坚持的问题，打造普惠型心理健康平台。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7891145" cy="6837680"/>
          </a:xfrm>
          <a:prstGeom prst="rect">
            <a:avLst/>
          </a:prstGeom>
          <a:gradFill flip="none" rotWithShape="1">
            <a:gsLst>
              <a:gs pos="0">
                <a:srgbClr val="000002"/>
              </a:gs>
              <a:gs pos="38000">
                <a:srgbClr val="000002"/>
              </a:gs>
              <a:gs pos="100000">
                <a:srgbClr val="4843C2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1430"/>
            <a:ext cx="7891145" cy="6837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4-14:36:33-d2sj6se1bb2p4onbprk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8610" y="2205355"/>
            <a:ext cx="5325745" cy="150749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308610" y="2205355"/>
            <a:ext cx="5325745" cy="15074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8293" y="5477510"/>
            <a:ext cx="411162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刘原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08293" y="5974715"/>
            <a:ext cx="411162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时间：2025/09/17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9-04-14:36:30-d2sj6rm1bb2p4onbprj0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891145" y="-1819275"/>
            <a:ext cx="5327015" cy="52482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4-14:36:27-d2sj6qu1bb2p4onbpr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0" y="653415"/>
            <a:ext cx="596900" cy="500380"/>
          </a:xfrm>
          <a:prstGeom prst="rect">
            <a:avLst/>
          </a:prstGeom>
        </p:spPr>
      </p:pic>
      <p:pic>
        <p:nvPicPr>
          <p:cNvPr id="11" name="Image 3" descr="https://kimi-img.moonshot.cn/pub/slides/slides_tmpl/image/25-09-04-14:36:27-d2sj6qu1bb2p4onbprg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213" y="4872355"/>
            <a:ext cx="591185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08610" y="2062480"/>
            <a:ext cx="5326380" cy="1801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281</Words>
  <Application>Microsoft Office PowerPoint</Application>
  <PresentationFormat>宽屏</PresentationFormat>
  <Paragraphs>70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MiSans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VR身心脑协同训练系统</dc:title>
  <dc:subject>VR身心脑协同训练系统</dc:subject>
  <dc:creator>Kimi</dc:creator>
  <cp:lastModifiedBy>liu yuan</cp:lastModifiedBy>
  <cp:revision>2</cp:revision>
  <dcterms:created xsi:type="dcterms:W3CDTF">2025-09-17T06:08:21Z</dcterms:created>
  <dcterms:modified xsi:type="dcterms:W3CDTF">2025-09-17T06:14:39Z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{"Label":"VR身心脑协同训练系统","ContentProducer":"001191110108MACG2KBH8F10000","ProduceID":"d355035f8r3blsl2c3b0","ReservedCode1":"","ContentPropagator":"001191110108MACG2KBH8F20000","PropagateID":"d355035f8r3blsl2c3b0","ReservedCode2":""}</vt:lpwstr>
  </property>
</Properties>
</file>