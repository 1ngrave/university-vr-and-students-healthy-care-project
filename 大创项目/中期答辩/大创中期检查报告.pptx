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9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1136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用户提供文档：《附件1：大连理工大学大学生创新创业训练项目中期检查表202603》
- 用户提供文档：《大连理工大学大学生创新创业训练计划项目开题报告 刘原》</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用户提供文档：《大连理工大学大学生创新创业训练计划项目开题报告 刘原》
- 用户提供文档：《附件1：大连理工大学大学生创新创业训练项目中期检查表202603》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用户提供文档：《附件1：大连理工大学大学生创新创业训练项目中期检查表202603》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用户提供文档：《基于虚拟现实的大学生身心脑协同训练：理论构建与应用展望（改）》
- 用户提供文档：《附件1：大连理工大学大学生创新创业训练项目中期检查表202603》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用户提供文档：《基于虚拟现实的大学生身心脑协同训练：理论构建与应用展望（改）》</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用户提供文档：《基于虚拟现实的大学生身心脑协同训练：理论构建与应用展望（改）》
- 用户提供文档：《大连理工大学大学生创新创业训练计划项目开题报告 刘原》
- 用户提供文档：《附件1：大连理工大学大学生创新创业训练项目中期检查表202603》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用户提供文档：《附件1：大连理工大学大学生创新创业训练项目中期检查表202603》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用户提供文档：《附件1：大连理工大学大学生创新创业训练项目中期检查表202603》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用户提供文档：《附件1：大连理工大学大学生创新创业训练项目中期检查表202603》
- 用户提供文档：《大连理工大学大学生创新创业训练计划项目开题报告 刘原》</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用户提供文档：《基于虚拟现实的大学生身心脑协同训练：理论构建与应用展望（改）》
- 用户提供文档：《大连理工大学大学生创新创业训练计划项目开题报告 刘原》
- 用户提供文档：《附件1：大连理工大学大学生创新创业训练项目中期检查表202603》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15D"/>
        </a:solidFill>
        <a:effectLst/>
      </p:bgPr>
    </p:bg>
    <p:spTree>
      <p:nvGrpSpPr>
        <p:cNvPr id="1" name=""/>
        <p:cNvGrpSpPr/>
        <p:nvPr/>
      </p:nvGrpSpPr>
      <p:grpSpPr>
        <a:xfrm>
          <a:off x="0" y="0"/>
          <a:ext cx="0" cy="0"/>
          <a:chOff x="0" y="0"/>
          <a:chExt cx="0" cy="0"/>
        </a:xfrm>
      </p:grpSpPr>
      <p:sp>
        <p:nvSpPr>
          <p:cNvPr id="2" name="Text 0"/>
          <p:cNvSpPr/>
          <p:nvPr/>
        </p:nvSpPr>
        <p:spPr>
          <a:xfrm>
            <a:off x="731520" y="749808"/>
            <a:ext cx="5120640" cy="256032"/>
          </a:xfrm>
          <a:prstGeom prst="rect">
            <a:avLst/>
          </a:prstGeom>
          <a:noFill/>
          <a:ln/>
        </p:spPr>
        <p:txBody>
          <a:bodyPr wrap="square" lIns="0" tIns="0" rIns="0" bIns="0" rtlCol="0" anchor="ctr"/>
          <a:lstStyle/>
          <a:p>
            <a:pPr marL="0" indent="0">
              <a:buNone/>
            </a:pPr>
            <a:r>
              <a:rPr lang="en-US" sz="2000" b="1" dirty="0">
                <a:solidFill>
                  <a:srgbClr val="A8C7EA"/>
                </a:solidFill>
                <a:latin typeface="Noto Sans CJK SC" pitchFamily="34" charset="0"/>
                <a:ea typeface="Noto Sans CJK SC" pitchFamily="34" charset="-122"/>
                <a:cs typeface="Noto Sans CJK SC" pitchFamily="34" charset="-120"/>
              </a:rPr>
              <a:t>大连理工大学大学生创新创业训练计划项目</a:t>
            </a:r>
            <a:endParaRPr lang="en-US" sz="2000" dirty="0"/>
          </a:p>
        </p:txBody>
      </p:sp>
      <p:sp>
        <p:nvSpPr>
          <p:cNvPr id="3" name="Text 1"/>
          <p:cNvSpPr/>
          <p:nvPr/>
        </p:nvSpPr>
        <p:spPr>
          <a:xfrm>
            <a:off x="731520" y="1280160"/>
            <a:ext cx="5852160" cy="1152144"/>
          </a:xfrm>
          <a:prstGeom prst="rect">
            <a:avLst/>
          </a:prstGeom>
          <a:noFill/>
          <a:ln/>
        </p:spPr>
        <p:txBody>
          <a:bodyPr wrap="square" lIns="0" tIns="0" rIns="0" bIns="0" rtlCol="0" anchor="ctr"/>
          <a:lstStyle/>
          <a:p>
            <a:pPr marL="0" indent="0">
              <a:buNone/>
            </a:pPr>
            <a:r>
              <a:rPr lang="en-US" sz="2600" b="1" dirty="0">
                <a:solidFill>
                  <a:srgbClr val="FFFFFF"/>
                </a:solidFill>
                <a:latin typeface="Noto Sans CJK SC" pitchFamily="34" charset="0"/>
                <a:ea typeface="Noto Sans CJK SC" pitchFamily="34" charset="-122"/>
                <a:cs typeface="Noto Sans CJK SC" pitchFamily="34" charset="-120"/>
              </a:rPr>
              <a:t>虚拟现实（VR）技术支持下的</a:t>
            </a:r>
            <a:endParaRPr lang="en-US" sz="2600" dirty="0"/>
          </a:p>
          <a:p>
            <a:pPr marL="0" indent="0">
              <a:buNone/>
            </a:pPr>
            <a:r>
              <a:rPr lang="en-US" sz="2600" b="1" dirty="0">
                <a:solidFill>
                  <a:srgbClr val="FFFFFF"/>
                </a:solidFill>
                <a:latin typeface="Noto Sans CJK SC" pitchFamily="34" charset="0"/>
                <a:ea typeface="Noto Sans CJK SC" pitchFamily="34" charset="-122"/>
                <a:cs typeface="Noto Sans CJK SC" pitchFamily="34" charset="-120"/>
              </a:rPr>
              <a:t>大学生身心脑协同训练系统开发</a:t>
            </a:r>
            <a:endParaRPr lang="en-US" sz="2600" dirty="0"/>
          </a:p>
        </p:txBody>
      </p:sp>
      <p:sp>
        <p:nvSpPr>
          <p:cNvPr id="4" name="Text 2"/>
          <p:cNvSpPr/>
          <p:nvPr/>
        </p:nvSpPr>
        <p:spPr>
          <a:xfrm>
            <a:off x="749808" y="2697480"/>
            <a:ext cx="1600200" cy="310896"/>
          </a:xfrm>
          <a:prstGeom prst="rect">
            <a:avLst/>
          </a:prstGeom>
          <a:noFill/>
          <a:ln/>
        </p:spPr>
        <p:txBody>
          <a:bodyPr wrap="square" lIns="1016" tIns="1016" rIns="1016" bIns="1016" rtlCol="0" anchor="ctr">
            <a:normAutofit/>
          </a:bodyPr>
          <a:lstStyle/>
          <a:p>
            <a:pPr marL="0" indent="0" algn="l">
              <a:buNone/>
            </a:pPr>
            <a:r>
              <a:rPr lang="en-US" sz="1750" b="1" dirty="0">
                <a:solidFill>
                  <a:srgbClr val="9FD1FF"/>
                </a:solidFill>
                <a:latin typeface="Noto Sans CJK SC" pitchFamily="34" charset="0"/>
                <a:ea typeface="Noto Sans CJK SC" pitchFamily="34" charset="-122"/>
                <a:cs typeface="Noto Sans CJK SC" pitchFamily="34" charset="-120"/>
              </a:rPr>
              <a:t>中期检查报告</a:t>
            </a:r>
            <a:endParaRPr lang="en-US" sz="1750" dirty="0"/>
          </a:p>
        </p:txBody>
      </p:sp>
      <p:sp>
        <p:nvSpPr>
          <p:cNvPr id="5" name="Text 3"/>
          <p:cNvSpPr/>
          <p:nvPr/>
        </p:nvSpPr>
        <p:spPr>
          <a:xfrm>
            <a:off x="749808" y="3127248"/>
            <a:ext cx="5440680" cy="566928"/>
          </a:xfrm>
          <a:prstGeom prst="rect">
            <a:avLst/>
          </a:prstGeom>
          <a:noFill/>
          <a:ln/>
        </p:spPr>
        <p:txBody>
          <a:bodyPr wrap="square" lIns="0" tIns="0" rIns="0" bIns="0" rtlCol="0" anchor="ctr"/>
          <a:lstStyle/>
          <a:p>
            <a:pPr marL="0" indent="0">
              <a:buNone/>
            </a:pPr>
            <a:r>
              <a:rPr lang="en-US" sz="1520" dirty="0" err="1">
                <a:solidFill>
                  <a:srgbClr val="D8E7F8"/>
                </a:solidFill>
                <a:latin typeface="Noto Sans CJK SC" pitchFamily="34" charset="0"/>
                <a:ea typeface="Noto Sans CJK SC" pitchFamily="34" charset="-122"/>
                <a:cs typeface="Noto Sans CJK SC" pitchFamily="34" charset="-120"/>
              </a:rPr>
              <a:t>本次汇报聚焦：项目进展、阶段性成果、理论设计与研究方案</a:t>
            </a:r>
            <a:endParaRPr lang="en-US" sz="1520" dirty="0"/>
          </a:p>
        </p:txBody>
      </p:sp>
      <p:sp>
        <p:nvSpPr>
          <p:cNvPr id="6" name="Text 4"/>
          <p:cNvSpPr/>
          <p:nvPr/>
        </p:nvSpPr>
        <p:spPr>
          <a:xfrm>
            <a:off x="6903720" y="914400"/>
            <a:ext cx="4480560" cy="384048"/>
          </a:xfrm>
          <a:prstGeom prst="roundRect">
            <a:avLst/>
          </a:prstGeom>
          <a:solidFill>
            <a:srgbClr val="EAF4FF"/>
          </a:solidFill>
          <a:ln>
            <a:solidFill>
              <a:srgbClr val="AFCBE8"/>
            </a:solidFill>
          </a:ln>
        </p:spPr>
        <p:txBody>
          <a:bodyPr wrap="square" lIns="1016" tIns="1016" rIns="1016" bIns="1016" rtlCol="0" anchor="ctr">
            <a:normAutofit/>
          </a:bodyPr>
          <a:lstStyle/>
          <a:p>
            <a:pPr marL="0" indent="0" algn="ctr">
              <a:buNone/>
            </a:pPr>
            <a:r>
              <a:rPr lang="en-US" sz="1800" b="1" dirty="0">
                <a:solidFill>
                  <a:srgbClr val="153E75"/>
                </a:solidFill>
                <a:latin typeface="Noto Sans CJK SC" pitchFamily="34" charset="0"/>
                <a:ea typeface="Noto Sans CJK SC" pitchFamily="34" charset="-122"/>
                <a:cs typeface="Noto Sans CJK SC" pitchFamily="34" charset="-120"/>
              </a:rPr>
              <a:t>项目信息</a:t>
            </a:r>
            <a:endParaRPr lang="en-US" sz="1800" dirty="0"/>
          </a:p>
        </p:txBody>
      </p:sp>
      <p:sp>
        <p:nvSpPr>
          <p:cNvPr id="7" name="Text 5"/>
          <p:cNvSpPr/>
          <p:nvPr/>
        </p:nvSpPr>
        <p:spPr>
          <a:xfrm>
            <a:off x="6903720" y="1481328"/>
            <a:ext cx="4480560" cy="384048"/>
          </a:xfrm>
          <a:prstGeom prst="roundRect">
            <a:avLst/>
          </a:prstGeom>
          <a:solidFill>
            <a:srgbClr val="173F73"/>
          </a:solidFill>
          <a:ln>
            <a:solidFill>
              <a:srgbClr val="2C5D98"/>
            </a:solidFill>
          </a:ln>
        </p:spPr>
        <p:txBody>
          <a:bodyPr wrap="square" lIns="1016" tIns="1016" rIns="1016" bIns="1016" rtlCol="0" anchor="ctr">
            <a:normAutofit/>
          </a:bodyPr>
          <a:lstStyle/>
          <a:p>
            <a:pPr marL="0" indent="0" algn="l">
              <a:buNone/>
            </a:pPr>
            <a:r>
              <a:rPr lang="en-US" sz="1600" dirty="0">
                <a:solidFill>
                  <a:srgbClr val="FFFFFF"/>
                </a:solidFill>
                <a:latin typeface="Noto Sans CJK SC" pitchFamily="34" charset="0"/>
                <a:ea typeface="Noto Sans CJK SC" pitchFamily="34" charset="-122"/>
                <a:cs typeface="Noto Sans CJK SC" pitchFamily="34" charset="-120"/>
              </a:rPr>
              <a:t>项目负责人：刘原</a:t>
            </a:r>
            <a:endParaRPr lang="en-US" sz="1600" dirty="0"/>
          </a:p>
        </p:txBody>
      </p:sp>
      <p:sp>
        <p:nvSpPr>
          <p:cNvPr id="8" name="Text 6"/>
          <p:cNvSpPr/>
          <p:nvPr/>
        </p:nvSpPr>
        <p:spPr>
          <a:xfrm>
            <a:off x="6903720" y="2011680"/>
            <a:ext cx="4480560" cy="384048"/>
          </a:xfrm>
          <a:prstGeom prst="roundRect">
            <a:avLst/>
          </a:prstGeom>
          <a:solidFill>
            <a:srgbClr val="173F73"/>
          </a:solidFill>
          <a:ln>
            <a:solidFill>
              <a:srgbClr val="2C5D98"/>
            </a:solidFill>
          </a:ln>
        </p:spPr>
        <p:txBody>
          <a:bodyPr wrap="square" lIns="1016" tIns="1016" rIns="1016" bIns="1016" rtlCol="0" anchor="ctr">
            <a:normAutofit/>
          </a:bodyPr>
          <a:lstStyle/>
          <a:p>
            <a:pPr marL="0" indent="0" algn="l">
              <a:buNone/>
            </a:pPr>
            <a:r>
              <a:rPr lang="en-US" sz="1600" dirty="0">
                <a:solidFill>
                  <a:srgbClr val="FFFFFF"/>
                </a:solidFill>
                <a:latin typeface="Noto Sans CJK SC" pitchFamily="34" charset="0"/>
                <a:ea typeface="Noto Sans CJK SC" pitchFamily="34" charset="-122"/>
                <a:cs typeface="Noto Sans CJK SC" pitchFamily="34" charset="-120"/>
              </a:rPr>
              <a:t>项目成员：刘原、韩咏江、梁慎勇</a:t>
            </a:r>
            <a:endParaRPr lang="en-US" sz="1600" dirty="0"/>
          </a:p>
        </p:txBody>
      </p:sp>
      <p:sp>
        <p:nvSpPr>
          <p:cNvPr id="9" name="Text 7"/>
          <p:cNvSpPr/>
          <p:nvPr/>
        </p:nvSpPr>
        <p:spPr>
          <a:xfrm>
            <a:off x="6903720" y="2542032"/>
            <a:ext cx="4480560" cy="384048"/>
          </a:xfrm>
          <a:prstGeom prst="roundRect">
            <a:avLst/>
          </a:prstGeom>
          <a:solidFill>
            <a:srgbClr val="173F73"/>
          </a:solidFill>
          <a:ln>
            <a:solidFill>
              <a:srgbClr val="2C5D98"/>
            </a:solidFill>
          </a:ln>
        </p:spPr>
        <p:txBody>
          <a:bodyPr wrap="square" lIns="1016" tIns="1016" rIns="1016" bIns="1016" rtlCol="0" anchor="ctr">
            <a:normAutofit/>
          </a:bodyPr>
          <a:lstStyle/>
          <a:p>
            <a:pPr marL="0" indent="0" algn="l">
              <a:buNone/>
            </a:pPr>
            <a:r>
              <a:rPr lang="en-US" sz="1600" dirty="0">
                <a:solidFill>
                  <a:srgbClr val="FFFFFF"/>
                </a:solidFill>
                <a:latin typeface="Noto Sans CJK SC" pitchFamily="34" charset="0"/>
                <a:ea typeface="Noto Sans CJK SC" pitchFamily="34" charset="-122"/>
                <a:cs typeface="Noto Sans CJK SC" pitchFamily="34" charset="-120"/>
              </a:rPr>
              <a:t>指导教师：杨薇</a:t>
            </a:r>
            <a:endParaRPr lang="en-US" sz="1600" dirty="0"/>
          </a:p>
        </p:txBody>
      </p:sp>
      <p:sp>
        <p:nvSpPr>
          <p:cNvPr id="10" name="Text 8"/>
          <p:cNvSpPr/>
          <p:nvPr/>
        </p:nvSpPr>
        <p:spPr>
          <a:xfrm>
            <a:off x="6903720" y="3072384"/>
            <a:ext cx="4480560" cy="384048"/>
          </a:xfrm>
          <a:prstGeom prst="roundRect">
            <a:avLst/>
          </a:prstGeom>
          <a:solidFill>
            <a:srgbClr val="173F73"/>
          </a:solidFill>
          <a:ln>
            <a:solidFill>
              <a:srgbClr val="2C5D98"/>
            </a:solidFill>
          </a:ln>
        </p:spPr>
        <p:txBody>
          <a:bodyPr wrap="square" lIns="1016" tIns="1016" rIns="1016" bIns="1016" rtlCol="0" anchor="ctr">
            <a:normAutofit/>
          </a:bodyPr>
          <a:lstStyle/>
          <a:p>
            <a:pPr marL="0" indent="0" algn="l">
              <a:buNone/>
            </a:pPr>
            <a:r>
              <a:rPr lang="en-US" sz="1600" dirty="0">
                <a:solidFill>
                  <a:srgbClr val="FFFFFF"/>
                </a:solidFill>
                <a:latin typeface="Noto Sans CJK SC" pitchFamily="34" charset="0"/>
                <a:ea typeface="Noto Sans CJK SC" pitchFamily="34" charset="-122"/>
                <a:cs typeface="Noto Sans CJK SC" pitchFamily="34" charset="-120"/>
              </a:rPr>
              <a:t>立项周期：2025.01—2026.03</a:t>
            </a:r>
            <a:endParaRPr lang="en-US" sz="1600" dirty="0"/>
          </a:p>
        </p:txBody>
      </p:sp>
      <p:sp>
        <p:nvSpPr>
          <p:cNvPr id="11" name="Text 9"/>
          <p:cNvSpPr/>
          <p:nvPr/>
        </p:nvSpPr>
        <p:spPr>
          <a:xfrm>
            <a:off x="6903720" y="3803904"/>
            <a:ext cx="4480560" cy="384048"/>
          </a:xfrm>
          <a:prstGeom prst="roundRect">
            <a:avLst/>
          </a:prstGeom>
          <a:solidFill>
            <a:srgbClr val="EAF4FF"/>
          </a:solidFill>
          <a:ln>
            <a:solidFill>
              <a:srgbClr val="AFCBE8"/>
            </a:solidFill>
          </a:ln>
        </p:spPr>
        <p:txBody>
          <a:bodyPr wrap="square" lIns="1016" tIns="1016" rIns="1016" bIns="1016" rtlCol="0" anchor="ctr">
            <a:normAutofit/>
          </a:bodyPr>
          <a:lstStyle/>
          <a:p>
            <a:pPr marL="0" indent="0" algn="ctr">
              <a:buNone/>
            </a:pPr>
            <a:r>
              <a:rPr lang="en-US" sz="1800" b="1" dirty="0">
                <a:solidFill>
                  <a:srgbClr val="153E75"/>
                </a:solidFill>
                <a:latin typeface="Noto Sans CJK SC" pitchFamily="34" charset="0"/>
                <a:ea typeface="Noto Sans CJK SC" pitchFamily="34" charset="-122"/>
                <a:cs typeface="Noto Sans CJK SC" pitchFamily="34" charset="-120"/>
              </a:rPr>
              <a:t>阶段定位</a:t>
            </a:r>
            <a:endParaRPr lang="en-US" sz="1800" dirty="0"/>
          </a:p>
        </p:txBody>
      </p:sp>
      <p:sp>
        <p:nvSpPr>
          <p:cNvPr id="12" name="Text 10"/>
          <p:cNvSpPr/>
          <p:nvPr/>
        </p:nvSpPr>
        <p:spPr>
          <a:xfrm>
            <a:off x="6903720" y="4370832"/>
            <a:ext cx="4480560" cy="475488"/>
          </a:xfrm>
          <a:prstGeom prst="roundRect">
            <a:avLst/>
          </a:prstGeom>
          <a:solidFill>
            <a:srgbClr val="2D8C8C"/>
          </a:solidFill>
          <a:ln>
            <a:solidFill>
              <a:srgbClr val="59A9A9"/>
            </a:solidFill>
          </a:ln>
        </p:spPr>
        <p:txBody>
          <a:bodyPr wrap="square" lIns="1016" tIns="1016" rIns="1016" bIns="1016" rtlCol="0" anchor="ctr">
            <a:normAutofit/>
          </a:bodyPr>
          <a:lstStyle/>
          <a:p>
            <a:pPr marL="0" indent="0" algn="ctr">
              <a:buNone/>
            </a:pPr>
            <a:r>
              <a:rPr lang="en-US" sz="1620" b="1" dirty="0">
                <a:solidFill>
                  <a:srgbClr val="FFFFFF"/>
                </a:solidFill>
                <a:latin typeface="Noto Sans CJK SC" pitchFamily="34" charset="0"/>
                <a:ea typeface="Noto Sans CJK SC" pitchFamily="34" charset="-122"/>
                <a:cs typeface="Noto Sans CJK SC" pitchFamily="34" charset="-120"/>
              </a:rPr>
              <a:t>理论建构 + 原理设计 + 预实验 + 学术交流</a:t>
            </a:r>
            <a:endParaRPr lang="en-US" sz="1620" dirty="0"/>
          </a:p>
        </p:txBody>
      </p:sp>
      <p:sp>
        <p:nvSpPr>
          <p:cNvPr id="14" name="Text 12"/>
          <p:cNvSpPr/>
          <p:nvPr/>
        </p:nvSpPr>
        <p:spPr>
          <a:xfrm>
            <a:off x="731520" y="6163056"/>
            <a:ext cx="3840480" cy="182880"/>
          </a:xfrm>
          <a:prstGeom prst="rect">
            <a:avLst/>
          </a:prstGeom>
          <a:noFill/>
          <a:ln/>
        </p:spPr>
        <p:txBody>
          <a:bodyPr wrap="square" lIns="0" tIns="0" rIns="0" bIns="0" rtlCol="0" anchor="ctr"/>
          <a:lstStyle/>
          <a:p>
            <a:pPr marL="0" indent="0">
              <a:buNone/>
            </a:pPr>
            <a:r>
              <a:rPr lang="en-US" sz="1100" dirty="0">
                <a:solidFill>
                  <a:srgbClr val="9FB9D8"/>
                </a:solidFill>
                <a:latin typeface="Noto Sans CJK SC" pitchFamily="34" charset="0"/>
                <a:ea typeface="Noto Sans CJK SC" pitchFamily="34" charset="-122"/>
                <a:cs typeface="Noto Sans CJK SC" pitchFamily="34" charset="-120"/>
              </a:rPr>
              <a:t>体育与健康学院 / 软件学院协同研究</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292608"/>
            <a:ext cx="566928" cy="256032"/>
          </a:xfrm>
          <a:prstGeom prst="roundRect">
            <a:avLst/>
          </a:prstGeom>
          <a:solidFill>
            <a:srgbClr val="153E75"/>
          </a:solidFill>
          <a:ln>
            <a:solidFill>
              <a:srgbClr val="153E75"/>
            </a:solid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02</a:t>
            </a:r>
            <a:endParaRPr lang="en-US" sz="1400" dirty="0"/>
          </a:p>
        </p:txBody>
      </p:sp>
      <p:sp>
        <p:nvSpPr>
          <p:cNvPr id="3" name="Text 1"/>
          <p:cNvSpPr/>
          <p:nvPr/>
        </p:nvSpPr>
        <p:spPr>
          <a:xfrm>
            <a:off x="1234440" y="310896"/>
            <a:ext cx="9692640" cy="310896"/>
          </a:xfrm>
          <a:prstGeom prst="rect">
            <a:avLst/>
          </a:prstGeom>
          <a:noFill/>
          <a:ln/>
        </p:spPr>
        <p:txBody>
          <a:bodyPr wrap="square" lIns="0" tIns="0" rIns="0" bIns="0" rtlCol="0" anchor="ctr"/>
          <a:lstStyle/>
          <a:p>
            <a:pPr marL="0" indent="0">
              <a:buNone/>
            </a:pPr>
            <a:r>
              <a:rPr lang="en-US" sz="2300" b="1" dirty="0">
                <a:solidFill>
                  <a:srgbClr val="153E75"/>
                </a:solidFill>
                <a:latin typeface="Noto Sans CJK SC" pitchFamily="34" charset="0"/>
                <a:ea typeface="Noto Sans CJK SC" pitchFamily="34" charset="-122"/>
                <a:cs typeface="Noto Sans CJK SC" pitchFamily="34" charset="-120"/>
              </a:rPr>
              <a:t>项目概述与中期定位</a:t>
            </a:r>
            <a:endParaRPr lang="en-US" sz="2300" dirty="0"/>
          </a:p>
        </p:txBody>
      </p:sp>
      <p:sp>
        <p:nvSpPr>
          <p:cNvPr id="4" name="Shape 2"/>
          <p:cNvSpPr/>
          <p:nvPr/>
        </p:nvSpPr>
        <p:spPr>
          <a:xfrm>
            <a:off x="530352" y="749808"/>
            <a:ext cx="11109960" cy="0"/>
          </a:xfrm>
          <a:prstGeom prst="line">
            <a:avLst/>
          </a:prstGeom>
          <a:noFill/>
          <a:ln w="12700">
            <a:solidFill>
              <a:srgbClr val="153E75"/>
            </a:solidFill>
            <a:prstDash val="solid"/>
          </a:ln>
        </p:spPr>
      </p:sp>
      <p:sp>
        <p:nvSpPr>
          <p:cNvPr id="5" name="Text 3"/>
          <p:cNvSpPr/>
          <p:nvPr/>
        </p:nvSpPr>
        <p:spPr>
          <a:xfrm>
            <a:off x="548640" y="822960"/>
            <a:ext cx="10972800" cy="210312"/>
          </a:xfrm>
          <a:prstGeom prst="rect">
            <a:avLst/>
          </a:prstGeom>
          <a:noFill/>
          <a:ln/>
        </p:spPr>
        <p:txBody>
          <a:bodyPr wrap="square" lIns="0" tIns="0" rIns="0" bIns="0" rtlCol="0" anchor="ctr"/>
          <a:lstStyle/>
          <a:p>
            <a:pPr marL="0" indent="0">
              <a:buNone/>
            </a:pPr>
            <a:r>
              <a:rPr lang="en-US" sz="1150" dirty="0">
                <a:solidFill>
                  <a:srgbClr val="5B6F84"/>
                </a:solidFill>
                <a:latin typeface="Noto Sans CJK SC" pitchFamily="34" charset="0"/>
                <a:ea typeface="Noto Sans CJK SC" pitchFamily="34" charset="-122"/>
                <a:cs typeface="Noto Sans CJK SC" pitchFamily="34" charset="-120"/>
              </a:rPr>
              <a:t>围绕大学生健康促进场景，当前成果属性以“学术与方案设计”为主</a:t>
            </a:r>
            <a:endParaRPr lang="en-US" sz="1150" dirty="0"/>
          </a:p>
        </p:txBody>
      </p:sp>
      <p:sp>
        <p:nvSpPr>
          <p:cNvPr id="6" name="Shape 4"/>
          <p:cNvSpPr/>
          <p:nvPr/>
        </p:nvSpPr>
        <p:spPr>
          <a:xfrm>
            <a:off x="530352" y="6419088"/>
            <a:ext cx="11109960" cy="0"/>
          </a:xfrm>
          <a:prstGeom prst="line">
            <a:avLst/>
          </a:prstGeom>
          <a:noFill/>
          <a:ln w="12700">
            <a:solidFill>
              <a:srgbClr val="C8D8E8"/>
            </a:solidFill>
            <a:prstDash val="solid"/>
          </a:ln>
        </p:spPr>
      </p:sp>
      <p:sp>
        <p:nvSpPr>
          <p:cNvPr id="7" name="Text 5"/>
          <p:cNvSpPr/>
          <p:nvPr/>
        </p:nvSpPr>
        <p:spPr>
          <a:xfrm>
            <a:off x="548640" y="6473952"/>
            <a:ext cx="6400800" cy="164592"/>
          </a:xfrm>
          <a:prstGeom prst="rect">
            <a:avLst/>
          </a:prstGeom>
          <a:noFill/>
          <a:ln/>
        </p:spPr>
        <p:txBody>
          <a:bodyPr wrap="square" lIns="0" tIns="0" rIns="0" bIns="0" rtlCol="0" anchor="ctr"/>
          <a:lstStyle/>
          <a:p>
            <a:pPr marL="0" indent="0">
              <a:buNone/>
            </a:pPr>
            <a:r>
              <a:rPr lang="en-US" sz="980" dirty="0">
                <a:solidFill>
                  <a:srgbClr val="5B6F84"/>
                </a:solidFill>
                <a:latin typeface="Noto Sans CJK SC" pitchFamily="34" charset="0"/>
                <a:ea typeface="Noto Sans CJK SC" pitchFamily="34" charset="-122"/>
                <a:cs typeface="Noto Sans CJK SC" pitchFamily="34" charset="-120"/>
              </a:rPr>
              <a:t>大连理工大学大学生创新创业训练计划项目 · 中期检查报告</a:t>
            </a:r>
            <a:endParaRPr lang="en-US" sz="980" dirty="0"/>
          </a:p>
        </p:txBody>
      </p:sp>
      <p:sp>
        <p:nvSpPr>
          <p:cNvPr id="8" name="Text 6"/>
          <p:cNvSpPr/>
          <p:nvPr/>
        </p:nvSpPr>
        <p:spPr>
          <a:xfrm>
            <a:off x="658368" y="1234440"/>
            <a:ext cx="1828800" cy="329184"/>
          </a:xfrm>
          <a:prstGeom prst="roundRect">
            <a:avLst/>
          </a:prstGeom>
          <a:solidFill>
            <a:srgbClr val="EAF4FF"/>
          </a:solidFill>
          <a:ln>
            <a:solidFill>
              <a:srgbClr val="B8D7F5"/>
            </a:solidFill>
          </a:ln>
        </p:spPr>
        <p:txBody>
          <a:bodyPr wrap="square" lIns="1016" tIns="1016" rIns="1016" bIns="1016" rtlCol="0" anchor="ctr">
            <a:normAutofit/>
          </a:bodyPr>
          <a:lstStyle/>
          <a:p>
            <a:pPr marL="0" indent="0" algn="ctr">
              <a:buNone/>
            </a:pPr>
            <a:r>
              <a:rPr lang="en-US" sz="1700" b="1" dirty="0">
                <a:solidFill>
                  <a:srgbClr val="153E75"/>
                </a:solidFill>
                <a:latin typeface="Noto Sans CJK SC" pitchFamily="34" charset="0"/>
                <a:ea typeface="Noto Sans CJK SC" pitchFamily="34" charset="-122"/>
                <a:cs typeface="Noto Sans CJK SC" pitchFamily="34" charset="-120"/>
              </a:rPr>
              <a:t>为什么做</a:t>
            </a:r>
            <a:endParaRPr lang="en-US" sz="1700" dirty="0"/>
          </a:p>
        </p:txBody>
      </p:sp>
      <p:sp>
        <p:nvSpPr>
          <p:cNvPr id="9" name="Text 7"/>
          <p:cNvSpPr/>
          <p:nvPr/>
        </p:nvSpPr>
        <p:spPr>
          <a:xfrm>
            <a:off x="658368" y="1664208"/>
            <a:ext cx="3337560" cy="141732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700" dirty="0">
                <a:solidFill>
                  <a:srgbClr val="18324A"/>
                </a:solidFill>
                <a:latin typeface="Noto Sans CJK SC" pitchFamily="34" charset="0"/>
                <a:ea typeface="Noto Sans CJK SC" pitchFamily="34" charset="-122"/>
                <a:cs typeface="Noto Sans CJK SC" pitchFamily="34" charset="-120"/>
              </a:rPr>
              <a:t>大学生心理健康问题突出，传统心理咨询、体育锻炼与认知训练往往分散开展，难以形成身—心—脑协同增益。</a:t>
            </a:r>
            <a:endParaRPr lang="en-US" sz="1700" dirty="0"/>
          </a:p>
        </p:txBody>
      </p:sp>
      <p:sp>
        <p:nvSpPr>
          <p:cNvPr id="10" name="Text 8"/>
          <p:cNvSpPr/>
          <p:nvPr/>
        </p:nvSpPr>
        <p:spPr>
          <a:xfrm>
            <a:off x="4370832" y="1234440"/>
            <a:ext cx="1828800" cy="329184"/>
          </a:xfrm>
          <a:prstGeom prst="roundRect">
            <a:avLst/>
          </a:prstGeom>
          <a:solidFill>
            <a:srgbClr val="E9F7F3"/>
          </a:solidFill>
          <a:ln>
            <a:solidFill>
              <a:srgbClr val="B7E2D3"/>
            </a:solidFill>
          </a:ln>
        </p:spPr>
        <p:txBody>
          <a:bodyPr wrap="square" lIns="1016" tIns="1016" rIns="1016" bIns="1016" rtlCol="0" anchor="ctr">
            <a:normAutofit/>
          </a:bodyPr>
          <a:lstStyle/>
          <a:p>
            <a:pPr marL="0" indent="0" algn="ctr">
              <a:buNone/>
            </a:pPr>
            <a:r>
              <a:rPr lang="en-US" sz="1700" b="1" dirty="0">
                <a:solidFill>
                  <a:srgbClr val="2D8C8C"/>
                </a:solidFill>
                <a:latin typeface="Noto Sans CJK SC" pitchFamily="34" charset="0"/>
                <a:ea typeface="Noto Sans CJK SC" pitchFamily="34" charset="-122"/>
                <a:cs typeface="Noto Sans CJK SC" pitchFamily="34" charset="-120"/>
              </a:rPr>
              <a:t>做什么</a:t>
            </a:r>
            <a:endParaRPr lang="en-US" sz="1700" dirty="0"/>
          </a:p>
        </p:txBody>
      </p:sp>
      <p:sp>
        <p:nvSpPr>
          <p:cNvPr id="11" name="Text 9"/>
          <p:cNvSpPr/>
          <p:nvPr/>
        </p:nvSpPr>
        <p:spPr>
          <a:xfrm>
            <a:off x="4096512" y="1664208"/>
            <a:ext cx="3794760" cy="141732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700" dirty="0">
                <a:solidFill>
                  <a:srgbClr val="18324A"/>
                </a:solidFill>
                <a:latin typeface="Noto Sans CJK SC" pitchFamily="34" charset="0"/>
                <a:ea typeface="Noto Sans CJK SC" pitchFamily="34" charset="-122"/>
                <a:cs typeface="Noto Sans CJK SC" pitchFamily="34" charset="-120"/>
              </a:rPr>
              <a:t>以 VR 为载体，构建大学生身心脑协同训练理论框架，设计“多模态生理感知—自适应算法—沉浸化交互”的系统方案。</a:t>
            </a:r>
            <a:endParaRPr lang="en-US" sz="1700" dirty="0"/>
          </a:p>
        </p:txBody>
      </p:sp>
      <p:sp>
        <p:nvSpPr>
          <p:cNvPr id="12" name="Text 10"/>
          <p:cNvSpPr/>
          <p:nvPr/>
        </p:nvSpPr>
        <p:spPr>
          <a:xfrm>
            <a:off x="8302752" y="1234440"/>
            <a:ext cx="1828800" cy="329184"/>
          </a:xfrm>
          <a:prstGeom prst="roundRect">
            <a:avLst/>
          </a:prstGeom>
          <a:solidFill>
            <a:srgbClr val="FFF2E8"/>
          </a:solidFill>
          <a:ln>
            <a:solidFill>
              <a:srgbClr val="F3C89F"/>
            </a:solidFill>
          </a:ln>
        </p:spPr>
        <p:txBody>
          <a:bodyPr wrap="square" lIns="1016" tIns="1016" rIns="1016" bIns="1016" rtlCol="0" anchor="ctr">
            <a:normAutofit/>
          </a:bodyPr>
          <a:lstStyle/>
          <a:p>
            <a:pPr marL="0" indent="0" algn="ctr">
              <a:buNone/>
            </a:pPr>
            <a:r>
              <a:rPr lang="en-US" sz="1700" b="1" dirty="0">
                <a:solidFill>
                  <a:srgbClr val="D8902F"/>
                </a:solidFill>
                <a:latin typeface="Noto Sans CJK SC" pitchFamily="34" charset="0"/>
                <a:ea typeface="Noto Sans CJK SC" pitchFamily="34" charset="-122"/>
                <a:cs typeface="Noto Sans CJK SC" pitchFamily="34" charset="-120"/>
              </a:rPr>
              <a:t>做到哪一步</a:t>
            </a:r>
            <a:endParaRPr lang="en-US" sz="1700" dirty="0"/>
          </a:p>
        </p:txBody>
      </p:sp>
      <p:sp>
        <p:nvSpPr>
          <p:cNvPr id="13" name="Text 11"/>
          <p:cNvSpPr/>
          <p:nvPr/>
        </p:nvSpPr>
        <p:spPr>
          <a:xfrm>
            <a:off x="7955280" y="1664208"/>
            <a:ext cx="3566160" cy="141732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650" dirty="0">
                <a:solidFill>
                  <a:srgbClr val="18324A"/>
                </a:solidFill>
                <a:latin typeface="Noto Sans CJK SC" pitchFamily="34" charset="0"/>
                <a:ea typeface="Noto Sans CJK SC" pitchFamily="34" charset="-122"/>
                <a:cs typeface="Noto Sans CJK SC" pitchFamily="34" charset="-120"/>
              </a:rPr>
              <a:t>已完成：理论定稿、系统与算法原理设计、RCT 方案设计、12人预实验、会议论文与口头报告。</a:t>
            </a:r>
            <a:endParaRPr lang="en-US" sz="1650" dirty="0"/>
          </a:p>
        </p:txBody>
      </p:sp>
      <p:sp>
        <p:nvSpPr>
          <p:cNvPr id="14" name="Text 12"/>
          <p:cNvSpPr/>
          <p:nvPr/>
        </p:nvSpPr>
        <p:spPr>
          <a:xfrm>
            <a:off x="658368" y="3657600"/>
            <a:ext cx="1828800" cy="329184"/>
          </a:xfrm>
          <a:prstGeom prst="roundRect">
            <a:avLst/>
          </a:prstGeom>
          <a:solidFill>
            <a:srgbClr val="EAF4FF"/>
          </a:solidFill>
          <a:ln>
            <a:solidFill>
              <a:srgbClr val="B8D7F5"/>
            </a:solidFill>
          </a:ln>
        </p:spPr>
        <p:txBody>
          <a:bodyPr wrap="square" lIns="1016" tIns="1016" rIns="1016" bIns="1016" rtlCol="0" anchor="ctr">
            <a:normAutofit/>
          </a:bodyPr>
          <a:lstStyle/>
          <a:p>
            <a:pPr marL="0" indent="0" algn="ctr">
              <a:buNone/>
            </a:pPr>
            <a:r>
              <a:rPr lang="en-US" sz="1700" b="1" dirty="0">
                <a:solidFill>
                  <a:srgbClr val="153E75"/>
                </a:solidFill>
                <a:latin typeface="Noto Sans CJK SC" pitchFamily="34" charset="0"/>
                <a:ea typeface="Noto Sans CJK SC" pitchFamily="34" charset="-122"/>
                <a:cs typeface="Noto Sans CJK SC" pitchFamily="34" charset="-120"/>
              </a:rPr>
              <a:t>中期判断</a:t>
            </a:r>
            <a:endParaRPr lang="en-US" sz="1700" dirty="0"/>
          </a:p>
        </p:txBody>
      </p:sp>
      <p:sp>
        <p:nvSpPr>
          <p:cNvPr id="15" name="Text 13"/>
          <p:cNvSpPr/>
          <p:nvPr/>
        </p:nvSpPr>
        <p:spPr>
          <a:xfrm>
            <a:off x="658368" y="4096512"/>
            <a:ext cx="10972800" cy="530352"/>
          </a:xfrm>
          <a:prstGeom prst="rect">
            <a:avLst/>
          </a:prstGeom>
          <a:noFill/>
          <a:ln/>
        </p:spPr>
        <p:txBody>
          <a:bodyPr wrap="square" lIns="1016" tIns="1016" rIns="1016" bIns="1016" rtlCol="0" anchor="ctr">
            <a:normAutofit/>
          </a:bodyPr>
          <a:lstStyle/>
          <a:p>
            <a:pPr marL="0" indent="0" algn="l">
              <a:buNone/>
            </a:pPr>
            <a:r>
              <a:rPr lang="en-US" sz="1800" dirty="0">
                <a:solidFill>
                  <a:srgbClr val="18324A"/>
                </a:solidFill>
                <a:latin typeface="Noto Sans CJK SC" pitchFamily="34" charset="0"/>
                <a:ea typeface="Noto Sans CJK SC" pitchFamily="34" charset="-122"/>
                <a:cs typeface="Noto Sans CJK SC" pitchFamily="34" charset="-120"/>
              </a:rPr>
              <a:t>项目推进节奏与中期检查表基本一致，已形成可汇报、可论证、可继续推进的阶段性成果包。</a:t>
            </a:r>
            <a:endParaRPr lang="en-US" sz="1800" dirty="0"/>
          </a:p>
        </p:txBody>
      </p:sp>
      <p:sp>
        <p:nvSpPr>
          <p:cNvPr id="16" name="Text 14"/>
          <p:cNvSpPr/>
          <p:nvPr/>
        </p:nvSpPr>
        <p:spPr>
          <a:xfrm>
            <a:off x="713232" y="4754880"/>
            <a:ext cx="2057400" cy="329184"/>
          </a:xfrm>
          <a:prstGeom prst="roundRect">
            <a:avLst/>
          </a:prstGeom>
          <a:solidFill>
            <a:srgbClr val="153E75"/>
          </a:solidFill>
          <a:ln>
            <a:solidFill>
              <a:srgbClr val="153E75"/>
            </a:solidFill>
          </a:ln>
        </p:spPr>
        <p:txBody>
          <a:bodyPr wrap="square" lIns="1016" tIns="1016" rIns="1016" bIns="1016" rtlCol="0" anchor="ctr">
            <a:normAutofit/>
          </a:bodyPr>
          <a:lstStyle/>
          <a:p>
            <a:pPr marL="0" indent="0" algn="ctr">
              <a:buNone/>
            </a:pPr>
            <a:r>
              <a:rPr lang="en-US" sz="1500" b="1" dirty="0">
                <a:solidFill>
                  <a:srgbClr val="FFFFFF"/>
                </a:solidFill>
                <a:latin typeface="Noto Sans CJK SC" pitchFamily="34" charset="0"/>
                <a:ea typeface="Noto Sans CJK SC" pitchFamily="34" charset="-122"/>
                <a:cs typeface="Noto Sans CJK SC" pitchFamily="34" charset="-120"/>
              </a:rPr>
              <a:t>理论成果</a:t>
            </a:r>
            <a:endParaRPr lang="en-US" sz="1500" dirty="0"/>
          </a:p>
        </p:txBody>
      </p:sp>
      <p:sp>
        <p:nvSpPr>
          <p:cNvPr id="17" name="Text 15"/>
          <p:cNvSpPr/>
          <p:nvPr/>
        </p:nvSpPr>
        <p:spPr>
          <a:xfrm>
            <a:off x="713232" y="5175504"/>
            <a:ext cx="2057400" cy="82296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ctr">
              <a:buNone/>
            </a:pPr>
            <a:r>
              <a:rPr lang="en-US" sz="1420" dirty="0">
                <a:solidFill>
                  <a:srgbClr val="18324A"/>
                </a:solidFill>
                <a:latin typeface="Noto Sans CJK SC" pitchFamily="34" charset="0"/>
                <a:ea typeface="Noto Sans CJK SC" pitchFamily="34" charset="-122"/>
                <a:cs typeface="Noto Sans CJK SC" pitchFamily="34" charset="-120"/>
              </a:rPr>
              <a:t>身心脑协同训练理论框架定稿</a:t>
            </a:r>
            <a:endParaRPr lang="en-US" sz="1420" dirty="0"/>
          </a:p>
        </p:txBody>
      </p:sp>
      <p:sp>
        <p:nvSpPr>
          <p:cNvPr id="18" name="Text 16"/>
          <p:cNvSpPr/>
          <p:nvPr/>
        </p:nvSpPr>
        <p:spPr>
          <a:xfrm>
            <a:off x="3547872" y="4754880"/>
            <a:ext cx="2057400" cy="329184"/>
          </a:xfrm>
          <a:prstGeom prst="roundRect">
            <a:avLst/>
          </a:prstGeom>
          <a:solidFill>
            <a:srgbClr val="2D8C8C"/>
          </a:solidFill>
          <a:ln>
            <a:solidFill>
              <a:srgbClr val="2D8C8C"/>
            </a:solidFill>
          </a:ln>
        </p:spPr>
        <p:txBody>
          <a:bodyPr wrap="square" lIns="1016" tIns="1016" rIns="1016" bIns="1016" rtlCol="0" anchor="ctr">
            <a:normAutofit/>
          </a:bodyPr>
          <a:lstStyle/>
          <a:p>
            <a:pPr marL="0" indent="0" algn="ctr">
              <a:buNone/>
            </a:pPr>
            <a:r>
              <a:rPr lang="en-US" sz="1500" b="1" dirty="0">
                <a:solidFill>
                  <a:srgbClr val="FFFFFF"/>
                </a:solidFill>
                <a:latin typeface="Noto Sans CJK SC" pitchFamily="34" charset="0"/>
                <a:ea typeface="Noto Sans CJK SC" pitchFamily="34" charset="-122"/>
                <a:cs typeface="Noto Sans CJK SC" pitchFamily="34" charset="-120"/>
              </a:rPr>
              <a:t>设计成果</a:t>
            </a:r>
            <a:endParaRPr lang="en-US" sz="1500" dirty="0"/>
          </a:p>
        </p:txBody>
      </p:sp>
      <p:sp>
        <p:nvSpPr>
          <p:cNvPr id="19" name="Text 17"/>
          <p:cNvSpPr/>
          <p:nvPr/>
        </p:nvSpPr>
        <p:spPr>
          <a:xfrm>
            <a:off x="3547872" y="5175504"/>
            <a:ext cx="2057400" cy="82296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ctr">
              <a:buNone/>
            </a:pPr>
            <a:r>
              <a:rPr lang="en-US" sz="1420" dirty="0">
                <a:solidFill>
                  <a:srgbClr val="18324A"/>
                </a:solidFill>
                <a:latin typeface="Noto Sans CJK SC" pitchFamily="34" charset="0"/>
                <a:ea typeface="Noto Sans CJK SC" pitchFamily="34" charset="-122"/>
                <a:cs typeface="Noto Sans CJK SC" pitchFamily="34" charset="-120"/>
              </a:rPr>
              <a:t>系统架构与三大核心算法原理设计</a:t>
            </a:r>
            <a:endParaRPr lang="en-US" sz="1420" dirty="0"/>
          </a:p>
        </p:txBody>
      </p:sp>
      <p:sp>
        <p:nvSpPr>
          <p:cNvPr id="20" name="Text 18"/>
          <p:cNvSpPr/>
          <p:nvPr/>
        </p:nvSpPr>
        <p:spPr>
          <a:xfrm>
            <a:off x="6382512" y="4754880"/>
            <a:ext cx="2057400" cy="329184"/>
          </a:xfrm>
          <a:prstGeom prst="roundRect">
            <a:avLst/>
          </a:prstGeom>
          <a:solidFill>
            <a:srgbClr val="D8902F"/>
          </a:solidFill>
          <a:ln>
            <a:solidFill>
              <a:srgbClr val="D8902F"/>
            </a:solidFill>
          </a:ln>
        </p:spPr>
        <p:txBody>
          <a:bodyPr wrap="square" lIns="1016" tIns="1016" rIns="1016" bIns="1016" rtlCol="0" anchor="ctr">
            <a:normAutofit/>
          </a:bodyPr>
          <a:lstStyle/>
          <a:p>
            <a:pPr marL="0" indent="0" algn="ctr">
              <a:buNone/>
            </a:pPr>
            <a:r>
              <a:rPr lang="en-US" sz="1500" b="1" dirty="0">
                <a:solidFill>
                  <a:srgbClr val="FFFFFF"/>
                </a:solidFill>
                <a:latin typeface="Noto Sans CJK SC" pitchFamily="34" charset="0"/>
                <a:ea typeface="Noto Sans CJK SC" pitchFamily="34" charset="-122"/>
                <a:cs typeface="Noto Sans CJK SC" pitchFamily="34" charset="-120"/>
              </a:rPr>
              <a:t>实验成果</a:t>
            </a:r>
            <a:endParaRPr lang="en-US" sz="1500" dirty="0"/>
          </a:p>
        </p:txBody>
      </p:sp>
      <p:sp>
        <p:nvSpPr>
          <p:cNvPr id="21" name="Text 19"/>
          <p:cNvSpPr/>
          <p:nvPr/>
        </p:nvSpPr>
        <p:spPr>
          <a:xfrm>
            <a:off x="6382512" y="5175504"/>
            <a:ext cx="2057400" cy="82296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ctr">
              <a:buNone/>
            </a:pPr>
            <a:r>
              <a:rPr lang="en-US" sz="1420" dirty="0">
                <a:solidFill>
                  <a:srgbClr val="18324A"/>
                </a:solidFill>
                <a:latin typeface="Noto Sans CJK SC" pitchFamily="34" charset="0"/>
                <a:ea typeface="Noto Sans CJK SC" pitchFamily="34" charset="-122"/>
                <a:cs typeface="Noto Sans CJK SC" pitchFamily="34" charset="-120"/>
              </a:rPr>
              <a:t>预实验完成并优化正式实验流程</a:t>
            </a:r>
            <a:endParaRPr lang="en-US" sz="1420" dirty="0"/>
          </a:p>
        </p:txBody>
      </p:sp>
      <p:sp>
        <p:nvSpPr>
          <p:cNvPr id="22" name="Text 20"/>
          <p:cNvSpPr/>
          <p:nvPr/>
        </p:nvSpPr>
        <p:spPr>
          <a:xfrm>
            <a:off x="9217152" y="4754880"/>
            <a:ext cx="2057400" cy="329184"/>
          </a:xfrm>
          <a:prstGeom prst="roundRect">
            <a:avLst/>
          </a:prstGeom>
          <a:solidFill>
            <a:srgbClr val="E57C2C"/>
          </a:solidFill>
          <a:ln>
            <a:solidFill>
              <a:srgbClr val="E57C2C"/>
            </a:solidFill>
          </a:ln>
        </p:spPr>
        <p:txBody>
          <a:bodyPr wrap="square" lIns="1016" tIns="1016" rIns="1016" bIns="1016" rtlCol="0" anchor="ctr">
            <a:normAutofit/>
          </a:bodyPr>
          <a:lstStyle/>
          <a:p>
            <a:pPr marL="0" indent="0" algn="ctr">
              <a:buNone/>
            </a:pPr>
            <a:r>
              <a:rPr lang="en-US" sz="1500" b="1" dirty="0">
                <a:solidFill>
                  <a:srgbClr val="FFFFFF"/>
                </a:solidFill>
                <a:latin typeface="Noto Sans CJK SC" pitchFamily="34" charset="0"/>
                <a:ea typeface="Noto Sans CJK SC" pitchFamily="34" charset="-122"/>
                <a:cs typeface="Noto Sans CJK SC" pitchFamily="34" charset="-120"/>
              </a:rPr>
              <a:t>学术成果</a:t>
            </a:r>
            <a:endParaRPr lang="en-US" sz="1500" dirty="0"/>
          </a:p>
        </p:txBody>
      </p:sp>
      <p:sp>
        <p:nvSpPr>
          <p:cNvPr id="23" name="Text 21"/>
          <p:cNvSpPr/>
          <p:nvPr/>
        </p:nvSpPr>
        <p:spPr>
          <a:xfrm>
            <a:off x="9217152" y="5175504"/>
            <a:ext cx="2057400" cy="82296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ctr">
              <a:buNone/>
            </a:pPr>
            <a:r>
              <a:rPr lang="en-US" sz="1420" dirty="0">
                <a:solidFill>
                  <a:srgbClr val="18324A"/>
                </a:solidFill>
                <a:latin typeface="Noto Sans CJK SC" pitchFamily="34" charset="0"/>
                <a:ea typeface="Noto Sans CJK SC" pitchFamily="34" charset="-122"/>
                <a:cs typeface="Noto Sans CJK SC" pitchFamily="34" charset="-120"/>
              </a:rPr>
              <a:t>会议论文与口头报告交流</a:t>
            </a:r>
            <a:endParaRPr lang="en-US" sz="14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292608"/>
            <a:ext cx="566928" cy="256032"/>
          </a:xfrm>
          <a:prstGeom prst="roundRect">
            <a:avLst/>
          </a:prstGeom>
          <a:solidFill>
            <a:srgbClr val="153E75"/>
          </a:solidFill>
          <a:ln>
            <a:solidFill>
              <a:srgbClr val="153E75"/>
            </a:solid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03</a:t>
            </a:r>
            <a:endParaRPr lang="en-US" sz="1400" dirty="0"/>
          </a:p>
        </p:txBody>
      </p:sp>
      <p:sp>
        <p:nvSpPr>
          <p:cNvPr id="3" name="Text 1"/>
          <p:cNvSpPr/>
          <p:nvPr/>
        </p:nvSpPr>
        <p:spPr>
          <a:xfrm>
            <a:off x="1234440" y="310896"/>
            <a:ext cx="9692640" cy="310896"/>
          </a:xfrm>
          <a:prstGeom prst="rect">
            <a:avLst/>
          </a:prstGeom>
          <a:noFill/>
          <a:ln/>
        </p:spPr>
        <p:txBody>
          <a:bodyPr wrap="square" lIns="0" tIns="0" rIns="0" bIns="0" rtlCol="0" anchor="ctr"/>
          <a:lstStyle/>
          <a:p>
            <a:pPr marL="0" indent="0">
              <a:buNone/>
            </a:pPr>
            <a:r>
              <a:rPr lang="en-US" sz="2300" b="1" dirty="0">
                <a:solidFill>
                  <a:srgbClr val="153E75"/>
                </a:solidFill>
                <a:latin typeface="Noto Sans CJK SC" pitchFamily="34" charset="0"/>
                <a:ea typeface="Noto Sans CJK SC" pitchFamily="34" charset="-122"/>
                <a:cs typeface="Noto Sans CJK SC" pitchFamily="34" charset="-120"/>
              </a:rPr>
              <a:t>项目进展总览</a:t>
            </a:r>
            <a:endParaRPr lang="en-US" sz="2300" dirty="0"/>
          </a:p>
        </p:txBody>
      </p:sp>
      <p:sp>
        <p:nvSpPr>
          <p:cNvPr id="4" name="Shape 2"/>
          <p:cNvSpPr/>
          <p:nvPr/>
        </p:nvSpPr>
        <p:spPr>
          <a:xfrm>
            <a:off x="530352" y="749808"/>
            <a:ext cx="11109960" cy="0"/>
          </a:xfrm>
          <a:prstGeom prst="line">
            <a:avLst/>
          </a:prstGeom>
          <a:noFill/>
          <a:ln w="12700">
            <a:solidFill>
              <a:srgbClr val="153E75"/>
            </a:solidFill>
            <a:prstDash val="solid"/>
          </a:ln>
        </p:spPr>
      </p:sp>
      <p:sp>
        <p:nvSpPr>
          <p:cNvPr id="5" name="Text 3"/>
          <p:cNvSpPr/>
          <p:nvPr/>
        </p:nvSpPr>
        <p:spPr>
          <a:xfrm>
            <a:off x="548640" y="822960"/>
            <a:ext cx="10972800" cy="210312"/>
          </a:xfrm>
          <a:prstGeom prst="rect">
            <a:avLst/>
          </a:prstGeom>
          <a:noFill/>
          <a:ln/>
        </p:spPr>
        <p:txBody>
          <a:bodyPr wrap="square" lIns="0" tIns="0" rIns="0" bIns="0" rtlCol="0" anchor="ctr"/>
          <a:lstStyle/>
          <a:p>
            <a:pPr marL="0" indent="0">
              <a:buNone/>
            </a:pPr>
            <a:r>
              <a:rPr lang="en-US" sz="1150" dirty="0">
                <a:solidFill>
                  <a:srgbClr val="5B6F84"/>
                </a:solidFill>
                <a:latin typeface="Noto Sans CJK SC" pitchFamily="34" charset="0"/>
                <a:ea typeface="Noto Sans CJK SC" pitchFamily="34" charset="-122"/>
                <a:cs typeface="Noto Sans CJK SC" pitchFamily="34" charset="-120"/>
              </a:rPr>
              <a:t>按“理论构建—方案设计—预实验—正式实验筹备—学术交流”主线推进</a:t>
            </a:r>
            <a:endParaRPr lang="en-US" sz="1150" dirty="0"/>
          </a:p>
        </p:txBody>
      </p:sp>
      <p:sp>
        <p:nvSpPr>
          <p:cNvPr id="6" name="Shape 4"/>
          <p:cNvSpPr/>
          <p:nvPr/>
        </p:nvSpPr>
        <p:spPr>
          <a:xfrm>
            <a:off x="530352" y="6419088"/>
            <a:ext cx="11109960" cy="0"/>
          </a:xfrm>
          <a:prstGeom prst="line">
            <a:avLst/>
          </a:prstGeom>
          <a:noFill/>
          <a:ln w="12700">
            <a:solidFill>
              <a:srgbClr val="C8D8E8"/>
            </a:solidFill>
            <a:prstDash val="solid"/>
          </a:ln>
        </p:spPr>
      </p:sp>
      <p:sp>
        <p:nvSpPr>
          <p:cNvPr id="7" name="Text 5"/>
          <p:cNvSpPr/>
          <p:nvPr/>
        </p:nvSpPr>
        <p:spPr>
          <a:xfrm>
            <a:off x="548640" y="6473952"/>
            <a:ext cx="6400800" cy="164592"/>
          </a:xfrm>
          <a:prstGeom prst="rect">
            <a:avLst/>
          </a:prstGeom>
          <a:noFill/>
          <a:ln/>
        </p:spPr>
        <p:txBody>
          <a:bodyPr wrap="square" lIns="0" tIns="0" rIns="0" bIns="0" rtlCol="0" anchor="ctr"/>
          <a:lstStyle/>
          <a:p>
            <a:pPr marL="0" indent="0">
              <a:buNone/>
            </a:pPr>
            <a:r>
              <a:rPr lang="en-US" sz="980" dirty="0">
                <a:solidFill>
                  <a:srgbClr val="5B6F84"/>
                </a:solidFill>
                <a:latin typeface="Noto Sans CJK SC" pitchFamily="34" charset="0"/>
                <a:ea typeface="Noto Sans CJK SC" pitchFamily="34" charset="-122"/>
                <a:cs typeface="Noto Sans CJK SC" pitchFamily="34" charset="-120"/>
              </a:rPr>
              <a:t>大连理工大学大学生创新创业训练计划项目 · 中期检查报告</a:t>
            </a:r>
            <a:endParaRPr lang="en-US" sz="980" dirty="0"/>
          </a:p>
        </p:txBody>
      </p:sp>
      <p:sp>
        <p:nvSpPr>
          <p:cNvPr id="8" name="Shape 6"/>
          <p:cNvSpPr/>
          <p:nvPr/>
        </p:nvSpPr>
        <p:spPr>
          <a:xfrm>
            <a:off x="1005840" y="2880360"/>
            <a:ext cx="9966960" cy="0"/>
          </a:xfrm>
          <a:prstGeom prst="line">
            <a:avLst/>
          </a:prstGeom>
          <a:noFill/>
          <a:ln w="12700">
            <a:solidFill>
              <a:srgbClr val="153E75"/>
            </a:solidFill>
            <a:prstDash val="solid"/>
          </a:ln>
        </p:spPr>
      </p:sp>
      <p:sp>
        <p:nvSpPr>
          <p:cNvPr id="9" name="Text 7"/>
          <p:cNvSpPr/>
          <p:nvPr/>
        </p:nvSpPr>
        <p:spPr>
          <a:xfrm>
            <a:off x="1005840" y="2212848"/>
            <a:ext cx="1417320" cy="274320"/>
          </a:xfrm>
          <a:prstGeom prst="rect">
            <a:avLst/>
          </a:prstGeom>
          <a:noFill/>
          <a:ln/>
        </p:spPr>
        <p:txBody>
          <a:bodyPr wrap="square" lIns="1016" tIns="1016" rIns="1016" bIns="1016" rtlCol="0" anchor="ctr">
            <a:normAutofit/>
          </a:bodyPr>
          <a:lstStyle/>
          <a:p>
            <a:pPr marL="0" indent="0" algn="ctr">
              <a:buNone/>
            </a:pPr>
            <a:r>
              <a:rPr lang="en-US" sz="1250" b="1" dirty="0">
                <a:solidFill>
                  <a:srgbClr val="5B6F84"/>
                </a:solidFill>
                <a:latin typeface="Noto Sans CJK SC" pitchFamily="34" charset="0"/>
                <a:ea typeface="Noto Sans CJK SC" pitchFamily="34" charset="-122"/>
                <a:cs typeface="Noto Sans CJK SC" pitchFamily="34" charset="-120"/>
              </a:rPr>
              <a:t>2025.09—11</a:t>
            </a:r>
            <a:endParaRPr lang="en-US" sz="1250" dirty="0"/>
          </a:p>
        </p:txBody>
      </p:sp>
      <p:sp>
        <p:nvSpPr>
          <p:cNvPr id="10" name="Text 8"/>
          <p:cNvSpPr/>
          <p:nvPr/>
        </p:nvSpPr>
        <p:spPr>
          <a:xfrm>
            <a:off x="1389888" y="2651760"/>
            <a:ext cx="228600" cy="201168"/>
          </a:xfrm>
          <a:prstGeom prst="rect">
            <a:avLst/>
          </a:prstGeom>
          <a:noFill/>
          <a:ln/>
        </p:spPr>
        <p:txBody>
          <a:bodyPr wrap="square" lIns="0" tIns="0" rIns="0" bIns="0" rtlCol="0" anchor="ctr"/>
          <a:lstStyle/>
          <a:p>
            <a:pPr marL="0" indent="0" algn="ctr">
              <a:buNone/>
            </a:pPr>
            <a:r>
              <a:rPr lang="en-US" sz="1800" dirty="0">
                <a:solidFill>
                  <a:srgbClr val="2D8C8C"/>
                </a:solidFill>
                <a:latin typeface="Noto Sans CJK SC" pitchFamily="34" charset="0"/>
                <a:ea typeface="Noto Sans CJK SC" pitchFamily="34" charset="-122"/>
                <a:cs typeface="Noto Sans CJK SC" pitchFamily="34" charset="-120"/>
              </a:rPr>
              <a:t>●</a:t>
            </a:r>
            <a:endParaRPr lang="en-US" sz="1800" dirty="0"/>
          </a:p>
        </p:txBody>
      </p:sp>
      <p:sp>
        <p:nvSpPr>
          <p:cNvPr id="11" name="Text 9"/>
          <p:cNvSpPr/>
          <p:nvPr/>
        </p:nvSpPr>
        <p:spPr>
          <a:xfrm>
            <a:off x="1005840" y="3218688"/>
            <a:ext cx="1417320" cy="347472"/>
          </a:xfrm>
          <a:prstGeom prst="roundRect">
            <a:avLst/>
          </a:prstGeom>
          <a:solidFill>
            <a:srgbClr val="2D8C8C"/>
          </a:solidFill>
          <a:ln>
            <a:solidFill>
              <a:srgbClr val="2D8C8C"/>
            </a:solidFill>
          </a:ln>
        </p:spPr>
        <p:txBody>
          <a:bodyPr wrap="square" lIns="1016" tIns="1016" rIns="1016" bIns="1016" rtlCol="0" anchor="ctr">
            <a:normAutofit/>
          </a:bodyPr>
          <a:lstStyle/>
          <a:p>
            <a:pPr marL="0" indent="0" algn="ctr">
              <a:buNone/>
            </a:pPr>
            <a:r>
              <a:rPr lang="en-US" sz="1520" b="1" dirty="0">
                <a:solidFill>
                  <a:srgbClr val="FFFFFF"/>
                </a:solidFill>
                <a:latin typeface="Noto Sans CJK SC" pitchFamily="34" charset="0"/>
                <a:ea typeface="Noto Sans CJK SC" pitchFamily="34" charset="-122"/>
                <a:cs typeface="Noto Sans CJK SC" pitchFamily="34" charset="-120"/>
              </a:rPr>
              <a:t>理论研究完善</a:t>
            </a:r>
            <a:endParaRPr lang="en-US" sz="1520" dirty="0"/>
          </a:p>
        </p:txBody>
      </p:sp>
      <p:sp>
        <p:nvSpPr>
          <p:cNvPr id="12" name="Text 10"/>
          <p:cNvSpPr/>
          <p:nvPr/>
        </p:nvSpPr>
        <p:spPr>
          <a:xfrm>
            <a:off x="914400" y="3657600"/>
            <a:ext cx="1600200" cy="137160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250" dirty="0">
                <a:solidFill>
                  <a:srgbClr val="18324A"/>
                </a:solidFill>
                <a:latin typeface="Noto Sans CJK SC" pitchFamily="34" charset="0"/>
                <a:ea typeface="Noto Sans CJK SC" pitchFamily="34" charset="-122"/>
                <a:cs typeface="Noto Sans CJK SC" pitchFamily="34" charset="-120"/>
              </a:rPr>
              <a:t>完成近百篇文献系统梳理，明确神经可塑性与运动预激活效应作为理论支撑。</a:t>
            </a:r>
            <a:endParaRPr lang="en-US" sz="1250" dirty="0"/>
          </a:p>
        </p:txBody>
      </p:sp>
      <p:sp>
        <p:nvSpPr>
          <p:cNvPr id="13" name="Text 11"/>
          <p:cNvSpPr/>
          <p:nvPr/>
        </p:nvSpPr>
        <p:spPr>
          <a:xfrm>
            <a:off x="3584448" y="2212848"/>
            <a:ext cx="1417320" cy="274320"/>
          </a:xfrm>
          <a:prstGeom prst="rect">
            <a:avLst/>
          </a:prstGeom>
          <a:noFill/>
          <a:ln/>
        </p:spPr>
        <p:txBody>
          <a:bodyPr wrap="square" lIns="1016" tIns="1016" rIns="1016" bIns="1016" rtlCol="0" anchor="ctr">
            <a:normAutofit/>
          </a:bodyPr>
          <a:lstStyle/>
          <a:p>
            <a:pPr marL="0" indent="0" algn="ctr">
              <a:buNone/>
            </a:pPr>
            <a:r>
              <a:rPr lang="en-US" sz="1250" b="1" dirty="0">
                <a:solidFill>
                  <a:srgbClr val="5B6F84"/>
                </a:solidFill>
                <a:latin typeface="Noto Sans CJK SC" pitchFamily="34" charset="0"/>
                <a:ea typeface="Noto Sans CJK SC" pitchFamily="34" charset="-122"/>
                <a:cs typeface="Noto Sans CJK SC" pitchFamily="34" charset="-120"/>
              </a:rPr>
              <a:t>2025.11—12</a:t>
            </a:r>
            <a:endParaRPr lang="en-US" sz="1250" dirty="0"/>
          </a:p>
        </p:txBody>
      </p:sp>
      <p:sp>
        <p:nvSpPr>
          <p:cNvPr id="14" name="Text 12"/>
          <p:cNvSpPr/>
          <p:nvPr/>
        </p:nvSpPr>
        <p:spPr>
          <a:xfrm>
            <a:off x="3968496" y="2651760"/>
            <a:ext cx="228600" cy="201168"/>
          </a:xfrm>
          <a:prstGeom prst="rect">
            <a:avLst/>
          </a:prstGeom>
          <a:noFill/>
          <a:ln/>
        </p:spPr>
        <p:txBody>
          <a:bodyPr wrap="square" lIns="0" tIns="0" rIns="0" bIns="0" rtlCol="0" anchor="ctr"/>
          <a:lstStyle/>
          <a:p>
            <a:pPr marL="0" indent="0" algn="ctr">
              <a:buNone/>
            </a:pPr>
            <a:r>
              <a:rPr lang="en-US" sz="1800" dirty="0">
                <a:solidFill>
                  <a:srgbClr val="2D8C8C"/>
                </a:solidFill>
                <a:latin typeface="Noto Sans CJK SC" pitchFamily="34" charset="0"/>
                <a:ea typeface="Noto Sans CJK SC" pitchFamily="34" charset="-122"/>
                <a:cs typeface="Noto Sans CJK SC" pitchFamily="34" charset="-120"/>
              </a:rPr>
              <a:t>●</a:t>
            </a:r>
            <a:endParaRPr lang="en-US" sz="1800" dirty="0"/>
          </a:p>
        </p:txBody>
      </p:sp>
      <p:sp>
        <p:nvSpPr>
          <p:cNvPr id="15" name="Text 13"/>
          <p:cNvSpPr/>
          <p:nvPr/>
        </p:nvSpPr>
        <p:spPr>
          <a:xfrm>
            <a:off x="3584448" y="3218688"/>
            <a:ext cx="1417320" cy="347472"/>
          </a:xfrm>
          <a:prstGeom prst="roundRect">
            <a:avLst/>
          </a:prstGeom>
          <a:solidFill>
            <a:srgbClr val="2D8C8C"/>
          </a:solidFill>
          <a:ln>
            <a:solidFill>
              <a:srgbClr val="2D8C8C"/>
            </a:solidFill>
          </a:ln>
        </p:spPr>
        <p:txBody>
          <a:bodyPr wrap="square" lIns="1016" tIns="1016" rIns="1016" bIns="1016" rtlCol="0" anchor="ctr">
            <a:normAutofit/>
          </a:bodyPr>
          <a:lstStyle/>
          <a:p>
            <a:pPr marL="0" indent="0" algn="ctr">
              <a:buNone/>
            </a:pPr>
            <a:r>
              <a:rPr lang="en-US" sz="1520" b="1" dirty="0">
                <a:solidFill>
                  <a:srgbClr val="FFFFFF"/>
                </a:solidFill>
                <a:latin typeface="Noto Sans CJK SC" pitchFamily="34" charset="0"/>
                <a:ea typeface="Noto Sans CJK SC" pitchFamily="34" charset="-122"/>
                <a:cs typeface="Noto Sans CJK SC" pitchFamily="34" charset="-120"/>
              </a:rPr>
              <a:t>预实验实施</a:t>
            </a:r>
            <a:endParaRPr lang="en-US" sz="1520" dirty="0"/>
          </a:p>
        </p:txBody>
      </p:sp>
      <p:sp>
        <p:nvSpPr>
          <p:cNvPr id="16" name="Text 14"/>
          <p:cNvSpPr/>
          <p:nvPr/>
        </p:nvSpPr>
        <p:spPr>
          <a:xfrm>
            <a:off x="3493008" y="3657600"/>
            <a:ext cx="1600200" cy="137160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250" dirty="0">
                <a:solidFill>
                  <a:srgbClr val="18324A"/>
                </a:solidFill>
                <a:latin typeface="Noto Sans CJK SC" pitchFamily="34" charset="0"/>
                <a:ea typeface="Noto Sans CJK SC" pitchFamily="34" charset="-122"/>
                <a:cs typeface="Noto Sans CJK SC" pitchFamily="34" charset="-120"/>
              </a:rPr>
              <a:t>依托实验室现有动感单车与心率设备，完成12名大学生线下模拟训练。</a:t>
            </a:r>
            <a:endParaRPr lang="en-US" sz="1250" dirty="0"/>
          </a:p>
        </p:txBody>
      </p:sp>
      <p:sp>
        <p:nvSpPr>
          <p:cNvPr id="17" name="Text 15"/>
          <p:cNvSpPr/>
          <p:nvPr/>
        </p:nvSpPr>
        <p:spPr>
          <a:xfrm>
            <a:off x="6163056" y="2212848"/>
            <a:ext cx="1417320" cy="274320"/>
          </a:xfrm>
          <a:prstGeom prst="rect">
            <a:avLst/>
          </a:prstGeom>
          <a:noFill/>
          <a:ln/>
        </p:spPr>
        <p:txBody>
          <a:bodyPr wrap="square" lIns="1016" tIns="1016" rIns="1016" bIns="1016" rtlCol="0" anchor="ctr">
            <a:normAutofit/>
          </a:bodyPr>
          <a:lstStyle/>
          <a:p>
            <a:pPr marL="0" indent="0" algn="ctr">
              <a:buNone/>
            </a:pPr>
            <a:r>
              <a:rPr lang="en-US" sz="1250" b="1" dirty="0">
                <a:solidFill>
                  <a:srgbClr val="5B6F84"/>
                </a:solidFill>
                <a:latin typeface="Noto Sans CJK SC" pitchFamily="34" charset="0"/>
                <a:ea typeface="Noto Sans CJK SC" pitchFamily="34" charset="-122"/>
                <a:cs typeface="Noto Sans CJK SC" pitchFamily="34" charset="-120"/>
              </a:rPr>
              <a:t>2025.12—2026.03</a:t>
            </a:r>
            <a:endParaRPr lang="en-US" sz="1250" dirty="0"/>
          </a:p>
        </p:txBody>
      </p:sp>
      <p:sp>
        <p:nvSpPr>
          <p:cNvPr id="18" name="Text 16"/>
          <p:cNvSpPr/>
          <p:nvPr/>
        </p:nvSpPr>
        <p:spPr>
          <a:xfrm>
            <a:off x="6547104" y="2651760"/>
            <a:ext cx="228600" cy="201168"/>
          </a:xfrm>
          <a:prstGeom prst="rect">
            <a:avLst/>
          </a:prstGeom>
          <a:noFill/>
          <a:ln/>
        </p:spPr>
        <p:txBody>
          <a:bodyPr wrap="square" lIns="0" tIns="0" rIns="0" bIns="0" rtlCol="0" anchor="ctr"/>
          <a:lstStyle/>
          <a:p>
            <a:pPr marL="0" indent="0" algn="ctr">
              <a:buNone/>
            </a:pPr>
            <a:r>
              <a:rPr lang="en-US" sz="1800" dirty="0">
                <a:solidFill>
                  <a:srgbClr val="D8902F"/>
                </a:solidFill>
                <a:latin typeface="Noto Sans CJK SC" pitchFamily="34" charset="0"/>
                <a:ea typeface="Noto Sans CJK SC" pitchFamily="34" charset="-122"/>
                <a:cs typeface="Noto Sans CJK SC" pitchFamily="34" charset="-120"/>
              </a:rPr>
              <a:t>●</a:t>
            </a:r>
            <a:endParaRPr lang="en-US" sz="1800" dirty="0"/>
          </a:p>
        </p:txBody>
      </p:sp>
      <p:sp>
        <p:nvSpPr>
          <p:cNvPr id="19" name="Text 17"/>
          <p:cNvSpPr/>
          <p:nvPr/>
        </p:nvSpPr>
        <p:spPr>
          <a:xfrm>
            <a:off x="6163056" y="3218688"/>
            <a:ext cx="1417320" cy="347472"/>
          </a:xfrm>
          <a:prstGeom prst="roundRect">
            <a:avLst/>
          </a:prstGeom>
          <a:solidFill>
            <a:srgbClr val="D8902F"/>
          </a:solidFill>
          <a:ln>
            <a:solidFill>
              <a:srgbClr val="D8902F"/>
            </a:solidFill>
          </a:ln>
        </p:spPr>
        <p:txBody>
          <a:bodyPr wrap="square" lIns="1016" tIns="1016" rIns="1016" bIns="1016" rtlCol="0" anchor="ctr">
            <a:normAutofit/>
          </a:bodyPr>
          <a:lstStyle/>
          <a:p>
            <a:pPr marL="0" indent="0" algn="ctr">
              <a:buNone/>
            </a:pPr>
            <a:r>
              <a:rPr lang="en-US" sz="1520" b="1" dirty="0">
                <a:solidFill>
                  <a:srgbClr val="FFFFFF"/>
                </a:solidFill>
                <a:latin typeface="Noto Sans CJK SC" pitchFamily="34" charset="0"/>
                <a:ea typeface="Noto Sans CJK SC" pitchFamily="34" charset="-122"/>
                <a:cs typeface="Noto Sans CJK SC" pitchFamily="34" charset="-120"/>
              </a:rPr>
              <a:t>正式实验筹备</a:t>
            </a:r>
            <a:endParaRPr lang="en-US" sz="1520" dirty="0"/>
          </a:p>
        </p:txBody>
      </p:sp>
      <p:sp>
        <p:nvSpPr>
          <p:cNvPr id="20" name="Text 18"/>
          <p:cNvSpPr/>
          <p:nvPr/>
        </p:nvSpPr>
        <p:spPr>
          <a:xfrm>
            <a:off x="6071616" y="3657600"/>
            <a:ext cx="1600200" cy="137160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250" dirty="0">
                <a:solidFill>
                  <a:srgbClr val="18324A"/>
                </a:solidFill>
                <a:latin typeface="Noto Sans CJK SC" pitchFamily="34" charset="0"/>
                <a:ea typeface="Noto Sans CJK SC" pitchFamily="34" charset="-122"/>
                <a:cs typeface="Noto Sans CJK SC" pitchFamily="34" charset="-120"/>
              </a:rPr>
              <a:t>完成招募宣传、初筛、部分基线采集与伦理报备前期准备。</a:t>
            </a:r>
            <a:endParaRPr lang="en-US" sz="1250" dirty="0"/>
          </a:p>
        </p:txBody>
      </p:sp>
      <p:sp>
        <p:nvSpPr>
          <p:cNvPr id="21" name="Text 19"/>
          <p:cNvSpPr/>
          <p:nvPr/>
        </p:nvSpPr>
        <p:spPr>
          <a:xfrm>
            <a:off x="8741664" y="2212848"/>
            <a:ext cx="1417320" cy="274320"/>
          </a:xfrm>
          <a:prstGeom prst="rect">
            <a:avLst/>
          </a:prstGeom>
          <a:noFill/>
          <a:ln/>
        </p:spPr>
        <p:txBody>
          <a:bodyPr wrap="square" lIns="1016" tIns="1016" rIns="1016" bIns="1016" rtlCol="0" anchor="ctr">
            <a:normAutofit/>
          </a:bodyPr>
          <a:lstStyle/>
          <a:p>
            <a:pPr marL="0" indent="0" algn="ctr">
              <a:buNone/>
            </a:pPr>
            <a:r>
              <a:rPr lang="en-US" sz="1250" b="1" dirty="0">
                <a:solidFill>
                  <a:srgbClr val="5B6F84"/>
                </a:solidFill>
                <a:latin typeface="Noto Sans CJK SC" pitchFamily="34" charset="0"/>
                <a:ea typeface="Noto Sans CJK SC" pitchFamily="34" charset="-122"/>
                <a:cs typeface="Noto Sans CJK SC" pitchFamily="34" charset="-120"/>
              </a:rPr>
              <a:t>2025.12</a:t>
            </a:r>
            <a:endParaRPr lang="en-US" sz="1250" dirty="0"/>
          </a:p>
        </p:txBody>
      </p:sp>
      <p:sp>
        <p:nvSpPr>
          <p:cNvPr id="22" name="Text 20"/>
          <p:cNvSpPr/>
          <p:nvPr/>
        </p:nvSpPr>
        <p:spPr>
          <a:xfrm>
            <a:off x="9125712" y="2651760"/>
            <a:ext cx="228600" cy="201168"/>
          </a:xfrm>
          <a:prstGeom prst="rect">
            <a:avLst/>
          </a:prstGeom>
          <a:noFill/>
          <a:ln/>
        </p:spPr>
        <p:txBody>
          <a:bodyPr wrap="square" lIns="0" tIns="0" rIns="0" bIns="0" rtlCol="0" anchor="ctr"/>
          <a:lstStyle/>
          <a:p>
            <a:pPr marL="0" indent="0" algn="ctr">
              <a:buNone/>
            </a:pPr>
            <a:r>
              <a:rPr lang="en-US" sz="1800" dirty="0">
                <a:solidFill>
                  <a:srgbClr val="153E75"/>
                </a:solidFill>
                <a:latin typeface="Noto Sans CJK SC" pitchFamily="34" charset="0"/>
                <a:ea typeface="Noto Sans CJK SC" pitchFamily="34" charset="-122"/>
                <a:cs typeface="Noto Sans CJK SC" pitchFamily="34" charset="-120"/>
              </a:rPr>
              <a:t>●</a:t>
            </a:r>
            <a:endParaRPr lang="en-US" sz="1800" dirty="0"/>
          </a:p>
        </p:txBody>
      </p:sp>
      <p:sp>
        <p:nvSpPr>
          <p:cNvPr id="23" name="Text 21"/>
          <p:cNvSpPr/>
          <p:nvPr/>
        </p:nvSpPr>
        <p:spPr>
          <a:xfrm>
            <a:off x="8741664" y="3218688"/>
            <a:ext cx="1417320" cy="347472"/>
          </a:xfrm>
          <a:prstGeom prst="roundRect">
            <a:avLst/>
          </a:prstGeom>
          <a:solidFill>
            <a:srgbClr val="153E75"/>
          </a:solidFill>
          <a:ln>
            <a:solidFill>
              <a:srgbClr val="153E75"/>
            </a:solidFill>
          </a:ln>
        </p:spPr>
        <p:txBody>
          <a:bodyPr wrap="square" lIns="1016" tIns="1016" rIns="1016" bIns="1016" rtlCol="0" anchor="ctr">
            <a:normAutofit/>
          </a:bodyPr>
          <a:lstStyle/>
          <a:p>
            <a:pPr marL="0" indent="0" algn="ctr">
              <a:buNone/>
            </a:pPr>
            <a:r>
              <a:rPr lang="en-US" sz="1520" b="1" dirty="0">
                <a:solidFill>
                  <a:srgbClr val="FFFFFF"/>
                </a:solidFill>
                <a:latin typeface="Noto Sans CJK SC" pitchFamily="34" charset="0"/>
                <a:ea typeface="Noto Sans CJK SC" pitchFamily="34" charset="-122"/>
                <a:cs typeface="Noto Sans CJK SC" pitchFamily="34" charset="-120"/>
              </a:rPr>
              <a:t>学术交流</a:t>
            </a:r>
            <a:endParaRPr lang="en-US" sz="1520" dirty="0"/>
          </a:p>
        </p:txBody>
      </p:sp>
      <p:sp>
        <p:nvSpPr>
          <p:cNvPr id="24" name="Text 22"/>
          <p:cNvSpPr/>
          <p:nvPr/>
        </p:nvSpPr>
        <p:spPr>
          <a:xfrm>
            <a:off x="8650224" y="3657600"/>
            <a:ext cx="1600200" cy="137160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250" dirty="0">
                <a:solidFill>
                  <a:srgbClr val="18324A"/>
                </a:solidFill>
                <a:latin typeface="Noto Sans CJK SC" pitchFamily="34" charset="0"/>
                <a:ea typeface="Noto Sans CJK SC" pitchFamily="34" charset="-122"/>
                <a:cs typeface="Noto Sans CJK SC" pitchFamily="34" charset="-120"/>
              </a:rPr>
              <a:t>完成会议论文撰写，并在学术会议开展口头报告交流。</a:t>
            </a:r>
            <a:endParaRPr lang="en-US" sz="1250" dirty="0"/>
          </a:p>
        </p:txBody>
      </p:sp>
      <p:sp>
        <p:nvSpPr>
          <p:cNvPr id="25" name="Text 23"/>
          <p:cNvSpPr/>
          <p:nvPr/>
        </p:nvSpPr>
        <p:spPr>
          <a:xfrm>
            <a:off x="713232" y="5577840"/>
            <a:ext cx="1828800" cy="310896"/>
          </a:xfrm>
          <a:prstGeom prst="roundRect">
            <a:avLst/>
          </a:prstGeom>
          <a:solidFill>
            <a:srgbClr val="EAF4FF"/>
          </a:solidFill>
          <a:ln>
            <a:solidFill>
              <a:srgbClr val="B8D7F5"/>
            </a:solidFill>
          </a:ln>
        </p:spPr>
        <p:txBody>
          <a:bodyPr wrap="square" lIns="1016" tIns="1016" rIns="1016" bIns="1016" rtlCol="0" anchor="ctr">
            <a:normAutofit/>
          </a:bodyPr>
          <a:lstStyle/>
          <a:p>
            <a:pPr marL="0" indent="0" algn="ctr">
              <a:buNone/>
            </a:pPr>
            <a:r>
              <a:rPr lang="en-US" sz="1600" b="1" dirty="0">
                <a:solidFill>
                  <a:srgbClr val="153E75"/>
                </a:solidFill>
                <a:latin typeface="Noto Sans CJK SC" pitchFamily="34" charset="0"/>
                <a:ea typeface="Noto Sans CJK SC" pitchFamily="34" charset="-122"/>
                <a:cs typeface="Noto Sans CJK SC" pitchFamily="34" charset="-120"/>
              </a:rPr>
              <a:t>中期完成度</a:t>
            </a:r>
            <a:endParaRPr lang="en-US" sz="1600" dirty="0"/>
          </a:p>
        </p:txBody>
      </p:sp>
      <p:sp>
        <p:nvSpPr>
          <p:cNvPr id="26" name="Text 24"/>
          <p:cNvSpPr/>
          <p:nvPr/>
        </p:nvSpPr>
        <p:spPr>
          <a:xfrm>
            <a:off x="713232" y="5925312"/>
            <a:ext cx="10972800" cy="384048"/>
          </a:xfrm>
          <a:prstGeom prst="rect">
            <a:avLst/>
          </a:prstGeom>
          <a:noFill/>
          <a:ln/>
        </p:spPr>
        <p:txBody>
          <a:bodyPr wrap="square" lIns="1016" tIns="1016" rIns="1016" bIns="1016" rtlCol="0" anchor="ctr">
            <a:normAutofit/>
          </a:bodyPr>
          <a:lstStyle/>
          <a:p>
            <a:pPr marL="0" indent="0" algn="l">
              <a:buNone/>
            </a:pPr>
            <a:r>
              <a:rPr lang="en-US" sz="1750" dirty="0">
                <a:solidFill>
                  <a:srgbClr val="18324A"/>
                </a:solidFill>
                <a:latin typeface="Noto Sans CJK SC" pitchFamily="34" charset="0"/>
                <a:ea typeface="Noto Sans CJK SC" pitchFamily="34" charset="-122"/>
                <a:cs typeface="Noto Sans CJK SC" pitchFamily="34" charset="-120"/>
              </a:rPr>
              <a:t>理论体系、系统方案与研究设计已基本成形；项目正由“概念与设计阶段”向“正式实验与系统开发阶段”过渡。</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292608"/>
            <a:ext cx="566928" cy="256032"/>
          </a:xfrm>
          <a:prstGeom prst="roundRect">
            <a:avLst/>
          </a:prstGeom>
          <a:solidFill>
            <a:srgbClr val="153E75"/>
          </a:solidFill>
          <a:ln>
            <a:solidFill>
              <a:srgbClr val="153E75"/>
            </a:solid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04</a:t>
            </a:r>
            <a:endParaRPr lang="en-US" sz="1400" dirty="0"/>
          </a:p>
        </p:txBody>
      </p:sp>
      <p:sp>
        <p:nvSpPr>
          <p:cNvPr id="3" name="Text 1"/>
          <p:cNvSpPr/>
          <p:nvPr/>
        </p:nvSpPr>
        <p:spPr>
          <a:xfrm>
            <a:off x="1234440" y="310896"/>
            <a:ext cx="9692640" cy="310896"/>
          </a:xfrm>
          <a:prstGeom prst="rect">
            <a:avLst/>
          </a:prstGeom>
          <a:noFill/>
          <a:ln/>
        </p:spPr>
        <p:txBody>
          <a:bodyPr wrap="square" lIns="0" tIns="0" rIns="0" bIns="0" rtlCol="0" anchor="ctr"/>
          <a:lstStyle/>
          <a:p>
            <a:pPr marL="0" indent="0">
              <a:buNone/>
            </a:pPr>
            <a:r>
              <a:rPr lang="en-US" sz="2300" b="1" dirty="0">
                <a:solidFill>
                  <a:srgbClr val="153E75"/>
                </a:solidFill>
                <a:latin typeface="Noto Sans CJK SC" pitchFamily="34" charset="0"/>
                <a:ea typeface="Noto Sans CJK SC" pitchFamily="34" charset="-122"/>
                <a:cs typeface="Noto Sans CJK SC" pitchFamily="34" charset="-120"/>
              </a:rPr>
              <a:t>核心成果聚焦：会议论文与学术交流</a:t>
            </a:r>
            <a:endParaRPr lang="en-US" sz="2300" dirty="0"/>
          </a:p>
        </p:txBody>
      </p:sp>
      <p:sp>
        <p:nvSpPr>
          <p:cNvPr id="4" name="Shape 2"/>
          <p:cNvSpPr/>
          <p:nvPr/>
        </p:nvSpPr>
        <p:spPr>
          <a:xfrm>
            <a:off x="530352" y="749808"/>
            <a:ext cx="11109960" cy="0"/>
          </a:xfrm>
          <a:prstGeom prst="line">
            <a:avLst/>
          </a:prstGeom>
          <a:noFill/>
          <a:ln w="12700">
            <a:solidFill>
              <a:srgbClr val="153E75"/>
            </a:solidFill>
            <a:prstDash val="solid"/>
          </a:ln>
        </p:spPr>
      </p:sp>
      <p:sp>
        <p:nvSpPr>
          <p:cNvPr id="5" name="Text 3"/>
          <p:cNvSpPr/>
          <p:nvPr/>
        </p:nvSpPr>
        <p:spPr>
          <a:xfrm>
            <a:off x="548640" y="822960"/>
            <a:ext cx="10972800" cy="210312"/>
          </a:xfrm>
          <a:prstGeom prst="rect">
            <a:avLst/>
          </a:prstGeom>
          <a:noFill/>
          <a:ln/>
        </p:spPr>
        <p:txBody>
          <a:bodyPr wrap="square" lIns="0" tIns="0" rIns="0" bIns="0" rtlCol="0" anchor="ctr"/>
          <a:lstStyle/>
          <a:p>
            <a:pPr marL="0" indent="0">
              <a:buNone/>
            </a:pPr>
            <a:r>
              <a:rPr lang="en-US" sz="1150" dirty="0">
                <a:solidFill>
                  <a:srgbClr val="5B6F84"/>
                </a:solidFill>
                <a:latin typeface="Noto Sans CJK SC" pitchFamily="34" charset="0"/>
                <a:ea typeface="Noto Sans CJK SC" pitchFamily="34" charset="-122"/>
                <a:cs typeface="Noto Sans CJK SC" pitchFamily="34" charset="-120"/>
              </a:rPr>
              <a:t>本阶段最具代表性的成果，是围绕项目核心思想形成论文并完成学术会议口头报告</a:t>
            </a:r>
            <a:endParaRPr lang="en-US" sz="1150" dirty="0"/>
          </a:p>
        </p:txBody>
      </p:sp>
      <p:sp>
        <p:nvSpPr>
          <p:cNvPr id="6" name="Shape 4"/>
          <p:cNvSpPr/>
          <p:nvPr/>
        </p:nvSpPr>
        <p:spPr>
          <a:xfrm>
            <a:off x="530352" y="6419088"/>
            <a:ext cx="11109960" cy="0"/>
          </a:xfrm>
          <a:prstGeom prst="line">
            <a:avLst/>
          </a:prstGeom>
          <a:noFill/>
          <a:ln w="12700">
            <a:solidFill>
              <a:srgbClr val="C8D8E8"/>
            </a:solidFill>
            <a:prstDash val="solid"/>
          </a:ln>
        </p:spPr>
      </p:sp>
      <p:sp>
        <p:nvSpPr>
          <p:cNvPr id="7" name="Text 5"/>
          <p:cNvSpPr/>
          <p:nvPr/>
        </p:nvSpPr>
        <p:spPr>
          <a:xfrm>
            <a:off x="548640" y="6473952"/>
            <a:ext cx="6400800" cy="164592"/>
          </a:xfrm>
          <a:prstGeom prst="rect">
            <a:avLst/>
          </a:prstGeom>
          <a:noFill/>
          <a:ln/>
        </p:spPr>
        <p:txBody>
          <a:bodyPr wrap="square" lIns="0" tIns="0" rIns="0" bIns="0" rtlCol="0" anchor="ctr"/>
          <a:lstStyle/>
          <a:p>
            <a:pPr marL="0" indent="0">
              <a:buNone/>
            </a:pPr>
            <a:r>
              <a:rPr lang="en-US" sz="980" dirty="0">
                <a:solidFill>
                  <a:srgbClr val="5B6F84"/>
                </a:solidFill>
                <a:latin typeface="Noto Sans CJK SC" pitchFamily="34" charset="0"/>
                <a:ea typeface="Noto Sans CJK SC" pitchFamily="34" charset="-122"/>
                <a:cs typeface="Noto Sans CJK SC" pitchFamily="34" charset="-120"/>
              </a:rPr>
              <a:t>大连理工大学大学生创新创业训练计划项目 · 中期检查报告</a:t>
            </a:r>
            <a:endParaRPr lang="en-US" sz="980" dirty="0"/>
          </a:p>
        </p:txBody>
      </p:sp>
      <p:sp>
        <p:nvSpPr>
          <p:cNvPr id="8" name="Text 6"/>
          <p:cNvSpPr/>
          <p:nvPr/>
        </p:nvSpPr>
        <p:spPr>
          <a:xfrm>
            <a:off x="713232" y="1234440"/>
            <a:ext cx="1280160" cy="310896"/>
          </a:xfrm>
          <a:prstGeom prst="roundRect">
            <a:avLst/>
          </a:prstGeom>
          <a:solidFill>
            <a:srgbClr val="EAF4FF"/>
          </a:solidFill>
          <a:ln>
            <a:solidFill>
              <a:srgbClr val="B8D7F5"/>
            </a:solidFill>
          </a:ln>
        </p:spPr>
        <p:txBody>
          <a:bodyPr wrap="square" lIns="1016" tIns="1016" rIns="1016" bIns="1016" rtlCol="0" anchor="ctr">
            <a:normAutofit/>
          </a:bodyPr>
          <a:lstStyle/>
          <a:p>
            <a:pPr marL="0" indent="0" algn="ctr">
              <a:buNone/>
            </a:pPr>
            <a:r>
              <a:rPr lang="en-US" sz="1600" b="1" dirty="0">
                <a:solidFill>
                  <a:srgbClr val="153E75"/>
                </a:solidFill>
                <a:latin typeface="Noto Sans CJK SC" pitchFamily="34" charset="0"/>
                <a:ea typeface="Noto Sans CJK SC" pitchFamily="34" charset="-122"/>
                <a:cs typeface="Noto Sans CJK SC" pitchFamily="34" charset="-120"/>
              </a:rPr>
              <a:t>论文题目</a:t>
            </a:r>
            <a:endParaRPr lang="en-US" sz="1600" dirty="0"/>
          </a:p>
        </p:txBody>
      </p:sp>
      <p:sp>
        <p:nvSpPr>
          <p:cNvPr id="9" name="Text 7"/>
          <p:cNvSpPr/>
          <p:nvPr/>
        </p:nvSpPr>
        <p:spPr>
          <a:xfrm>
            <a:off x="713232" y="1664208"/>
            <a:ext cx="5349240" cy="804672"/>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2200" b="1" dirty="0">
                <a:solidFill>
                  <a:srgbClr val="153E75"/>
                </a:solidFill>
                <a:latin typeface="Noto Sans CJK SC" pitchFamily="34" charset="0"/>
                <a:ea typeface="Noto Sans CJK SC" pitchFamily="34" charset="-122"/>
                <a:cs typeface="Noto Sans CJK SC" pitchFamily="34" charset="-120"/>
              </a:rPr>
              <a:t>《基于虚拟现实的大学生身心脑协同训练：理论构建与应用展望》</a:t>
            </a:r>
            <a:endParaRPr lang="en-US" sz="2200" dirty="0"/>
          </a:p>
        </p:txBody>
      </p:sp>
      <p:sp>
        <p:nvSpPr>
          <p:cNvPr id="10" name="Text 8"/>
          <p:cNvSpPr/>
          <p:nvPr/>
        </p:nvSpPr>
        <p:spPr>
          <a:xfrm>
            <a:off x="713232" y="2697480"/>
            <a:ext cx="1554480" cy="310896"/>
          </a:xfrm>
          <a:prstGeom prst="roundRect">
            <a:avLst/>
          </a:prstGeom>
          <a:solidFill>
            <a:srgbClr val="E9F7F3"/>
          </a:solidFill>
          <a:ln>
            <a:solidFill>
              <a:srgbClr val="B7E2D3"/>
            </a:solidFill>
          </a:ln>
        </p:spPr>
        <p:txBody>
          <a:bodyPr wrap="square" lIns="1016" tIns="1016" rIns="1016" bIns="1016" rtlCol="0" anchor="ctr">
            <a:normAutofit/>
          </a:bodyPr>
          <a:lstStyle/>
          <a:p>
            <a:pPr marL="0" indent="0" algn="ctr">
              <a:buNone/>
            </a:pPr>
            <a:r>
              <a:rPr lang="en-US" sz="1600" b="1" dirty="0">
                <a:solidFill>
                  <a:srgbClr val="2D8C8C"/>
                </a:solidFill>
                <a:latin typeface="Noto Sans CJK SC" pitchFamily="34" charset="0"/>
                <a:ea typeface="Noto Sans CJK SC" pitchFamily="34" charset="-122"/>
                <a:cs typeface="Noto Sans CJK SC" pitchFamily="34" charset="-120"/>
              </a:rPr>
              <a:t>论文内容贡献</a:t>
            </a:r>
            <a:endParaRPr lang="en-US" sz="1600" dirty="0"/>
          </a:p>
        </p:txBody>
      </p:sp>
      <p:sp>
        <p:nvSpPr>
          <p:cNvPr id="11" name="Text 9"/>
          <p:cNvSpPr/>
          <p:nvPr/>
        </p:nvSpPr>
        <p:spPr>
          <a:xfrm>
            <a:off x="822960" y="3154680"/>
            <a:ext cx="5074920" cy="735838"/>
          </a:xfrm>
          <a:prstGeom prst="rect">
            <a:avLst/>
          </a:prstGeom>
          <a:noFill/>
          <a:ln/>
        </p:spPr>
        <p:txBody>
          <a:bodyPr wrap="square" lIns="0" tIns="0" rIns="0" bIns="0" rtlCol="0" anchor="ctr">
            <a:normAutofit/>
          </a:bodyPr>
          <a:lstStyle/>
          <a:p>
            <a:pPr marL="0" indent="0">
              <a:buNone/>
            </a:pPr>
            <a:r>
              <a:rPr lang="en-US" sz="1580" dirty="0">
                <a:solidFill>
                  <a:srgbClr val="18324A"/>
                </a:solidFill>
                <a:latin typeface="Noto Sans CJK SC" pitchFamily="34" charset="0"/>
                <a:ea typeface="Noto Sans CJK SC" pitchFamily="34" charset="-122"/>
                <a:cs typeface="Noto Sans CJK SC" pitchFamily="34" charset="-120"/>
              </a:rPr>
              <a:t>• 提出“运动负荷—生理状态—认知任务难度”闭环自适应逻辑；</a:t>
            </a:r>
            <a:endParaRPr lang="en-US" sz="1580" dirty="0"/>
          </a:p>
        </p:txBody>
      </p:sp>
      <p:sp>
        <p:nvSpPr>
          <p:cNvPr id="12" name="Text 10"/>
          <p:cNvSpPr/>
          <p:nvPr/>
        </p:nvSpPr>
        <p:spPr>
          <a:xfrm>
            <a:off x="822960" y="3963670"/>
            <a:ext cx="5074920" cy="735838"/>
          </a:xfrm>
          <a:prstGeom prst="rect">
            <a:avLst/>
          </a:prstGeom>
          <a:noFill/>
          <a:ln/>
        </p:spPr>
        <p:txBody>
          <a:bodyPr wrap="square" lIns="0" tIns="0" rIns="0" bIns="0" rtlCol="0" anchor="ctr">
            <a:normAutofit/>
          </a:bodyPr>
          <a:lstStyle/>
          <a:p>
            <a:pPr marL="0" indent="0">
              <a:buNone/>
            </a:pPr>
            <a:r>
              <a:rPr lang="en-US" sz="1580" dirty="0">
                <a:solidFill>
                  <a:srgbClr val="18324A"/>
                </a:solidFill>
                <a:latin typeface="Noto Sans CJK SC" pitchFamily="34" charset="0"/>
                <a:ea typeface="Noto Sans CJK SC" pitchFamily="34" charset="-122"/>
                <a:cs typeface="Noto Sans CJK SC" pitchFamily="34" charset="-120"/>
              </a:rPr>
              <a:t>• 系统阐述 VR 身心脑协同训练的理论基础、系统构成与应用展望；</a:t>
            </a:r>
            <a:endParaRPr lang="en-US" sz="1580" dirty="0"/>
          </a:p>
        </p:txBody>
      </p:sp>
      <p:sp>
        <p:nvSpPr>
          <p:cNvPr id="13" name="Text 11"/>
          <p:cNvSpPr/>
          <p:nvPr/>
        </p:nvSpPr>
        <p:spPr>
          <a:xfrm>
            <a:off x="822960" y="4772660"/>
            <a:ext cx="5074920" cy="505079"/>
          </a:xfrm>
          <a:prstGeom prst="rect">
            <a:avLst/>
          </a:prstGeom>
          <a:noFill/>
          <a:ln/>
        </p:spPr>
        <p:txBody>
          <a:bodyPr wrap="square" lIns="0" tIns="0" rIns="0" bIns="0" rtlCol="0" anchor="ctr">
            <a:normAutofit/>
          </a:bodyPr>
          <a:lstStyle/>
          <a:p>
            <a:pPr marL="0" indent="0">
              <a:buNone/>
            </a:pPr>
            <a:r>
              <a:rPr lang="en-US" sz="1580" dirty="0">
                <a:solidFill>
                  <a:srgbClr val="18324A"/>
                </a:solidFill>
                <a:latin typeface="Noto Sans CJK SC" pitchFamily="34" charset="0"/>
                <a:ea typeface="Noto Sans CJK SC" pitchFamily="34" charset="-122"/>
                <a:cs typeface="Noto Sans CJK SC" pitchFamily="34" charset="-120"/>
              </a:rPr>
              <a:t>• 为后续正式实验与系统开发提供科学论证与设计依据。</a:t>
            </a:r>
            <a:endParaRPr lang="en-US" sz="1580" dirty="0"/>
          </a:p>
        </p:txBody>
      </p:sp>
      <p:sp>
        <p:nvSpPr>
          <p:cNvPr id="14" name="Text 12"/>
          <p:cNvSpPr/>
          <p:nvPr/>
        </p:nvSpPr>
        <p:spPr>
          <a:xfrm>
            <a:off x="6492240" y="1234440"/>
            <a:ext cx="1920240" cy="310896"/>
          </a:xfrm>
          <a:prstGeom prst="roundRect">
            <a:avLst/>
          </a:prstGeom>
          <a:solidFill>
            <a:srgbClr val="EAF4FF"/>
          </a:solidFill>
          <a:ln>
            <a:solidFill>
              <a:srgbClr val="B8D7F5"/>
            </a:solidFill>
          </a:ln>
        </p:spPr>
        <p:txBody>
          <a:bodyPr wrap="square" lIns="1016" tIns="1016" rIns="1016" bIns="1016" rtlCol="0" anchor="ctr">
            <a:normAutofit/>
          </a:bodyPr>
          <a:lstStyle/>
          <a:p>
            <a:pPr marL="0" indent="0" algn="ctr">
              <a:buNone/>
            </a:pPr>
            <a:r>
              <a:rPr lang="en-US" sz="1600" b="1" dirty="0">
                <a:solidFill>
                  <a:srgbClr val="153E75"/>
                </a:solidFill>
                <a:latin typeface="Noto Sans CJK SC" pitchFamily="34" charset="0"/>
                <a:ea typeface="Noto Sans CJK SC" pitchFamily="34" charset="-122"/>
                <a:cs typeface="Noto Sans CJK SC" pitchFamily="34" charset="-120"/>
              </a:rPr>
              <a:t>学术交流情况</a:t>
            </a:r>
            <a:endParaRPr lang="en-US" sz="1600" dirty="0"/>
          </a:p>
        </p:txBody>
      </p:sp>
      <p:sp>
        <p:nvSpPr>
          <p:cNvPr id="15" name="Text 13"/>
          <p:cNvSpPr/>
          <p:nvPr/>
        </p:nvSpPr>
        <p:spPr>
          <a:xfrm>
            <a:off x="6492240" y="1664208"/>
            <a:ext cx="4983480" cy="1353312"/>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700" dirty="0">
                <a:solidFill>
                  <a:srgbClr val="18324A"/>
                </a:solidFill>
                <a:latin typeface="Noto Sans CJK SC" pitchFamily="34" charset="0"/>
                <a:ea typeface="Noto Sans CJK SC" pitchFamily="34" charset="-122"/>
                <a:cs typeface="Noto Sans CJK SC" pitchFamily="34" charset="-120"/>
              </a:rPr>
              <a:t>论文通过“儿童青少年健康促进国际研讨会暨第六届运动认知神经科学学术年会”审核，并完成大会口头报告展示与交流。</a:t>
            </a:r>
            <a:endParaRPr lang="en-US" sz="1700" dirty="0"/>
          </a:p>
        </p:txBody>
      </p:sp>
      <p:sp>
        <p:nvSpPr>
          <p:cNvPr id="16" name="Text 14"/>
          <p:cNvSpPr/>
          <p:nvPr/>
        </p:nvSpPr>
        <p:spPr>
          <a:xfrm>
            <a:off x="6492240" y="3918458"/>
            <a:ext cx="1463040" cy="310896"/>
          </a:xfrm>
          <a:prstGeom prst="roundRect">
            <a:avLst/>
          </a:prstGeom>
          <a:solidFill>
            <a:srgbClr val="FFF2E8"/>
          </a:solidFill>
          <a:ln>
            <a:solidFill>
              <a:srgbClr val="F3C89F"/>
            </a:solidFill>
          </a:ln>
        </p:spPr>
        <p:txBody>
          <a:bodyPr wrap="square" lIns="1016" tIns="1016" rIns="1016" bIns="1016" rtlCol="0" anchor="ctr">
            <a:normAutofit/>
          </a:bodyPr>
          <a:lstStyle/>
          <a:p>
            <a:pPr marL="0" indent="0" algn="ctr">
              <a:buNone/>
            </a:pPr>
            <a:r>
              <a:rPr lang="en-US" sz="1600" b="1" dirty="0">
                <a:solidFill>
                  <a:srgbClr val="D8902F"/>
                </a:solidFill>
                <a:latin typeface="Noto Sans CJK SC" pitchFamily="34" charset="0"/>
                <a:ea typeface="Noto Sans CJK SC" pitchFamily="34" charset="-122"/>
                <a:cs typeface="Noto Sans CJK SC" pitchFamily="34" charset="-120"/>
              </a:rPr>
              <a:t>证明材料</a:t>
            </a:r>
            <a:endParaRPr lang="en-US" sz="1600" dirty="0"/>
          </a:p>
        </p:txBody>
      </p:sp>
      <p:sp>
        <p:nvSpPr>
          <p:cNvPr id="17" name="Text 15"/>
          <p:cNvSpPr/>
          <p:nvPr/>
        </p:nvSpPr>
        <p:spPr>
          <a:xfrm>
            <a:off x="6492240" y="4384548"/>
            <a:ext cx="4983480" cy="658368"/>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700" dirty="0">
                <a:solidFill>
                  <a:srgbClr val="18324A"/>
                </a:solidFill>
                <a:latin typeface="Noto Sans CJK SC" pitchFamily="34" charset="0"/>
                <a:ea typeface="Noto Sans CJK SC" pitchFamily="34" charset="-122"/>
                <a:cs typeface="Noto Sans CJK SC" pitchFamily="34" charset="-120"/>
              </a:rPr>
              <a:t>已获得中国心理学会体育运动心理专业委员会出具的官方交流证明。</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292608"/>
            <a:ext cx="566928" cy="256032"/>
          </a:xfrm>
          <a:prstGeom prst="roundRect">
            <a:avLst/>
          </a:prstGeom>
          <a:solidFill>
            <a:srgbClr val="153E75"/>
          </a:solidFill>
          <a:ln>
            <a:solidFill>
              <a:srgbClr val="153E75"/>
            </a:solid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05</a:t>
            </a:r>
            <a:endParaRPr lang="en-US" sz="1400" dirty="0"/>
          </a:p>
        </p:txBody>
      </p:sp>
      <p:sp>
        <p:nvSpPr>
          <p:cNvPr id="3" name="Text 1"/>
          <p:cNvSpPr/>
          <p:nvPr/>
        </p:nvSpPr>
        <p:spPr>
          <a:xfrm>
            <a:off x="1234440" y="310896"/>
            <a:ext cx="9692640" cy="310896"/>
          </a:xfrm>
          <a:prstGeom prst="rect">
            <a:avLst/>
          </a:prstGeom>
          <a:noFill/>
          <a:ln/>
        </p:spPr>
        <p:txBody>
          <a:bodyPr wrap="square" lIns="0" tIns="0" rIns="0" bIns="0" rtlCol="0" anchor="ctr"/>
          <a:lstStyle/>
          <a:p>
            <a:pPr marL="0" indent="0">
              <a:buNone/>
            </a:pPr>
            <a:r>
              <a:rPr lang="en-US" sz="2300" b="1" dirty="0">
                <a:solidFill>
                  <a:srgbClr val="153E75"/>
                </a:solidFill>
                <a:latin typeface="Noto Sans CJK SC" pitchFamily="34" charset="0"/>
                <a:ea typeface="Noto Sans CJK SC" pitchFamily="34" charset="-122"/>
                <a:cs typeface="Noto Sans CJK SC" pitchFamily="34" charset="-120"/>
              </a:rPr>
              <a:t>理论框架：以身体运动为杠杆的“身—心—脑”协同逻辑</a:t>
            </a:r>
            <a:endParaRPr lang="en-US" sz="2300" dirty="0"/>
          </a:p>
        </p:txBody>
      </p:sp>
      <p:sp>
        <p:nvSpPr>
          <p:cNvPr id="4" name="Shape 2"/>
          <p:cNvSpPr/>
          <p:nvPr/>
        </p:nvSpPr>
        <p:spPr>
          <a:xfrm>
            <a:off x="530352" y="749808"/>
            <a:ext cx="11109960" cy="0"/>
          </a:xfrm>
          <a:prstGeom prst="line">
            <a:avLst/>
          </a:prstGeom>
          <a:noFill/>
          <a:ln w="12700">
            <a:solidFill>
              <a:srgbClr val="153E75"/>
            </a:solidFill>
            <a:prstDash val="solid"/>
          </a:ln>
        </p:spPr>
      </p:sp>
      <p:sp>
        <p:nvSpPr>
          <p:cNvPr id="5" name="Text 3"/>
          <p:cNvSpPr/>
          <p:nvPr/>
        </p:nvSpPr>
        <p:spPr>
          <a:xfrm>
            <a:off x="548640" y="822960"/>
            <a:ext cx="10972800" cy="210312"/>
          </a:xfrm>
          <a:prstGeom prst="rect">
            <a:avLst/>
          </a:prstGeom>
          <a:noFill/>
          <a:ln/>
        </p:spPr>
        <p:txBody>
          <a:bodyPr wrap="square" lIns="0" tIns="0" rIns="0" bIns="0" rtlCol="0" anchor="ctr"/>
          <a:lstStyle/>
          <a:p>
            <a:pPr marL="0" indent="0">
              <a:buNone/>
            </a:pPr>
            <a:r>
              <a:rPr lang="en-US" sz="1150" dirty="0">
                <a:solidFill>
                  <a:srgbClr val="5B6F84"/>
                </a:solidFill>
                <a:latin typeface="Noto Sans CJK SC" pitchFamily="34" charset="0"/>
                <a:ea typeface="Noto Sans CJK SC" pitchFamily="34" charset="-122"/>
                <a:cs typeface="Noto Sans CJK SC" pitchFamily="34" charset="-120"/>
              </a:rPr>
              <a:t>专家提问高频点：为什么先做运动？为什么选择 HRV / EDA？为什么认知任务要与运动协同？</a:t>
            </a:r>
            <a:endParaRPr lang="en-US" sz="1150" dirty="0"/>
          </a:p>
        </p:txBody>
      </p:sp>
      <p:sp>
        <p:nvSpPr>
          <p:cNvPr id="6" name="Shape 4"/>
          <p:cNvSpPr/>
          <p:nvPr/>
        </p:nvSpPr>
        <p:spPr>
          <a:xfrm>
            <a:off x="530352" y="6419088"/>
            <a:ext cx="11109960" cy="0"/>
          </a:xfrm>
          <a:prstGeom prst="line">
            <a:avLst/>
          </a:prstGeom>
          <a:noFill/>
          <a:ln w="12700">
            <a:solidFill>
              <a:srgbClr val="C8D8E8"/>
            </a:solidFill>
            <a:prstDash val="solid"/>
          </a:ln>
        </p:spPr>
      </p:sp>
      <p:sp>
        <p:nvSpPr>
          <p:cNvPr id="7" name="Text 5"/>
          <p:cNvSpPr/>
          <p:nvPr/>
        </p:nvSpPr>
        <p:spPr>
          <a:xfrm>
            <a:off x="548640" y="6473952"/>
            <a:ext cx="6400800" cy="164592"/>
          </a:xfrm>
          <a:prstGeom prst="rect">
            <a:avLst/>
          </a:prstGeom>
          <a:noFill/>
          <a:ln/>
        </p:spPr>
        <p:txBody>
          <a:bodyPr wrap="square" lIns="0" tIns="0" rIns="0" bIns="0" rtlCol="0" anchor="ctr"/>
          <a:lstStyle/>
          <a:p>
            <a:pPr marL="0" indent="0">
              <a:buNone/>
            </a:pPr>
            <a:r>
              <a:rPr lang="en-US" sz="980" dirty="0">
                <a:solidFill>
                  <a:srgbClr val="5B6F84"/>
                </a:solidFill>
                <a:latin typeface="Noto Sans CJK SC" pitchFamily="34" charset="0"/>
                <a:ea typeface="Noto Sans CJK SC" pitchFamily="34" charset="-122"/>
                <a:cs typeface="Noto Sans CJK SC" pitchFamily="34" charset="-120"/>
              </a:rPr>
              <a:t>大连理工大学大学生创新创业训练计划项目 · 中期检查报告</a:t>
            </a:r>
            <a:endParaRPr lang="en-US" sz="980" dirty="0"/>
          </a:p>
        </p:txBody>
      </p:sp>
      <p:sp>
        <p:nvSpPr>
          <p:cNvPr id="8" name="Shape 6"/>
          <p:cNvSpPr/>
          <p:nvPr/>
        </p:nvSpPr>
        <p:spPr>
          <a:xfrm>
            <a:off x="2212848" y="2670048"/>
            <a:ext cx="475488" cy="0"/>
          </a:xfrm>
          <a:prstGeom prst="line">
            <a:avLst/>
          </a:prstGeom>
          <a:noFill/>
          <a:ln w="12700">
            <a:solidFill>
              <a:srgbClr val="153E75"/>
            </a:solidFill>
            <a:prstDash val="solid"/>
            <a:tailEnd type="triangle"/>
          </a:ln>
        </p:spPr>
      </p:sp>
      <p:sp>
        <p:nvSpPr>
          <p:cNvPr id="9" name="Shape 7"/>
          <p:cNvSpPr/>
          <p:nvPr/>
        </p:nvSpPr>
        <p:spPr>
          <a:xfrm>
            <a:off x="4462272" y="2670048"/>
            <a:ext cx="475488" cy="0"/>
          </a:xfrm>
          <a:prstGeom prst="line">
            <a:avLst/>
          </a:prstGeom>
          <a:noFill/>
          <a:ln w="12700">
            <a:solidFill>
              <a:srgbClr val="153E75"/>
            </a:solidFill>
            <a:prstDash val="solid"/>
            <a:tailEnd type="triangle"/>
          </a:ln>
        </p:spPr>
      </p:sp>
      <p:sp>
        <p:nvSpPr>
          <p:cNvPr id="10" name="Shape 8"/>
          <p:cNvSpPr/>
          <p:nvPr/>
        </p:nvSpPr>
        <p:spPr>
          <a:xfrm>
            <a:off x="6711696" y="2670048"/>
            <a:ext cx="475488" cy="0"/>
          </a:xfrm>
          <a:prstGeom prst="line">
            <a:avLst/>
          </a:prstGeom>
          <a:noFill/>
          <a:ln w="12700">
            <a:solidFill>
              <a:srgbClr val="153E75"/>
            </a:solidFill>
            <a:prstDash val="solid"/>
            <a:tailEnd type="triangle"/>
          </a:ln>
        </p:spPr>
      </p:sp>
      <p:sp>
        <p:nvSpPr>
          <p:cNvPr id="11" name="Shape 9"/>
          <p:cNvSpPr/>
          <p:nvPr/>
        </p:nvSpPr>
        <p:spPr>
          <a:xfrm>
            <a:off x="8961120" y="2670048"/>
            <a:ext cx="475488" cy="0"/>
          </a:xfrm>
          <a:prstGeom prst="line">
            <a:avLst/>
          </a:prstGeom>
          <a:noFill/>
          <a:ln w="12700">
            <a:solidFill>
              <a:srgbClr val="153E75"/>
            </a:solidFill>
            <a:prstDash val="solid"/>
            <a:tailEnd type="triangle"/>
          </a:ln>
        </p:spPr>
      </p:sp>
      <p:sp>
        <p:nvSpPr>
          <p:cNvPr id="12" name="Text 10"/>
          <p:cNvSpPr/>
          <p:nvPr/>
        </p:nvSpPr>
        <p:spPr>
          <a:xfrm>
            <a:off x="658368" y="1901952"/>
            <a:ext cx="1572768" cy="566928"/>
          </a:xfrm>
          <a:prstGeom prst="roundRect">
            <a:avLst/>
          </a:prstGeom>
          <a:solidFill>
            <a:srgbClr val="2D8C8C"/>
          </a:solidFill>
          <a:ln>
            <a:solidFill>
              <a:srgbClr val="2D8C8C"/>
            </a:solidFill>
          </a:ln>
        </p:spPr>
        <p:txBody>
          <a:bodyPr wrap="square" lIns="1016" tIns="1016" rIns="1016" bIns="1016" rtlCol="0" anchor="ctr">
            <a:normAutofit/>
          </a:bodyPr>
          <a:lstStyle/>
          <a:p>
            <a:pPr marL="0" indent="0" algn="ctr">
              <a:buNone/>
            </a:pPr>
            <a:r>
              <a:rPr lang="en-US" sz="1650" b="1" dirty="0">
                <a:solidFill>
                  <a:srgbClr val="FFFFFF"/>
                </a:solidFill>
                <a:latin typeface="Noto Sans CJK SC" pitchFamily="34" charset="0"/>
                <a:ea typeface="Noto Sans CJK SC" pitchFamily="34" charset="-122"/>
                <a:cs typeface="Noto Sans CJK SC" pitchFamily="34" charset="-120"/>
              </a:rPr>
              <a:t>中等强度有氧运动</a:t>
            </a:r>
            <a:endParaRPr lang="en-US" sz="1650" dirty="0"/>
          </a:p>
        </p:txBody>
      </p:sp>
      <p:sp>
        <p:nvSpPr>
          <p:cNvPr id="13" name="Text 11"/>
          <p:cNvSpPr/>
          <p:nvPr/>
        </p:nvSpPr>
        <p:spPr>
          <a:xfrm>
            <a:off x="658368" y="2615184"/>
            <a:ext cx="1572768" cy="82296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ctr">
              <a:buNone/>
            </a:pPr>
            <a:r>
              <a:rPr lang="en-US" sz="1270" dirty="0">
                <a:solidFill>
                  <a:srgbClr val="18324A"/>
                </a:solidFill>
                <a:latin typeface="Noto Sans CJK SC" pitchFamily="34" charset="0"/>
                <a:ea typeface="Noto Sans CJK SC" pitchFamily="34" charset="-122"/>
                <a:cs typeface="Noto Sans CJK SC" pitchFamily="34" charset="-120"/>
              </a:rPr>
              <a:t>60%–70% HRmax</a:t>
            </a:r>
            <a:endParaRPr lang="en-US" sz="1270" dirty="0"/>
          </a:p>
          <a:p>
            <a:pPr marL="0" indent="0" algn="ctr">
              <a:buNone/>
            </a:pPr>
            <a:r>
              <a:rPr lang="en-US" sz="1270" dirty="0">
                <a:solidFill>
                  <a:srgbClr val="18324A"/>
                </a:solidFill>
                <a:latin typeface="Noto Sans CJK SC" pitchFamily="34" charset="0"/>
                <a:ea typeface="Noto Sans CJK SC" pitchFamily="34" charset="-122"/>
                <a:cs typeface="Noto Sans CJK SC" pitchFamily="34" charset="-120"/>
              </a:rPr>
              <a:t>形成“预激活效应”</a:t>
            </a:r>
            <a:endParaRPr lang="en-US" sz="1270" dirty="0"/>
          </a:p>
        </p:txBody>
      </p:sp>
      <p:sp>
        <p:nvSpPr>
          <p:cNvPr id="14" name="Text 12"/>
          <p:cNvSpPr/>
          <p:nvPr/>
        </p:nvSpPr>
        <p:spPr>
          <a:xfrm>
            <a:off x="2907792" y="1901952"/>
            <a:ext cx="1572768" cy="566928"/>
          </a:xfrm>
          <a:prstGeom prst="roundRect">
            <a:avLst/>
          </a:prstGeom>
          <a:solidFill>
            <a:srgbClr val="153E75"/>
          </a:solidFill>
          <a:ln>
            <a:solidFill>
              <a:srgbClr val="153E75"/>
            </a:solidFill>
          </a:ln>
        </p:spPr>
        <p:txBody>
          <a:bodyPr wrap="square" lIns="1016" tIns="1016" rIns="1016" bIns="1016" rtlCol="0" anchor="ctr">
            <a:normAutofit/>
          </a:bodyPr>
          <a:lstStyle/>
          <a:p>
            <a:pPr marL="0" indent="0" algn="ctr">
              <a:buNone/>
            </a:pPr>
            <a:r>
              <a:rPr lang="en-US" sz="1650" b="1" dirty="0">
                <a:solidFill>
                  <a:srgbClr val="FFFFFF"/>
                </a:solidFill>
                <a:latin typeface="Noto Sans CJK SC" pitchFamily="34" charset="0"/>
                <a:ea typeface="Noto Sans CJK SC" pitchFamily="34" charset="-122"/>
                <a:cs typeface="Noto Sans CJK SC" pitchFamily="34" charset="-120"/>
              </a:rPr>
              <a:t>自主神经/情绪变化</a:t>
            </a:r>
            <a:endParaRPr lang="en-US" sz="1650" dirty="0"/>
          </a:p>
        </p:txBody>
      </p:sp>
      <p:sp>
        <p:nvSpPr>
          <p:cNvPr id="15" name="Text 13"/>
          <p:cNvSpPr/>
          <p:nvPr/>
        </p:nvSpPr>
        <p:spPr>
          <a:xfrm>
            <a:off x="2907792" y="2615184"/>
            <a:ext cx="1572768" cy="82296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ctr">
              <a:buNone/>
            </a:pPr>
            <a:r>
              <a:rPr lang="en-US" sz="1270" dirty="0">
                <a:solidFill>
                  <a:srgbClr val="18324A"/>
                </a:solidFill>
                <a:latin typeface="Noto Sans CJK SC" pitchFamily="34" charset="0"/>
                <a:ea typeface="Noto Sans CJK SC" pitchFamily="34" charset="-122"/>
                <a:cs typeface="Noto Sans CJK SC" pitchFamily="34" charset="-120"/>
              </a:rPr>
              <a:t>HRV / EDA 反映</a:t>
            </a:r>
            <a:endParaRPr lang="en-US" sz="1270" dirty="0"/>
          </a:p>
          <a:p>
            <a:pPr marL="0" indent="0" algn="ctr">
              <a:buNone/>
            </a:pPr>
            <a:r>
              <a:rPr lang="en-US" sz="1270" dirty="0">
                <a:solidFill>
                  <a:srgbClr val="18324A"/>
                </a:solidFill>
                <a:latin typeface="Noto Sans CJK SC" pitchFamily="34" charset="0"/>
                <a:ea typeface="Noto Sans CJK SC" pitchFamily="34" charset="-122"/>
                <a:cs typeface="Noto Sans CJK SC" pitchFamily="34" charset="-120"/>
              </a:rPr>
              <a:t>唤醒水平与调节状态</a:t>
            </a:r>
            <a:endParaRPr lang="en-US" sz="1270" dirty="0"/>
          </a:p>
        </p:txBody>
      </p:sp>
      <p:sp>
        <p:nvSpPr>
          <p:cNvPr id="16" name="Text 14"/>
          <p:cNvSpPr/>
          <p:nvPr/>
        </p:nvSpPr>
        <p:spPr>
          <a:xfrm>
            <a:off x="5157216" y="1901952"/>
            <a:ext cx="1572768" cy="566928"/>
          </a:xfrm>
          <a:prstGeom prst="roundRect">
            <a:avLst/>
          </a:prstGeom>
          <a:solidFill>
            <a:srgbClr val="D8902F"/>
          </a:solidFill>
          <a:ln>
            <a:solidFill>
              <a:srgbClr val="D8902F"/>
            </a:solidFill>
          </a:ln>
        </p:spPr>
        <p:txBody>
          <a:bodyPr wrap="square" lIns="1016" tIns="1016" rIns="1016" bIns="1016" rtlCol="0" anchor="ctr">
            <a:normAutofit/>
          </a:bodyPr>
          <a:lstStyle/>
          <a:p>
            <a:pPr marL="0" indent="0" algn="ctr">
              <a:buNone/>
            </a:pPr>
            <a:r>
              <a:rPr lang="en-US" sz="1650" b="1" dirty="0">
                <a:solidFill>
                  <a:srgbClr val="FFFFFF"/>
                </a:solidFill>
                <a:latin typeface="Noto Sans CJK SC" pitchFamily="34" charset="0"/>
                <a:ea typeface="Noto Sans CJK SC" pitchFamily="34" charset="-122"/>
                <a:cs typeface="Noto Sans CJK SC" pitchFamily="34" charset="-120"/>
              </a:rPr>
              <a:t>认知促进窗口期</a:t>
            </a:r>
            <a:endParaRPr lang="en-US" sz="1650" dirty="0"/>
          </a:p>
        </p:txBody>
      </p:sp>
      <p:sp>
        <p:nvSpPr>
          <p:cNvPr id="17" name="Text 15"/>
          <p:cNvSpPr/>
          <p:nvPr/>
        </p:nvSpPr>
        <p:spPr>
          <a:xfrm>
            <a:off x="5157216" y="2615184"/>
            <a:ext cx="1572768" cy="82296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ctr">
              <a:buNone/>
            </a:pPr>
            <a:r>
              <a:rPr lang="en-US" sz="1270" dirty="0">
                <a:solidFill>
                  <a:srgbClr val="18324A"/>
                </a:solidFill>
                <a:latin typeface="Noto Sans CJK SC" pitchFamily="34" charset="0"/>
                <a:ea typeface="Noto Sans CJK SC" pitchFamily="34" charset="-122"/>
                <a:cs typeface="Noto Sans CJK SC" pitchFamily="34" charset="-120"/>
              </a:rPr>
              <a:t>急性运动后 15–45 分钟</a:t>
            </a:r>
            <a:endParaRPr lang="en-US" sz="1270" dirty="0"/>
          </a:p>
          <a:p>
            <a:pPr marL="0" indent="0" algn="ctr">
              <a:buNone/>
            </a:pPr>
            <a:r>
              <a:rPr lang="en-US" sz="1270" dirty="0">
                <a:solidFill>
                  <a:srgbClr val="18324A"/>
                </a:solidFill>
                <a:latin typeface="Noto Sans CJK SC" pitchFamily="34" charset="0"/>
                <a:ea typeface="Noto Sans CJK SC" pitchFamily="34" charset="-122"/>
                <a:cs typeface="Noto Sans CJK SC" pitchFamily="34" charset="-120"/>
              </a:rPr>
              <a:t>更利于执行功能任务</a:t>
            </a:r>
            <a:endParaRPr lang="en-US" sz="1270" dirty="0"/>
          </a:p>
        </p:txBody>
      </p:sp>
      <p:sp>
        <p:nvSpPr>
          <p:cNvPr id="18" name="Text 16"/>
          <p:cNvSpPr/>
          <p:nvPr/>
        </p:nvSpPr>
        <p:spPr>
          <a:xfrm>
            <a:off x="7406640" y="1901952"/>
            <a:ext cx="1572768" cy="566928"/>
          </a:xfrm>
          <a:prstGeom prst="roundRect">
            <a:avLst/>
          </a:prstGeom>
          <a:solidFill>
            <a:srgbClr val="E57C2C"/>
          </a:solidFill>
          <a:ln>
            <a:solidFill>
              <a:srgbClr val="E57C2C"/>
            </a:solidFill>
          </a:ln>
        </p:spPr>
        <p:txBody>
          <a:bodyPr wrap="square" lIns="1016" tIns="1016" rIns="1016" bIns="1016" rtlCol="0" anchor="ctr">
            <a:normAutofit/>
          </a:bodyPr>
          <a:lstStyle/>
          <a:p>
            <a:pPr marL="0" indent="0" algn="ctr">
              <a:buNone/>
            </a:pPr>
            <a:r>
              <a:rPr lang="en-US" sz="1650" b="1" dirty="0">
                <a:solidFill>
                  <a:srgbClr val="FFFFFF"/>
                </a:solidFill>
                <a:latin typeface="Noto Sans CJK SC" pitchFamily="34" charset="0"/>
                <a:ea typeface="Noto Sans CJK SC" pitchFamily="34" charset="-122"/>
                <a:cs typeface="Noto Sans CJK SC" pitchFamily="34" charset="-120"/>
              </a:rPr>
              <a:t>VR 嵌入式任务</a:t>
            </a:r>
            <a:endParaRPr lang="en-US" sz="1650" dirty="0"/>
          </a:p>
        </p:txBody>
      </p:sp>
      <p:sp>
        <p:nvSpPr>
          <p:cNvPr id="19" name="Text 17"/>
          <p:cNvSpPr/>
          <p:nvPr/>
        </p:nvSpPr>
        <p:spPr>
          <a:xfrm>
            <a:off x="7406640" y="2615184"/>
            <a:ext cx="1572768" cy="82296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ctr">
              <a:buNone/>
            </a:pPr>
            <a:r>
              <a:rPr lang="en-US" sz="1270" dirty="0">
                <a:solidFill>
                  <a:srgbClr val="18324A"/>
                </a:solidFill>
                <a:latin typeface="Noto Sans CJK SC" pitchFamily="34" charset="0"/>
                <a:ea typeface="Noto Sans CJK SC" pitchFamily="34" charset="-122"/>
                <a:cs typeface="Noto Sans CJK SC" pitchFamily="34" charset="-120"/>
              </a:rPr>
              <a:t>Stroop、N-back、</a:t>
            </a:r>
            <a:endParaRPr lang="en-US" sz="1270" dirty="0"/>
          </a:p>
          <a:p>
            <a:pPr marL="0" indent="0" algn="ctr">
              <a:buNone/>
            </a:pPr>
            <a:r>
              <a:rPr lang="en-US" sz="1270" dirty="0">
                <a:solidFill>
                  <a:srgbClr val="18324A"/>
                </a:solidFill>
                <a:latin typeface="Noto Sans CJK SC" pitchFamily="34" charset="0"/>
                <a:ea typeface="Noto Sans CJK SC" pitchFamily="34" charset="-122"/>
                <a:cs typeface="Noto Sans CJK SC" pitchFamily="34" charset="-120"/>
              </a:rPr>
              <a:t>正念呼吸等</a:t>
            </a:r>
            <a:endParaRPr lang="en-US" sz="1270" dirty="0"/>
          </a:p>
        </p:txBody>
      </p:sp>
      <p:sp>
        <p:nvSpPr>
          <p:cNvPr id="20" name="Text 18"/>
          <p:cNvSpPr/>
          <p:nvPr/>
        </p:nvSpPr>
        <p:spPr>
          <a:xfrm>
            <a:off x="9656064" y="1901952"/>
            <a:ext cx="1572768" cy="566928"/>
          </a:xfrm>
          <a:prstGeom prst="roundRect">
            <a:avLst/>
          </a:prstGeom>
          <a:solidFill>
            <a:srgbClr val="2E8B57"/>
          </a:solidFill>
          <a:ln>
            <a:solidFill>
              <a:srgbClr val="2E8B57"/>
            </a:solidFill>
          </a:ln>
        </p:spPr>
        <p:txBody>
          <a:bodyPr wrap="square" lIns="1016" tIns="1016" rIns="1016" bIns="1016" rtlCol="0" anchor="ctr">
            <a:normAutofit/>
          </a:bodyPr>
          <a:lstStyle/>
          <a:p>
            <a:pPr marL="0" indent="0" algn="ctr">
              <a:buNone/>
            </a:pPr>
            <a:r>
              <a:rPr lang="en-US" sz="1650" b="1" dirty="0">
                <a:solidFill>
                  <a:srgbClr val="FFFFFF"/>
                </a:solidFill>
                <a:latin typeface="Noto Sans CJK SC" pitchFamily="34" charset="0"/>
                <a:ea typeface="Noto Sans CJK SC" pitchFamily="34" charset="-122"/>
                <a:cs typeface="Noto Sans CJK SC" pitchFamily="34" charset="-120"/>
              </a:rPr>
              <a:t>协同提升</a:t>
            </a:r>
            <a:endParaRPr lang="en-US" sz="1650" dirty="0"/>
          </a:p>
        </p:txBody>
      </p:sp>
      <p:sp>
        <p:nvSpPr>
          <p:cNvPr id="21" name="Text 19"/>
          <p:cNvSpPr/>
          <p:nvPr/>
        </p:nvSpPr>
        <p:spPr>
          <a:xfrm>
            <a:off x="9656063" y="2615184"/>
            <a:ext cx="1740183" cy="82296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ctr">
              <a:buNone/>
            </a:pPr>
            <a:r>
              <a:rPr lang="en-US" sz="1270" dirty="0" err="1">
                <a:solidFill>
                  <a:srgbClr val="18324A"/>
                </a:solidFill>
                <a:latin typeface="Noto Sans CJK SC" pitchFamily="34" charset="0"/>
                <a:ea typeface="Noto Sans CJK SC" pitchFamily="34" charset="-122"/>
                <a:cs typeface="Noto Sans CJK SC" pitchFamily="34" charset="-120"/>
              </a:rPr>
              <a:t>压力调节、认知优</a:t>
            </a:r>
            <a:r>
              <a:rPr lang="zh-CN" altLang="en-US" sz="1270" dirty="0">
                <a:solidFill>
                  <a:srgbClr val="18324A"/>
                </a:solidFill>
                <a:latin typeface="Noto Sans CJK SC" pitchFamily="34" charset="0"/>
                <a:ea typeface="Noto Sans CJK SC" pitchFamily="34" charset="-122"/>
                <a:cs typeface="Noto Sans CJK SC" pitchFamily="34" charset="-120"/>
              </a:rPr>
              <a:t>化</a:t>
            </a:r>
            <a:r>
              <a:rPr lang="en-US" sz="1270" dirty="0">
                <a:solidFill>
                  <a:srgbClr val="18324A"/>
                </a:solidFill>
                <a:latin typeface="Noto Sans CJK SC" pitchFamily="34" charset="0"/>
                <a:ea typeface="Noto Sans CJK SC" pitchFamily="34" charset="-122"/>
                <a:cs typeface="Noto Sans CJK SC" pitchFamily="34" charset="-120"/>
              </a:rPr>
              <a:t>、</a:t>
            </a:r>
            <a:endParaRPr lang="en-US" sz="1270" dirty="0"/>
          </a:p>
          <a:p>
            <a:pPr marL="0" indent="0" algn="ctr">
              <a:buNone/>
            </a:pPr>
            <a:r>
              <a:rPr lang="en-US" sz="1270" dirty="0">
                <a:solidFill>
                  <a:srgbClr val="18324A"/>
                </a:solidFill>
                <a:latin typeface="Noto Sans CJK SC" pitchFamily="34" charset="0"/>
                <a:ea typeface="Noto Sans CJK SC" pitchFamily="34" charset="-122"/>
                <a:cs typeface="Noto Sans CJK SC" pitchFamily="34" charset="-120"/>
              </a:rPr>
              <a:t>训练依从性提升</a:t>
            </a:r>
            <a:endParaRPr lang="en-US" sz="1270" dirty="0"/>
          </a:p>
        </p:txBody>
      </p:sp>
      <p:sp>
        <p:nvSpPr>
          <p:cNvPr id="22" name="Text 20"/>
          <p:cNvSpPr/>
          <p:nvPr/>
        </p:nvSpPr>
        <p:spPr>
          <a:xfrm>
            <a:off x="749808" y="4069080"/>
            <a:ext cx="1463040" cy="292608"/>
          </a:xfrm>
          <a:prstGeom prst="roundRect">
            <a:avLst/>
          </a:prstGeom>
          <a:solidFill>
            <a:srgbClr val="EAF4FF"/>
          </a:solidFill>
          <a:ln>
            <a:solidFill>
              <a:srgbClr val="B8D7F5"/>
            </a:solidFill>
          </a:ln>
        </p:spPr>
        <p:txBody>
          <a:bodyPr wrap="square" lIns="1016" tIns="1016" rIns="1016" bIns="1016" rtlCol="0" anchor="ctr">
            <a:normAutofit/>
          </a:bodyPr>
          <a:lstStyle/>
          <a:p>
            <a:pPr marL="0" indent="0" algn="ctr">
              <a:buNone/>
            </a:pPr>
            <a:r>
              <a:rPr lang="en-US" sz="1550" b="1" dirty="0">
                <a:solidFill>
                  <a:srgbClr val="153E75"/>
                </a:solidFill>
                <a:latin typeface="Noto Sans CJK SC" pitchFamily="34" charset="0"/>
                <a:ea typeface="Noto Sans CJK SC" pitchFamily="34" charset="-122"/>
                <a:cs typeface="Noto Sans CJK SC" pitchFamily="34" charset="-120"/>
              </a:rPr>
              <a:t>研究主线</a:t>
            </a:r>
            <a:endParaRPr lang="en-US" sz="1550" dirty="0"/>
          </a:p>
        </p:txBody>
      </p:sp>
      <p:sp>
        <p:nvSpPr>
          <p:cNvPr id="23" name="Text 21"/>
          <p:cNvSpPr/>
          <p:nvPr/>
        </p:nvSpPr>
        <p:spPr>
          <a:xfrm>
            <a:off x="749808" y="4443984"/>
            <a:ext cx="3474720" cy="621792"/>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620" dirty="0">
                <a:solidFill>
                  <a:srgbClr val="18324A"/>
                </a:solidFill>
                <a:latin typeface="Noto Sans CJK SC" pitchFamily="34" charset="0"/>
                <a:ea typeface="Noto Sans CJK SC" pitchFamily="34" charset="-122"/>
                <a:cs typeface="Noto Sans CJK SC" pitchFamily="34" charset="-120"/>
              </a:rPr>
              <a:t>以运动负荷为调控手段，以心理/生理状态为中介，以认知提升与健康促进为目标。</a:t>
            </a:r>
            <a:endParaRPr lang="en-US" sz="1620" dirty="0"/>
          </a:p>
        </p:txBody>
      </p:sp>
      <p:sp>
        <p:nvSpPr>
          <p:cNvPr id="24" name="Text 22"/>
          <p:cNvSpPr/>
          <p:nvPr/>
        </p:nvSpPr>
        <p:spPr>
          <a:xfrm>
            <a:off x="4370832" y="4069080"/>
            <a:ext cx="1463040" cy="292608"/>
          </a:xfrm>
          <a:prstGeom prst="roundRect">
            <a:avLst/>
          </a:prstGeom>
          <a:solidFill>
            <a:srgbClr val="E9F7F3"/>
          </a:solidFill>
          <a:ln>
            <a:solidFill>
              <a:srgbClr val="B7E2D3"/>
            </a:solidFill>
          </a:ln>
        </p:spPr>
        <p:txBody>
          <a:bodyPr wrap="square" lIns="1016" tIns="1016" rIns="1016" bIns="1016" rtlCol="0" anchor="ctr">
            <a:normAutofit/>
          </a:bodyPr>
          <a:lstStyle/>
          <a:p>
            <a:pPr marL="0" indent="0" algn="ctr">
              <a:buNone/>
            </a:pPr>
            <a:r>
              <a:rPr lang="en-US" sz="1550" b="1" dirty="0">
                <a:solidFill>
                  <a:srgbClr val="2D8C8C"/>
                </a:solidFill>
                <a:latin typeface="Noto Sans CJK SC" pitchFamily="34" charset="0"/>
                <a:ea typeface="Noto Sans CJK SC" pitchFamily="34" charset="-122"/>
                <a:cs typeface="Noto Sans CJK SC" pitchFamily="34" charset="-120"/>
              </a:rPr>
              <a:t>理论依据</a:t>
            </a:r>
            <a:endParaRPr lang="en-US" sz="1550" dirty="0"/>
          </a:p>
        </p:txBody>
      </p:sp>
      <p:sp>
        <p:nvSpPr>
          <p:cNvPr id="25" name="Text 23"/>
          <p:cNvSpPr/>
          <p:nvPr/>
        </p:nvSpPr>
        <p:spPr>
          <a:xfrm>
            <a:off x="4370832" y="4443984"/>
            <a:ext cx="3474720" cy="621792"/>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620" dirty="0">
                <a:solidFill>
                  <a:srgbClr val="18324A"/>
                </a:solidFill>
                <a:latin typeface="Noto Sans CJK SC" pitchFamily="34" charset="0"/>
                <a:ea typeface="Noto Sans CJK SC" pitchFamily="34" charset="-122"/>
                <a:cs typeface="Noto Sans CJK SC" pitchFamily="34" charset="-120"/>
              </a:rPr>
              <a:t>神经可塑性理论 + 运动诱导认知促进效应 + 多模态生理状态评估。</a:t>
            </a:r>
            <a:endParaRPr lang="en-US" sz="1620" dirty="0"/>
          </a:p>
        </p:txBody>
      </p:sp>
      <p:sp>
        <p:nvSpPr>
          <p:cNvPr id="26" name="Text 24"/>
          <p:cNvSpPr/>
          <p:nvPr/>
        </p:nvSpPr>
        <p:spPr>
          <a:xfrm>
            <a:off x="7991856" y="4069080"/>
            <a:ext cx="1463040" cy="292608"/>
          </a:xfrm>
          <a:prstGeom prst="roundRect">
            <a:avLst/>
          </a:prstGeom>
          <a:solidFill>
            <a:srgbClr val="FFF2E8"/>
          </a:solidFill>
          <a:ln>
            <a:solidFill>
              <a:srgbClr val="F3C89F"/>
            </a:solidFill>
          </a:ln>
        </p:spPr>
        <p:txBody>
          <a:bodyPr wrap="square" lIns="1016" tIns="1016" rIns="1016" bIns="1016" rtlCol="0" anchor="ctr">
            <a:normAutofit/>
          </a:bodyPr>
          <a:lstStyle/>
          <a:p>
            <a:pPr marL="0" indent="0" algn="ctr">
              <a:buNone/>
            </a:pPr>
            <a:r>
              <a:rPr lang="en-US" sz="1550" b="1" dirty="0">
                <a:solidFill>
                  <a:srgbClr val="D8902F"/>
                </a:solidFill>
                <a:latin typeface="Noto Sans CJK SC" pitchFamily="34" charset="0"/>
                <a:ea typeface="Noto Sans CJK SC" pitchFamily="34" charset="-122"/>
                <a:cs typeface="Noto Sans CJK SC" pitchFamily="34" charset="-120"/>
              </a:rPr>
              <a:t>方法学含义</a:t>
            </a:r>
            <a:endParaRPr lang="en-US" sz="1550" dirty="0"/>
          </a:p>
        </p:txBody>
      </p:sp>
      <p:sp>
        <p:nvSpPr>
          <p:cNvPr id="27" name="Text 25"/>
          <p:cNvSpPr/>
          <p:nvPr/>
        </p:nvSpPr>
        <p:spPr>
          <a:xfrm>
            <a:off x="7991856" y="4443984"/>
            <a:ext cx="3474720" cy="621792"/>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620" dirty="0">
                <a:solidFill>
                  <a:srgbClr val="18324A"/>
                </a:solidFill>
                <a:latin typeface="Noto Sans CJK SC" pitchFamily="34" charset="0"/>
                <a:ea typeface="Noto Sans CJK SC" pitchFamily="34" charset="-122"/>
                <a:cs typeface="Noto Sans CJK SC" pitchFamily="34" charset="-120"/>
              </a:rPr>
              <a:t>不是把运动、心理训练、认知任务简单拼接，而是通过状态反馈形成闭环调控。</a:t>
            </a:r>
            <a:endParaRPr lang="en-US" sz="16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292608"/>
            <a:ext cx="566928" cy="256032"/>
          </a:xfrm>
          <a:prstGeom prst="roundRect">
            <a:avLst/>
          </a:prstGeom>
          <a:solidFill>
            <a:srgbClr val="153E75"/>
          </a:solidFill>
          <a:ln>
            <a:solidFill>
              <a:srgbClr val="153E75"/>
            </a:solid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06</a:t>
            </a:r>
            <a:endParaRPr lang="en-US" sz="1400" dirty="0"/>
          </a:p>
        </p:txBody>
      </p:sp>
      <p:sp>
        <p:nvSpPr>
          <p:cNvPr id="3" name="Text 1"/>
          <p:cNvSpPr/>
          <p:nvPr/>
        </p:nvSpPr>
        <p:spPr>
          <a:xfrm>
            <a:off x="1234440" y="310896"/>
            <a:ext cx="9692640" cy="310896"/>
          </a:xfrm>
          <a:prstGeom prst="rect">
            <a:avLst/>
          </a:prstGeom>
          <a:noFill/>
          <a:ln/>
        </p:spPr>
        <p:txBody>
          <a:bodyPr wrap="square" lIns="0" tIns="0" rIns="0" bIns="0" rtlCol="0" anchor="ctr"/>
          <a:lstStyle/>
          <a:p>
            <a:pPr marL="0" indent="0">
              <a:buNone/>
            </a:pPr>
            <a:r>
              <a:rPr lang="en-US" sz="2300" b="1" dirty="0" err="1">
                <a:solidFill>
                  <a:srgbClr val="153E75"/>
                </a:solidFill>
                <a:latin typeface="Noto Sans CJK SC" pitchFamily="34" charset="0"/>
                <a:ea typeface="Noto Sans CJK SC" pitchFamily="34" charset="-122"/>
                <a:cs typeface="Noto Sans CJK SC" pitchFamily="34" charset="-120"/>
              </a:rPr>
              <a:t>系统设计与关键技术原理</a:t>
            </a:r>
            <a:endParaRPr lang="en-US" sz="2300" dirty="0"/>
          </a:p>
        </p:txBody>
      </p:sp>
      <p:sp>
        <p:nvSpPr>
          <p:cNvPr id="4" name="Shape 2"/>
          <p:cNvSpPr/>
          <p:nvPr/>
        </p:nvSpPr>
        <p:spPr>
          <a:xfrm>
            <a:off x="530352" y="749808"/>
            <a:ext cx="11109960" cy="0"/>
          </a:xfrm>
          <a:prstGeom prst="line">
            <a:avLst/>
          </a:prstGeom>
          <a:noFill/>
          <a:ln w="12700">
            <a:solidFill>
              <a:srgbClr val="153E75"/>
            </a:solidFill>
            <a:prstDash val="solid"/>
          </a:ln>
        </p:spPr>
      </p:sp>
      <p:sp>
        <p:nvSpPr>
          <p:cNvPr id="5" name="Text 3"/>
          <p:cNvSpPr/>
          <p:nvPr/>
        </p:nvSpPr>
        <p:spPr>
          <a:xfrm>
            <a:off x="548640" y="822960"/>
            <a:ext cx="10972800" cy="210312"/>
          </a:xfrm>
          <a:prstGeom prst="rect">
            <a:avLst/>
          </a:prstGeom>
          <a:noFill/>
          <a:ln/>
        </p:spPr>
        <p:txBody>
          <a:bodyPr wrap="square" lIns="0" tIns="0" rIns="0" bIns="0" rtlCol="0" anchor="ctr"/>
          <a:lstStyle/>
          <a:p>
            <a:pPr marL="0" indent="0">
              <a:buNone/>
            </a:pPr>
            <a:r>
              <a:rPr lang="en-US" sz="1150" dirty="0">
                <a:solidFill>
                  <a:srgbClr val="5B6F84"/>
                </a:solidFill>
                <a:latin typeface="Noto Sans CJK SC" pitchFamily="34" charset="0"/>
                <a:ea typeface="Noto Sans CJK SC" pitchFamily="34" charset="-122"/>
                <a:cs typeface="Noto Sans CJK SC" pitchFamily="34" charset="-120"/>
              </a:rPr>
              <a:t>重点说明：本阶段已完成整体架构、参数阈值与实现路径论证，未把代码开发当作既有成果展示</a:t>
            </a:r>
            <a:endParaRPr lang="en-US" sz="1150" dirty="0"/>
          </a:p>
        </p:txBody>
      </p:sp>
      <p:sp>
        <p:nvSpPr>
          <p:cNvPr id="6" name="Shape 4"/>
          <p:cNvSpPr/>
          <p:nvPr/>
        </p:nvSpPr>
        <p:spPr>
          <a:xfrm>
            <a:off x="530352" y="6419088"/>
            <a:ext cx="11109960" cy="0"/>
          </a:xfrm>
          <a:prstGeom prst="line">
            <a:avLst/>
          </a:prstGeom>
          <a:noFill/>
          <a:ln w="12700">
            <a:solidFill>
              <a:srgbClr val="C8D8E8"/>
            </a:solidFill>
            <a:prstDash val="solid"/>
          </a:ln>
        </p:spPr>
      </p:sp>
      <p:sp>
        <p:nvSpPr>
          <p:cNvPr id="7" name="Text 5"/>
          <p:cNvSpPr/>
          <p:nvPr/>
        </p:nvSpPr>
        <p:spPr>
          <a:xfrm>
            <a:off x="548640" y="6473952"/>
            <a:ext cx="6400800" cy="164592"/>
          </a:xfrm>
          <a:prstGeom prst="rect">
            <a:avLst/>
          </a:prstGeom>
          <a:noFill/>
          <a:ln/>
        </p:spPr>
        <p:txBody>
          <a:bodyPr wrap="square" lIns="0" tIns="0" rIns="0" bIns="0" rtlCol="0" anchor="ctr"/>
          <a:lstStyle/>
          <a:p>
            <a:pPr marL="0" indent="0">
              <a:buNone/>
            </a:pPr>
            <a:r>
              <a:rPr lang="en-US" sz="980" dirty="0">
                <a:solidFill>
                  <a:srgbClr val="5B6F84"/>
                </a:solidFill>
                <a:latin typeface="Noto Sans CJK SC" pitchFamily="34" charset="0"/>
                <a:ea typeface="Noto Sans CJK SC" pitchFamily="34" charset="-122"/>
                <a:cs typeface="Noto Sans CJK SC" pitchFamily="34" charset="-120"/>
              </a:rPr>
              <a:t>大连理工大学大学生创新创业训练计划项目 · 中期检查报告</a:t>
            </a:r>
            <a:endParaRPr lang="en-US" sz="980" dirty="0"/>
          </a:p>
        </p:txBody>
      </p:sp>
      <p:sp>
        <p:nvSpPr>
          <p:cNvPr id="8" name="Shape 6"/>
          <p:cNvSpPr/>
          <p:nvPr/>
        </p:nvSpPr>
        <p:spPr>
          <a:xfrm>
            <a:off x="2916936" y="2240280"/>
            <a:ext cx="384048" cy="0"/>
          </a:xfrm>
          <a:prstGeom prst="line">
            <a:avLst/>
          </a:prstGeom>
          <a:noFill/>
          <a:ln w="12700">
            <a:solidFill>
              <a:srgbClr val="153E75"/>
            </a:solidFill>
            <a:prstDash val="solid"/>
            <a:tailEnd type="triangle"/>
          </a:ln>
        </p:spPr>
      </p:sp>
      <p:sp>
        <p:nvSpPr>
          <p:cNvPr id="9" name="Shape 7"/>
          <p:cNvSpPr/>
          <p:nvPr/>
        </p:nvSpPr>
        <p:spPr>
          <a:xfrm>
            <a:off x="5769864" y="2240280"/>
            <a:ext cx="384048" cy="0"/>
          </a:xfrm>
          <a:prstGeom prst="line">
            <a:avLst/>
          </a:prstGeom>
          <a:noFill/>
          <a:ln w="12700">
            <a:solidFill>
              <a:srgbClr val="153E75"/>
            </a:solidFill>
            <a:prstDash val="solid"/>
            <a:tailEnd type="triangle"/>
          </a:ln>
        </p:spPr>
      </p:sp>
      <p:sp>
        <p:nvSpPr>
          <p:cNvPr id="10" name="Shape 8"/>
          <p:cNvSpPr/>
          <p:nvPr/>
        </p:nvSpPr>
        <p:spPr>
          <a:xfrm>
            <a:off x="8622792" y="2240280"/>
            <a:ext cx="384048" cy="0"/>
          </a:xfrm>
          <a:prstGeom prst="line">
            <a:avLst/>
          </a:prstGeom>
          <a:noFill/>
          <a:ln w="12700">
            <a:solidFill>
              <a:srgbClr val="153E75"/>
            </a:solidFill>
            <a:prstDash val="solid"/>
            <a:tailEnd type="triangle"/>
          </a:ln>
        </p:spPr>
      </p:sp>
      <p:sp>
        <p:nvSpPr>
          <p:cNvPr id="11" name="Text 9"/>
          <p:cNvSpPr/>
          <p:nvPr/>
        </p:nvSpPr>
        <p:spPr>
          <a:xfrm>
            <a:off x="676656" y="1572768"/>
            <a:ext cx="2240280" cy="457200"/>
          </a:xfrm>
          <a:prstGeom prst="roundRect">
            <a:avLst/>
          </a:prstGeom>
          <a:solidFill>
            <a:srgbClr val="2D8C8C"/>
          </a:solidFill>
          <a:ln>
            <a:solidFill>
              <a:srgbClr val="2D8C8C"/>
            </a:solidFill>
          </a:ln>
        </p:spPr>
        <p:txBody>
          <a:bodyPr wrap="square" lIns="1016" tIns="1016" rIns="1016" bIns="1016" rtlCol="0" anchor="ctr">
            <a:normAutofit/>
          </a:bodyPr>
          <a:lstStyle/>
          <a:p>
            <a:pPr marL="0" indent="0" algn="ctr">
              <a:buNone/>
            </a:pPr>
            <a:r>
              <a:rPr lang="en-US" sz="1600" b="1" dirty="0">
                <a:solidFill>
                  <a:srgbClr val="FFFFFF"/>
                </a:solidFill>
                <a:latin typeface="Noto Sans CJK SC" pitchFamily="34" charset="0"/>
                <a:ea typeface="Noto Sans CJK SC" pitchFamily="34" charset="-122"/>
                <a:cs typeface="Noto Sans CJK SC" pitchFamily="34" charset="-120"/>
              </a:rPr>
              <a:t>多模态生理感知</a:t>
            </a:r>
            <a:endParaRPr lang="en-US" sz="1600" dirty="0"/>
          </a:p>
        </p:txBody>
      </p:sp>
      <p:sp>
        <p:nvSpPr>
          <p:cNvPr id="12" name="Text 10"/>
          <p:cNvSpPr/>
          <p:nvPr/>
        </p:nvSpPr>
        <p:spPr>
          <a:xfrm>
            <a:off x="676656" y="2139696"/>
            <a:ext cx="2240280" cy="1078992"/>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ctr">
              <a:buNone/>
            </a:pPr>
            <a:r>
              <a:rPr lang="en-US" sz="1420" dirty="0">
                <a:solidFill>
                  <a:srgbClr val="18324A"/>
                </a:solidFill>
                <a:latin typeface="Noto Sans CJK SC" pitchFamily="34" charset="0"/>
                <a:ea typeface="Noto Sans CJK SC" pitchFamily="34" charset="-122"/>
                <a:cs typeface="Noto Sans CJK SC" pitchFamily="34" charset="-120"/>
              </a:rPr>
              <a:t>Polar H10、Shimmer3、Quest 2 / BLE 连接；实时采集 HRV、EDA 等信号。</a:t>
            </a:r>
            <a:endParaRPr lang="en-US" sz="1420" dirty="0"/>
          </a:p>
        </p:txBody>
      </p:sp>
      <p:sp>
        <p:nvSpPr>
          <p:cNvPr id="13" name="Text 11"/>
          <p:cNvSpPr/>
          <p:nvPr/>
        </p:nvSpPr>
        <p:spPr>
          <a:xfrm>
            <a:off x="3529584" y="1572768"/>
            <a:ext cx="2240280" cy="457200"/>
          </a:xfrm>
          <a:prstGeom prst="roundRect">
            <a:avLst/>
          </a:prstGeom>
          <a:solidFill>
            <a:srgbClr val="153E75"/>
          </a:solidFill>
          <a:ln>
            <a:solidFill>
              <a:srgbClr val="153E75"/>
            </a:solidFill>
          </a:ln>
        </p:spPr>
        <p:txBody>
          <a:bodyPr wrap="square" lIns="1016" tIns="1016" rIns="1016" bIns="1016" rtlCol="0" anchor="ctr">
            <a:normAutofit/>
          </a:bodyPr>
          <a:lstStyle/>
          <a:p>
            <a:pPr marL="0" indent="0" algn="ctr">
              <a:buNone/>
            </a:pPr>
            <a:r>
              <a:rPr lang="en-US" sz="1600" b="1" dirty="0">
                <a:solidFill>
                  <a:srgbClr val="FFFFFF"/>
                </a:solidFill>
                <a:latin typeface="Noto Sans CJK SC" pitchFamily="34" charset="0"/>
                <a:ea typeface="Noto Sans CJK SC" pitchFamily="34" charset="-122"/>
                <a:cs typeface="Noto Sans CJK SC" pitchFamily="34" charset="-120"/>
              </a:rPr>
              <a:t>状态评估模型</a:t>
            </a:r>
            <a:endParaRPr lang="en-US" sz="1600" dirty="0"/>
          </a:p>
        </p:txBody>
      </p:sp>
      <p:sp>
        <p:nvSpPr>
          <p:cNvPr id="14" name="Text 12"/>
          <p:cNvSpPr/>
          <p:nvPr/>
        </p:nvSpPr>
        <p:spPr>
          <a:xfrm>
            <a:off x="3529584" y="2139696"/>
            <a:ext cx="2240280" cy="1078992"/>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ctr">
              <a:buNone/>
            </a:pPr>
            <a:r>
              <a:rPr lang="en-US" sz="1420" dirty="0">
                <a:solidFill>
                  <a:srgbClr val="18324A"/>
                </a:solidFill>
                <a:latin typeface="Noto Sans CJK SC" pitchFamily="34" charset="0"/>
                <a:ea typeface="Noto Sans CJK SC" pitchFamily="34" charset="-122"/>
                <a:cs typeface="Noto Sans CJK SC" pitchFamily="34" charset="-120"/>
              </a:rPr>
              <a:t>提取 SDNN、RMSSD、LF/HF、SCL、SCR 等特征，完成身心状态三分类。</a:t>
            </a:r>
            <a:endParaRPr lang="en-US" sz="1420" dirty="0"/>
          </a:p>
        </p:txBody>
      </p:sp>
      <p:sp>
        <p:nvSpPr>
          <p:cNvPr id="15" name="Text 13"/>
          <p:cNvSpPr/>
          <p:nvPr/>
        </p:nvSpPr>
        <p:spPr>
          <a:xfrm>
            <a:off x="6382512" y="1572768"/>
            <a:ext cx="2240280" cy="457200"/>
          </a:xfrm>
          <a:prstGeom prst="roundRect">
            <a:avLst/>
          </a:prstGeom>
          <a:solidFill>
            <a:srgbClr val="D8902F"/>
          </a:solidFill>
          <a:ln>
            <a:solidFill>
              <a:srgbClr val="D8902F"/>
            </a:solidFill>
          </a:ln>
        </p:spPr>
        <p:txBody>
          <a:bodyPr wrap="square" lIns="1016" tIns="1016" rIns="1016" bIns="1016" rtlCol="0" anchor="ctr">
            <a:normAutofit/>
          </a:bodyPr>
          <a:lstStyle/>
          <a:p>
            <a:pPr marL="0" indent="0" algn="ctr">
              <a:buNone/>
            </a:pPr>
            <a:r>
              <a:rPr lang="en-US" sz="1600" b="1" dirty="0">
                <a:solidFill>
                  <a:srgbClr val="FFFFFF"/>
                </a:solidFill>
                <a:latin typeface="Noto Sans CJK SC" pitchFamily="34" charset="0"/>
                <a:ea typeface="Noto Sans CJK SC" pitchFamily="34" charset="-122"/>
                <a:cs typeface="Noto Sans CJK SC" pitchFamily="34" charset="-120"/>
              </a:rPr>
              <a:t>双任务自适应调控</a:t>
            </a:r>
            <a:endParaRPr lang="en-US" sz="1600" dirty="0"/>
          </a:p>
        </p:txBody>
      </p:sp>
      <p:sp>
        <p:nvSpPr>
          <p:cNvPr id="16" name="Text 14"/>
          <p:cNvSpPr/>
          <p:nvPr/>
        </p:nvSpPr>
        <p:spPr>
          <a:xfrm>
            <a:off x="6382512" y="2139696"/>
            <a:ext cx="2240280" cy="1078992"/>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ctr">
              <a:buNone/>
            </a:pPr>
            <a:r>
              <a:rPr lang="en-US" sz="1420" dirty="0">
                <a:solidFill>
                  <a:srgbClr val="18324A"/>
                </a:solidFill>
                <a:latin typeface="Noto Sans CJK SC" pitchFamily="34" charset="0"/>
                <a:ea typeface="Noto Sans CJK SC" pitchFamily="34" charset="-122"/>
                <a:cs typeface="Noto Sans CJK SC" pitchFamily="34" charset="-120"/>
              </a:rPr>
              <a:t>根据状态联动调整运动强度、认知任务难度与情绪调节流程。</a:t>
            </a:r>
            <a:endParaRPr lang="en-US" sz="1420" dirty="0"/>
          </a:p>
        </p:txBody>
      </p:sp>
      <p:sp>
        <p:nvSpPr>
          <p:cNvPr id="17" name="Text 15"/>
          <p:cNvSpPr/>
          <p:nvPr/>
        </p:nvSpPr>
        <p:spPr>
          <a:xfrm>
            <a:off x="9235440" y="1572768"/>
            <a:ext cx="2240280" cy="457200"/>
          </a:xfrm>
          <a:prstGeom prst="roundRect">
            <a:avLst/>
          </a:prstGeom>
          <a:solidFill>
            <a:srgbClr val="E57C2C"/>
          </a:solidFill>
          <a:ln>
            <a:solidFill>
              <a:srgbClr val="E57C2C"/>
            </a:solidFill>
          </a:ln>
        </p:spPr>
        <p:txBody>
          <a:bodyPr wrap="square" lIns="1016" tIns="1016" rIns="1016" bIns="1016" rtlCol="0" anchor="ctr">
            <a:normAutofit/>
          </a:bodyPr>
          <a:lstStyle/>
          <a:p>
            <a:pPr marL="0" indent="0" algn="ctr">
              <a:buNone/>
            </a:pPr>
            <a:r>
              <a:rPr lang="en-US" sz="1600" b="1" dirty="0">
                <a:solidFill>
                  <a:srgbClr val="FFFFFF"/>
                </a:solidFill>
                <a:latin typeface="Noto Sans CJK SC" pitchFamily="34" charset="0"/>
                <a:ea typeface="Noto Sans CJK SC" pitchFamily="34" charset="-122"/>
                <a:cs typeface="Noto Sans CJK SC" pitchFamily="34" charset="-120"/>
              </a:rPr>
              <a:t>游戏化场景组织</a:t>
            </a:r>
            <a:endParaRPr lang="en-US" sz="1600" dirty="0"/>
          </a:p>
        </p:txBody>
      </p:sp>
      <p:sp>
        <p:nvSpPr>
          <p:cNvPr id="18" name="Text 16"/>
          <p:cNvSpPr/>
          <p:nvPr/>
        </p:nvSpPr>
        <p:spPr>
          <a:xfrm>
            <a:off x="9235440" y="2139696"/>
            <a:ext cx="2240280" cy="1078992"/>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ctr">
              <a:buNone/>
            </a:pPr>
            <a:r>
              <a:rPr lang="en-US" sz="1420" dirty="0">
                <a:solidFill>
                  <a:srgbClr val="18324A"/>
                </a:solidFill>
                <a:latin typeface="Noto Sans CJK SC" pitchFamily="34" charset="0"/>
                <a:ea typeface="Noto Sans CJK SC" pitchFamily="34" charset="-122"/>
                <a:cs typeface="Noto Sans CJK SC" pitchFamily="34" charset="-120"/>
              </a:rPr>
              <a:t>操场骑行区—图书馆认知区—公园放松区，提升训练依从性。</a:t>
            </a:r>
            <a:endParaRPr lang="en-US" sz="1420" dirty="0"/>
          </a:p>
        </p:txBody>
      </p:sp>
      <p:sp>
        <p:nvSpPr>
          <p:cNvPr id="19" name="Text 17"/>
          <p:cNvSpPr/>
          <p:nvPr/>
        </p:nvSpPr>
        <p:spPr>
          <a:xfrm>
            <a:off x="749808" y="4069080"/>
            <a:ext cx="1463040" cy="292608"/>
          </a:xfrm>
          <a:prstGeom prst="roundRect">
            <a:avLst/>
          </a:prstGeom>
          <a:solidFill>
            <a:srgbClr val="EAF4FF"/>
          </a:solidFill>
          <a:ln>
            <a:solidFill>
              <a:srgbClr val="B8D7F5"/>
            </a:solidFill>
          </a:ln>
        </p:spPr>
        <p:txBody>
          <a:bodyPr wrap="square" lIns="1016" tIns="1016" rIns="1016" bIns="1016" rtlCol="0" anchor="ctr">
            <a:normAutofit/>
          </a:bodyPr>
          <a:lstStyle/>
          <a:p>
            <a:pPr marL="0" indent="0" algn="ctr">
              <a:buNone/>
            </a:pPr>
            <a:r>
              <a:rPr lang="en-US" sz="1550" b="1" dirty="0">
                <a:solidFill>
                  <a:srgbClr val="153E75"/>
                </a:solidFill>
                <a:latin typeface="Noto Sans CJK SC" pitchFamily="34" charset="0"/>
                <a:ea typeface="Noto Sans CJK SC" pitchFamily="34" charset="-122"/>
                <a:cs typeface="Noto Sans CJK SC" pitchFamily="34" charset="-120"/>
              </a:rPr>
              <a:t>状态分类逻辑</a:t>
            </a:r>
            <a:endParaRPr lang="en-US" sz="1550" dirty="0"/>
          </a:p>
        </p:txBody>
      </p:sp>
      <p:sp>
        <p:nvSpPr>
          <p:cNvPr id="20" name="Text 18"/>
          <p:cNvSpPr/>
          <p:nvPr/>
        </p:nvSpPr>
        <p:spPr>
          <a:xfrm>
            <a:off x="749808" y="4443984"/>
            <a:ext cx="3154680" cy="804672"/>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500" dirty="0">
                <a:solidFill>
                  <a:srgbClr val="18324A"/>
                </a:solidFill>
                <a:latin typeface="Noto Sans CJK SC" pitchFamily="34" charset="0"/>
                <a:ea typeface="Noto Sans CJK SC" pitchFamily="34" charset="-122"/>
                <a:cs typeface="Noto Sans CJK SC" pitchFamily="34" charset="-120"/>
              </a:rPr>
              <a:t>低唤醒 / 平衡唤醒 / 高唤醒三类状态；采用支持向量机进行分类建模。</a:t>
            </a:r>
            <a:endParaRPr lang="en-US" sz="1500" dirty="0"/>
          </a:p>
        </p:txBody>
      </p:sp>
      <p:sp>
        <p:nvSpPr>
          <p:cNvPr id="21" name="Text 19"/>
          <p:cNvSpPr/>
          <p:nvPr/>
        </p:nvSpPr>
        <p:spPr>
          <a:xfrm>
            <a:off x="4041648" y="4069080"/>
            <a:ext cx="1463040" cy="292608"/>
          </a:xfrm>
          <a:prstGeom prst="roundRect">
            <a:avLst/>
          </a:prstGeom>
          <a:solidFill>
            <a:srgbClr val="E9F7F3"/>
          </a:solidFill>
          <a:ln>
            <a:solidFill>
              <a:srgbClr val="B7E2D3"/>
            </a:solidFill>
          </a:ln>
        </p:spPr>
        <p:txBody>
          <a:bodyPr wrap="square" lIns="1016" tIns="1016" rIns="1016" bIns="1016" rtlCol="0" anchor="ctr">
            <a:normAutofit/>
          </a:bodyPr>
          <a:lstStyle/>
          <a:p>
            <a:pPr marL="0" indent="0" algn="ctr">
              <a:buNone/>
            </a:pPr>
            <a:r>
              <a:rPr lang="en-US" sz="1550" b="1" dirty="0">
                <a:solidFill>
                  <a:srgbClr val="2D8C8C"/>
                </a:solidFill>
                <a:latin typeface="Noto Sans CJK SC" pitchFamily="34" charset="0"/>
                <a:ea typeface="Noto Sans CJK SC" pitchFamily="34" charset="-122"/>
                <a:cs typeface="Noto Sans CJK SC" pitchFamily="34" charset="-120"/>
              </a:rPr>
              <a:t>调控对象</a:t>
            </a:r>
            <a:endParaRPr lang="en-US" sz="1550" dirty="0"/>
          </a:p>
        </p:txBody>
      </p:sp>
      <p:sp>
        <p:nvSpPr>
          <p:cNvPr id="22" name="Text 20"/>
          <p:cNvSpPr/>
          <p:nvPr/>
        </p:nvSpPr>
        <p:spPr>
          <a:xfrm>
            <a:off x="4041648" y="4443984"/>
            <a:ext cx="3154680" cy="804672"/>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500" dirty="0">
                <a:solidFill>
                  <a:srgbClr val="18324A"/>
                </a:solidFill>
                <a:latin typeface="Noto Sans CJK SC" pitchFamily="34" charset="0"/>
                <a:ea typeface="Noto Sans CJK SC" pitchFamily="34" charset="-122"/>
                <a:cs typeface="Noto Sans CJK SC" pitchFamily="34" charset="-120"/>
              </a:rPr>
              <a:t>运动负荷（阻力、坡度、节奏）与认知任务（Stroop / N-back 难度）同步联动。</a:t>
            </a:r>
            <a:endParaRPr lang="en-US" sz="1500" dirty="0"/>
          </a:p>
        </p:txBody>
      </p:sp>
      <p:sp>
        <p:nvSpPr>
          <p:cNvPr id="23" name="Text 21"/>
          <p:cNvSpPr/>
          <p:nvPr/>
        </p:nvSpPr>
        <p:spPr>
          <a:xfrm>
            <a:off x="7333488" y="4069080"/>
            <a:ext cx="1463040" cy="292608"/>
          </a:xfrm>
          <a:prstGeom prst="roundRect">
            <a:avLst/>
          </a:prstGeom>
          <a:solidFill>
            <a:srgbClr val="FDECEC"/>
          </a:solidFill>
          <a:ln>
            <a:solidFill>
              <a:srgbClr val="EAB5B5"/>
            </a:solidFill>
          </a:ln>
        </p:spPr>
        <p:txBody>
          <a:bodyPr wrap="square" lIns="1016" tIns="1016" rIns="1016" bIns="1016" rtlCol="0" anchor="ctr">
            <a:normAutofit/>
          </a:bodyPr>
          <a:lstStyle/>
          <a:p>
            <a:pPr marL="0" indent="0" algn="ctr">
              <a:buNone/>
            </a:pPr>
            <a:r>
              <a:rPr lang="en-US" sz="1550" b="1" dirty="0">
                <a:solidFill>
                  <a:srgbClr val="C94B4B"/>
                </a:solidFill>
                <a:latin typeface="Noto Sans CJK SC" pitchFamily="34" charset="0"/>
                <a:ea typeface="Noto Sans CJK SC" pitchFamily="34" charset="-122"/>
                <a:cs typeface="Noto Sans CJK SC" pitchFamily="34" charset="-120"/>
              </a:rPr>
              <a:t>系统边界</a:t>
            </a:r>
            <a:endParaRPr lang="en-US" sz="1550" dirty="0"/>
          </a:p>
        </p:txBody>
      </p:sp>
      <p:sp>
        <p:nvSpPr>
          <p:cNvPr id="24" name="Text 22"/>
          <p:cNvSpPr/>
          <p:nvPr/>
        </p:nvSpPr>
        <p:spPr>
          <a:xfrm>
            <a:off x="7333488" y="4443984"/>
            <a:ext cx="3154680" cy="804672"/>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500" dirty="0">
                <a:solidFill>
                  <a:srgbClr val="18324A"/>
                </a:solidFill>
                <a:latin typeface="Noto Sans CJK SC" pitchFamily="34" charset="0"/>
                <a:ea typeface="Noto Sans CJK SC" pitchFamily="34" charset="-122"/>
                <a:cs typeface="Noto Sans CJK SC" pitchFamily="34" charset="-120"/>
              </a:rPr>
              <a:t>已完成的是原理设计、规则表与模块划分；系统代码开发与集成测试属于下一阶段。</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292608"/>
            <a:ext cx="566928" cy="256032"/>
          </a:xfrm>
          <a:prstGeom prst="roundRect">
            <a:avLst/>
          </a:prstGeom>
          <a:solidFill>
            <a:srgbClr val="153E75"/>
          </a:solidFill>
          <a:ln>
            <a:solidFill>
              <a:srgbClr val="153E75"/>
            </a:solid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07</a:t>
            </a:r>
            <a:endParaRPr lang="en-US" sz="1400" dirty="0"/>
          </a:p>
        </p:txBody>
      </p:sp>
      <p:sp>
        <p:nvSpPr>
          <p:cNvPr id="3" name="Text 1"/>
          <p:cNvSpPr/>
          <p:nvPr/>
        </p:nvSpPr>
        <p:spPr>
          <a:xfrm>
            <a:off x="1234440" y="310896"/>
            <a:ext cx="9692640" cy="310896"/>
          </a:xfrm>
          <a:prstGeom prst="rect">
            <a:avLst/>
          </a:prstGeom>
          <a:noFill/>
          <a:ln/>
        </p:spPr>
        <p:txBody>
          <a:bodyPr wrap="square" lIns="0" tIns="0" rIns="0" bIns="0" rtlCol="0" anchor="ctr"/>
          <a:lstStyle/>
          <a:p>
            <a:pPr marL="0" indent="0">
              <a:buNone/>
            </a:pPr>
            <a:r>
              <a:rPr lang="en-US" sz="2300" b="1" dirty="0">
                <a:solidFill>
                  <a:srgbClr val="153E75"/>
                </a:solidFill>
                <a:latin typeface="Noto Sans CJK SC" pitchFamily="34" charset="0"/>
                <a:ea typeface="Noto Sans CJK SC" pitchFamily="34" charset="-122"/>
                <a:cs typeface="Noto Sans CJK SC" pitchFamily="34" charset="-120"/>
              </a:rPr>
              <a:t>预实验实施情况：完成小范围模拟训练并优化研究流程</a:t>
            </a:r>
            <a:endParaRPr lang="en-US" sz="2300" dirty="0"/>
          </a:p>
        </p:txBody>
      </p:sp>
      <p:sp>
        <p:nvSpPr>
          <p:cNvPr id="4" name="Shape 2"/>
          <p:cNvSpPr/>
          <p:nvPr/>
        </p:nvSpPr>
        <p:spPr>
          <a:xfrm>
            <a:off x="530352" y="749808"/>
            <a:ext cx="11109960" cy="0"/>
          </a:xfrm>
          <a:prstGeom prst="line">
            <a:avLst/>
          </a:prstGeom>
          <a:noFill/>
          <a:ln w="12700">
            <a:solidFill>
              <a:srgbClr val="153E75"/>
            </a:solidFill>
            <a:prstDash val="solid"/>
          </a:ln>
        </p:spPr>
      </p:sp>
      <p:sp>
        <p:nvSpPr>
          <p:cNvPr id="5" name="Text 3"/>
          <p:cNvSpPr/>
          <p:nvPr/>
        </p:nvSpPr>
        <p:spPr>
          <a:xfrm>
            <a:off x="548640" y="822960"/>
            <a:ext cx="10972800" cy="210312"/>
          </a:xfrm>
          <a:prstGeom prst="rect">
            <a:avLst/>
          </a:prstGeom>
          <a:noFill/>
          <a:ln/>
        </p:spPr>
        <p:txBody>
          <a:bodyPr wrap="square" lIns="0" tIns="0" rIns="0" bIns="0" rtlCol="0" anchor="ctr"/>
          <a:lstStyle/>
          <a:p>
            <a:pPr marL="0" indent="0">
              <a:buNone/>
            </a:pPr>
            <a:r>
              <a:rPr lang="en-US" sz="1150" dirty="0">
                <a:solidFill>
                  <a:srgbClr val="5B6F84"/>
                </a:solidFill>
                <a:latin typeface="Noto Sans CJK SC" pitchFamily="34" charset="0"/>
                <a:ea typeface="Noto Sans CJK SC" pitchFamily="34" charset="-122"/>
                <a:cs typeface="Noto Sans CJK SC" pitchFamily="34" charset="-120"/>
              </a:rPr>
              <a:t>中期最关键的“实做”成果，不是效果数据，而是对正式实验可操作性的验证</a:t>
            </a:r>
            <a:endParaRPr lang="en-US" sz="1150" dirty="0"/>
          </a:p>
        </p:txBody>
      </p:sp>
      <p:sp>
        <p:nvSpPr>
          <p:cNvPr id="6" name="Shape 4"/>
          <p:cNvSpPr/>
          <p:nvPr/>
        </p:nvSpPr>
        <p:spPr>
          <a:xfrm>
            <a:off x="530352" y="6419088"/>
            <a:ext cx="11109960" cy="0"/>
          </a:xfrm>
          <a:prstGeom prst="line">
            <a:avLst/>
          </a:prstGeom>
          <a:noFill/>
          <a:ln w="12700">
            <a:solidFill>
              <a:srgbClr val="C8D8E8"/>
            </a:solidFill>
            <a:prstDash val="solid"/>
          </a:ln>
        </p:spPr>
      </p:sp>
      <p:sp>
        <p:nvSpPr>
          <p:cNvPr id="7" name="Text 5"/>
          <p:cNvSpPr/>
          <p:nvPr/>
        </p:nvSpPr>
        <p:spPr>
          <a:xfrm>
            <a:off x="548640" y="6473952"/>
            <a:ext cx="6400800" cy="164592"/>
          </a:xfrm>
          <a:prstGeom prst="rect">
            <a:avLst/>
          </a:prstGeom>
          <a:noFill/>
          <a:ln/>
        </p:spPr>
        <p:txBody>
          <a:bodyPr wrap="square" lIns="0" tIns="0" rIns="0" bIns="0" rtlCol="0" anchor="ctr"/>
          <a:lstStyle/>
          <a:p>
            <a:pPr marL="0" indent="0">
              <a:buNone/>
            </a:pPr>
            <a:r>
              <a:rPr lang="en-US" sz="980" dirty="0">
                <a:solidFill>
                  <a:srgbClr val="5B6F84"/>
                </a:solidFill>
                <a:latin typeface="Noto Sans CJK SC" pitchFamily="34" charset="0"/>
                <a:ea typeface="Noto Sans CJK SC" pitchFamily="34" charset="-122"/>
                <a:cs typeface="Noto Sans CJK SC" pitchFamily="34" charset="-120"/>
              </a:rPr>
              <a:t>大连理工大学大学生创新创业训练计划项目 · 中期检查报告</a:t>
            </a:r>
            <a:endParaRPr lang="en-US" sz="980" dirty="0"/>
          </a:p>
        </p:txBody>
      </p:sp>
      <p:sp>
        <p:nvSpPr>
          <p:cNvPr id="8" name="Text 6"/>
          <p:cNvSpPr/>
          <p:nvPr/>
        </p:nvSpPr>
        <p:spPr>
          <a:xfrm>
            <a:off x="713232" y="1261872"/>
            <a:ext cx="1783080" cy="310896"/>
          </a:xfrm>
          <a:prstGeom prst="roundRect">
            <a:avLst/>
          </a:prstGeom>
          <a:solidFill>
            <a:srgbClr val="EAF4FF"/>
          </a:solidFill>
          <a:ln>
            <a:solidFill>
              <a:srgbClr val="B8D7F5"/>
            </a:solidFill>
          </a:ln>
        </p:spPr>
        <p:txBody>
          <a:bodyPr wrap="square" lIns="1016" tIns="1016" rIns="1016" bIns="1016" rtlCol="0" anchor="ctr">
            <a:normAutofit/>
          </a:bodyPr>
          <a:lstStyle/>
          <a:p>
            <a:pPr marL="0" indent="0" algn="ctr">
              <a:buNone/>
            </a:pPr>
            <a:r>
              <a:rPr lang="en-US" sz="1600" b="1" dirty="0">
                <a:solidFill>
                  <a:srgbClr val="153E75"/>
                </a:solidFill>
                <a:latin typeface="Noto Sans CJK SC" pitchFamily="34" charset="0"/>
                <a:ea typeface="Noto Sans CJK SC" pitchFamily="34" charset="-122"/>
                <a:cs typeface="Noto Sans CJK SC" pitchFamily="34" charset="-120"/>
              </a:rPr>
              <a:t>预实验基本信息</a:t>
            </a:r>
            <a:endParaRPr lang="en-US" sz="1600" dirty="0"/>
          </a:p>
        </p:txBody>
      </p:sp>
      <p:sp>
        <p:nvSpPr>
          <p:cNvPr id="9" name="Text 7"/>
          <p:cNvSpPr/>
          <p:nvPr/>
        </p:nvSpPr>
        <p:spPr>
          <a:xfrm>
            <a:off x="713232" y="1682496"/>
            <a:ext cx="3840480" cy="224028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600" dirty="0">
                <a:solidFill>
                  <a:srgbClr val="18324A"/>
                </a:solidFill>
                <a:latin typeface="Noto Sans CJK SC" pitchFamily="34" charset="0"/>
                <a:ea typeface="Noto Sans CJK SC" pitchFamily="34" charset="-122"/>
                <a:cs typeface="Noto Sans CJK SC" pitchFamily="34" charset="-120"/>
              </a:rPr>
              <a:t>时间：2025年11月—12月</a:t>
            </a:r>
            <a:endParaRPr lang="en-US" sz="1600" dirty="0"/>
          </a:p>
          <a:p>
            <a:pPr marL="0" indent="0" algn="l">
              <a:buNone/>
            </a:pPr>
            <a:r>
              <a:rPr lang="en-US" sz="1600" dirty="0">
                <a:solidFill>
                  <a:srgbClr val="18324A"/>
                </a:solidFill>
                <a:latin typeface="Noto Sans CJK SC" pitchFamily="34" charset="0"/>
                <a:ea typeface="Noto Sans CJK SC" pitchFamily="34" charset="-122"/>
                <a:cs typeface="Noto Sans CJK SC" pitchFamily="34" charset="-120"/>
              </a:rPr>
              <a:t>场地：学院实验室</a:t>
            </a:r>
            <a:endParaRPr lang="en-US" sz="1600" dirty="0"/>
          </a:p>
          <a:p>
            <a:pPr marL="0" indent="0" algn="l">
              <a:buNone/>
            </a:pPr>
            <a:r>
              <a:rPr lang="en-US" sz="1600" dirty="0">
                <a:solidFill>
                  <a:srgbClr val="18324A"/>
                </a:solidFill>
                <a:latin typeface="Noto Sans CJK SC" pitchFamily="34" charset="0"/>
                <a:ea typeface="Noto Sans CJK SC" pitchFamily="34" charset="-122"/>
                <a:cs typeface="Noto Sans CJK SC" pitchFamily="34" charset="-120"/>
              </a:rPr>
              <a:t>设备：现有动感单车、心率监测设备</a:t>
            </a:r>
            <a:endParaRPr lang="en-US" sz="1600" dirty="0"/>
          </a:p>
          <a:p>
            <a:pPr marL="0" indent="0" algn="l">
              <a:buNone/>
            </a:pPr>
            <a:r>
              <a:rPr lang="en-US" sz="1600" dirty="0">
                <a:solidFill>
                  <a:srgbClr val="18324A"/>
                </a:solidFill>
                <a:latin typeface="Noto Sans CJK SC" pitchFamily="34" charset="0"/>
                <a:ea typeface="Noto Sans CJK SC" pitchFamily="34" charset="-122"/>
                <a:cs typeface="Noto Sans CJK SC" pitchFamily="34" charset="-120"/>
              </a:rPr>
              <a:t>对象：12名符合纳入标准的本校大学生</a:t>
            </a:r>
            <a:endParaRPr lang="en-US" sz="1600" dirty="0"/>
          </a:p>
          <a:p>
            <a:pPr marL="0" indent="0" algn="l">
              <a:buNone/>
            </a:pPr>
            <a:r>
              <a:rPr lang="en-US" sz="1600" dirty="0">
                <a:solidFill>
                  <a:srgbClr val="18324A"/>
                </a:solidFill>
                <a:latin typeface="Noto Sans CJK SC" pitchFamily="34" charset="0"/>
                <a:ea typeface="Noto Sans CJK SC" pitchFamily="34" charset="-122"/>
                <a:cs typeface="Noto Sans CJK SC" pitchFamily="34" charset="-120"/>
              </a:rPr>
              <a:t>范式：线下模拟“运动—认知”协同训练流程</a:t>
            </a:r>
            <a:endParaRPr lang="en-US" sz="1600" dirty="0"/>
          </a:p>
        </p:txBody>
      </p:sp>
      <p:sp>
        <p:nvSpPr>
          <p:cNvPr id="10" name="Text 8"/>
          <p:cNvSpPr/>
          <p:nvPr/>
        </p:nvSpPr>
        <p:spPr>
          <a:xfrm>
            <a:off x="4882896" y="1261872"/>
            <a:ext cx="1920240" cy="310896"/>
          </a:xfrm>
          <a:prstGeom prst="roundRect">
            <a:avLst/>
          </a:prstGeom>
          <a:solidFill>
            <a:srgbClr val="E9F7F3"/>
          </a:solidFill>
          <a:ln>
            <a:solidFill>
              <a:srgbClr val="B7E2D3"/>
            </a:solidFill>
          </a:ln>
        </p:spPr>
        <p:txBody>
          <a:bodyPr wrap="square" lIns="1016" tIns="1016" rIns="1016" bIns="1016" rtlCol="0" anchor="ctr">
            <a:normAutofit/>
          </a:bodyPr>
          <a:lstStyle/>
          <a:p>
            <a:pPr marL="0" indent="0" algn="ctr">
              <a:buNone/>
            </a:pPr>
            <a:r>
              <a:rPr lang="en-US" sz="1600" b="1" dirty="0">
                <a:solidFill>
                  <a:srgbClr val="2D8C8C"/>
                </a:solidFill>
                <a:latin typeface="Noto Sans CJK SC" pitchFamily="34" charset="0"/>
                <a:ea typeface="Noto Sans CJK SC" pitchFamily="34" charset="-122"/>
                <a:cs typeface="Noto Sans CJK SC" pitchFamily="34" charset="-120"/>
              </a:rPr>
              <a:t>预实验验证了什么？</a:t>
            </a:r>
            <a:endParaRPr lang="en-US" sz="1600" dirty="0"/>
          </a:p>
        </p:txBody>
      </p:sp>
      <p:sp>
        <p:nvSpPr>
          <p:cNvPr id="11" name="Text 9"/>
          <p:cNvSpPr/>
          <p:nvPr/>
        </p:nvSpPr>
        <p:spPr>
          <a:xfrm>
            <a:off x="4901184" y="1700784"/>
            <a:ext cx="1225296" cy="256032"/>
          </a:xfrm>
          <a:prstGeom prst="roundRect">
            <a:avLst/>
          </a:prstGeom>
          <a:solidFill>
            <a:srgbClr val="153E75"/>
          </a:solidFill>
          <a:ln>
            <a:solidFill>
              <a:srgbClr val="153E75"/>
            </a:solidFill>
          </a:ln>
        </p:spPr>
        <p:txBody>
          <a:bodyPr wrap="square" lIns="1016" tIns="1016" rIns="1016" bIns="1016" rtlCol="0" anchor="ctr">
            <a:normAutofit/>
          </a:bodyPr>
          <a:lstStyle/>
          <a:p>
            <a:pPr marL="0" indent="0" algn="ctr">
              <a:buNone/>
            </a:pPr>
            <a:r>
              <a:rPr lang="en-US" sz="1280" b="1" dirty="0">
                <a:solidFill>
                  <a:srgbClr val="FFFFFF"/>
                </a:solidFill>
                <a:latin typeface="Noto Sans CJK SC" pitchFamily="34" charset="0"/>
                <a:ea typeface="Noto Sans CJK SC" pitchFamily="34" charset="-122"/>
                <a:cs typeface="Noto Sans CJK SC" pitchFamily="34" charset="-120"/>
              </a:rPr>
              <a:t>训练流程</a:t>
            </a:r>
            <a:endParaRPr lang="en-US" sz="1280" dirty="0"/>
          </a:p>
        </p:txBody>
      </p:sp>
      <p:sp>
        <p:nvSpPr>
          <p:cNvPr id="12" name="Text 10"/>
          <p:cNvSpPr/>
          <p:nvPr/>
        </p:nvSpPr>
        <p:spPr>
          <a:xfrm>
            <a:off x="6291072" y="1609344"/>
            <a:ext cx="5029200" cy="438912"/>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450" dirty="0">
                <a:solidFill>
                  <a:srgbClr val="18324A"/>
                </a:solidFill>
                <a:latin typeface="Noto Sans CJK SC" pitchFamily="34" charset="0"/>
                <a:ea typeface="Noto Sans CJK SC" pitchFamily="34" charset="-122"/>
                <a:cs typeface="Noto Sans CJK SC" pitchFamily="34" charset="-120"/>
              </a:rPr>
              <a:t>完整跑通“运动—认知—放松”流程组织方式</a:t>
            </a:r>
            <a:endParaRPr lang="en-US" sz="1450" dirty="0"/>
          </a:p>
        </p:txBody>
      </p:sp>
      <p:sp>
        <p:nvSpPr>
          <p:cNvPr id="13" name="Text 11"/>
          <p:cNvSpPr/>
          <p:nvPr/>
        </p:nvSpPr>
        <p:spPr>
          <a:xfrm>
            <a:off x="4901184" y="2340864"/>
            <a:ext cx="1225296" cy="256032"/>
          </a:xfrm>
          <a:prstGeom prst="roundRect">
            <a:avLst/>
          </a:prstGeom>
          <a:solidFill>
            <a:srgbClr val="153E75"/>
          </a:solidFill>
          <a:ln>
            <a:solidFill>
              <a:srgbClr val="153E75"/>
            </a:solidFill>
          </a:ln>
        </p:spPr>
        <p:txBody>
          <a:bodyPr wrap="square" lIns="1016" tIns="1016" rIns="1016" bIns="1016" rtlCol="0" anchor="ctr">
            <a:normAutofit/>
          </a:bodyPr>
          <a:lstStyle/>
          <a:p>
            <a:pPr marL="0" indent="0" algn="ctr">
              <a:buNone/>
            </a:pPr>
            <a:r>
              <a:rPr lang="en-US" sz="1280" b="1" dirty="0">
                <a:solidFill>
                  <a:srgbClr val="FFFFFF"/>
                </a:solidFill>
                <a:latin typeface="Noto Sans CJK SC" pitchFamily="34" charset="0"/>
                <a:ea typeface="Noto Sans CJK SC" pitchFamily="34" charset="-122"/>
                <a:cs typeface="Noto Sans CJK SC" pitchFamily="34" charset="-120"/>
              </a:rPr>
              <a:t>数据流程</a:t>
            </a:r>
            <a:endParaRPr lang="en-US" sz="1280" dirty="0"/>
          </a:p>
        </p:txBody>
      </p:sp>
      <p:sp>
        <p:nvSpPr>
          <p:cNvPr id="14" name="Text 12"/>
          <p:cNvSpPr/>
          <p:nvPr/>
        </p:nvSpPr>
        <p:spPr>
          <a:xfrm>
            <a:off x="6291072" y="2249424"/>
            <a:ext cx="5029200" cy="438912"/>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450" dirty="0">
                <a:solidFill>
                  <a:srgbClr val="18324A"/>
                </a:solidFill>
                <a:latin typeface="Noto Sans CJK SC" pitchFamily="34" charset="0"/>
                <a:ea typeface="Noto Sans CJK SC" pitchFamily="34" charset="-122"/>
                <a:cs typeface="Noto Sans CJK SC" pitchFamily="34" charset="-120"/>
              </a:rPr>
              <a:t>完成预实验数据整理与统计分析</a:t>
            </a:r>
            <a:endParaRPr lang="en-US" sz="1450" dirty="0"/>
          </a:p>
        </p:txBody>
      </p:sp>
      <p:sp>
        <p:nvSpPr>
          <p:cNvPr id="15" name="Text 13"/>
          <p:cNvSpPr/>
          <p:nvPr/>
        </p:nvSpPr>
        <p:spPr>
          <a:xfrm>
            <a:off x="4901184" y="2980944"/>
            <a:ext cx="1225296" cy="256032"/>
          </a:xfrm>
          <a:prstGeom prst="roundRect">
            <a:avLst/>
          </a:prstGeom>
          <a:solidFill>
            <a:srgbClr val="153E75"/>
          </a:solidFill>
          <a:ln>
            <a:solidFill>
              <a:srgbClr val="153E75"/>
            </a:solidFill>
          </a:ln>
        </p:spPr>
        <p:txBody>
          <a:bodyPr wrap="square" lIns="1016" tIns="1016" rIns="1016" bIns="1016" rtlCol="0" anchor="ctr">
            <a:normAutofit/>
          </a:bodyPr>
          <a:lstStyle/>
          <a:p>
            <a:pPr marL="0" indent="0" algn="ctr">
              <a:buNone/>
            </a:pPr>
            <a:r>
              <a:rPr lang="en-US" sz="1280" b="1" dirty="0">
                <a:solidFill>
                  <a:srgbClr val="FFFFFF"/>
                </a:solidFill>
                <a:latin typeface="Noto Sans CJK SC" pitchFamily="34" charset="0"/>
                <a:ea typeface="Noto Sans CJK SC" pitchFamily="34" charset="-122"/>
                <a:cs typeface="Noto Sans CJK SC" pitchFamily="34" charset="-120"/>
              </a:rPr>
              <a:t>量表与任务</a:t>
            </a:r>
            <a:endParaRPr lang="en-US" sz="1280" dirty="0"/>
          </a:p>
        </p:txBody>
      </p:sp>
      <p:sp>
        <p:nvSpPr>
          <p:cNvPr id="16" name="Text 14"/>
          <p:cNvSpPr/>
          <p:nvPr/>
        </p:nvSpPr>
        <p:spPr>
          <a:xfrm>
            <a:off x="6291072" y="2889504"/>
            <a:ext cx="5029200" cy="438912"/>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450" dirty="0">
                <a:solidFill>
                  <a:srgbClr val="18324A"/>
                </a:solidFill>
                <a:latin typeface="Noto Sans CJK SC" pitchFamily="34" charset="0"/>
                <a:ea typeface="Noto Sans CJK SC" pitchFamily="34" charset="-122"/>
                <a:cs typeface="Noto Sans CJK SC" pitchFamily="34" charset="-120"/>
              </a:rPr>
              <a:t>根据预实验反馈优化评估量表与训练方案细节</a:t>
            </a:r>
            <a:endParaRPr lang="en-US" sz="1450" dirty="0"/>
          </a:p>
        </p:txBody>
      </p:sp>
      <p:sp>
        <p:nvSpPr>
          <p:cNvPr id="17" name="Text 15"/>
          <p:cNvSpPr/>
          <p:nvPr/>
        </p:nvSpPr>
        <p:spPr>
          <a:xfrm>
            <a:off x="4901184" y="3621024"/>
            <a:ext cx="1225296" cy="256032"/>
          </a:xfrm>
          <a:prstGeom prst="roundRect">
            <a:avLst/>
          </a:prstGeom>
          <a:solidFill>
            <a:srgbClr val="153E75"/>
          </a:solidFill>
          <a:ln>
            <a:solidFill>
              <a:srgbClr val="153E75"/>
            </a:solidFill>
          </a:ln>
        </p:spPr>
        <p:txBody>
          <a:bodyPr wrap="square" lIns="1016" tIns="1016" rIns="1016" bIns="1016" rtlCol="0" anchor="ctr">
            <a:normAutofit/>
          </a:bodyPr>
          <a:lstStyle/>
          <a:p>
            <a:pPr marL="0" indent="0" algn="ctr">
              <a:buNone/>
            </a:pPr>
            <a:r>
              <a:rPr lang="en-US" sz="1280" b="1" dirty="0">
                <a:solidFill>
                  <a:srgbClr val="FFFFFF"/>
                </a:solidFill>
                <a:latin typeface="Noto Sans CJK SC" pitchFamily="34" charset="0"/>
                <a:ea typeface="Noto Sans CJK SC" pitchFamily="34" charset="-122"/>
                <a:cs typeface="Noto Sans CJK SC" pitchFamily="34" charset="-120"/>
              </a:rPr>
              <a:t>结论定位</a:t>
            </a:r>
            <a:endParaRPr lang="en-US" sz="1280" dirty="0"/>
          </a:p>
        </p:txBody>
      </p:sp>
      <p:sp>
        <p:nvSpPr>
          <p:cNvPr id="18" name="Text 16"/>
          <p:cNvSpPr/>
          <p:nvPr/>
        </p:nvSpPr>
        <p:spPr>
          <a:xfrm>
            <a:off x="6291072" y="3529584"/>
            <a:ext cx="5029200" cy="438912"/>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450" dirty="0">
                <a:solidFill>
                  <a:srgbClr val="18324A"/>
                </a:solidFill>
                <a:latin typeface="Noto Sans CJK SC" pitchFamily="34" charset="0"/>
                <a:ea typeface="Noto Sans CJK SC" pitchFamily="34" charset="-122"/>
                <a:cs typeface="Noto Sans CJK SC" pitchFamily="34" charset="-120"/>
              </a:rPr>
              <a:t>确认研究方案具有可操作性，为正式实验奠定基础</a:t>
            </a:r>
            <a:endParaRPr lang="en-US" sz="1450" dirty="0"/>
          </a:p>
        </p:txBody>
      </p:sp>
      <p:sp>
        <p:nvSpPr>
          <p:cNvPr id="19" name="Text 17"/>
          <p:cNvSpPr/>
          <p:nvPr/>
        </p:nvSpPr>
        <p:spPr>
          <a:xfrm>
            <a:off x="749808" y="4315968"/>
            <a:ext cx="1938528" cy="310896"/>
          </a:xfrm>
          <a:prstGeom prst="roundRect">
            <a:avLst/>
          </a:prstGeom>
          <a:solidFill>
            <a:srgbClr val="FDECEC"/>
          </a:solidFill>
          <a:ln>
            <a:solidFill>
              <a:srgbClr val="EAB5B5"/>
            </a:solidFill>
          </a:ln>
        </p:spPr>
        <p:txBody>
          <a:bodyPr wrap="square" lIns="1016" tIns="1016" rIns="1016" bIns="1016" rtlCol="0" anchor="ctr">
            <a:normAutofit/>
          </a:bodyPr>
          <a:lstStyle/>
          <a:p>
            <a:pPr marL="0" indent="0" algn="ctr">
              <a:buNone/>
            </a:pPr>
            <a:r>
              <a:rPr lang="en-US" sz="1600" b="1" dirty="0">
                <a:solidFill>
                  <a:srgbClr val="C94B4B"/>
                </a:solidFill>
                <a:latin typeface="Noto Sans CJK SC" pitchFamily="34" charset="0"/>
                <a:ea typeface="Noto Sans CJK SC" pitchFamily="34" charset="-122"/>
                <a:cs typeface="Noto Sans CJK SC" pitchFamily="34" charset="-120"/>
              </a:rPr>
              <a:t>汇报时的表述边界</a:t>
            </a:r>
            <a:endParaRPr lang="en-US" sz="1600" dirty="0"/>
          </a:p>
        </p:txBody>
      </p:sp>
      <p:sp>
        <p:nvSpPr>
          <p:cNvPr id="20" name="Text 18"/>
          <p:cNvSpPr/>
          <p:nvPr/>
        </p:nvSpPr>
        <p:spPr>
          <a:xfrm>
            <a:off x="749808" y="4736592"/>
            <a:ext cx="10972800" cy="475488"/>
          </a:xfrm>
          <a:prstGeom prst="rect">
            <a:avLst/>
          </a:prstGeom>
          <a:noFill/>
          <a:ln/>
        </p:spPr>
        <p:txBody>
          <a:bodyPr wrap="square" lIns="1016" tIns="1016" rIns="1016" bIns="1016" rtlCol="0" anchor="ctr">
            <a:normAutofit/>
          </a:bodyPr>
          <a:lstStyle/>
          <a:p>
            <a:pPr marL="0" indent="0" algn="l">
              <a:buNone/>
            </a:pPr>
            <a:r>
              <a:rPr lang="en-US" sz="1700" dirty="0">
                <a:solidFill>
                  <a:srgbClr val="18324A"/>
                </a:solidFill>
                <a:latin typeface="Noto Sans CJK SC" pitchFamily="34" charset="0"/>
                <a:ea typeface="Noto Sans CJK SC" pitchFamily="34" charset="-122"/>
                <a:cs typeface="Noto Sans CJK SC" pitchFamily="34" charset="-120"/>
              </a:rPr>
              <a:t>不展示未经正式实验验证的干预效果数据；预实验的意义主要在于验证流程、设备协同和方案可执行性。</a:t>
            </a:r>
            <a:endParaRPr lang="en-US" sz="1700" dirty="0"/>
          </a:p>
        </p:txBody>
      </p:sp>
      <p:sp>
        <p:nvSpPr>
          <p:cNvPr id="22" name="Text 20"/>
          <p:cNvSpPr/>
          <p:nvPr/>
        </p:nvSpPr>
        <p:spPr>
          <a:xfrm>
            <a:off x="713232" y="5356236"/>
            <a:ext cx="5120640" cy="512064"/>
          </a:xfrm>
          <a:prstGeom prst="roundRect">
            <a:avLst/>
          </a:prstGeom>
          <a:solidFill>
            <a:srgbClr val="FFFFFF"/>
          </a:solidFill>
          <a:ln>
            <a:solidFill>
              <a:srgbClr val="C8D8E8"/>
            </a:solidFill>
          </a:ln>
        </p:spPr>
        <p:txBody>
          <a:bodyPr wrap="square" lIns="1016" tIns="1016" rIns="1016" bIns="1016" rtlCol="0" anchor="ctr">
            <a:normAutofit lnSpcReduction="10000"/>
          </a:bodyPr>
          <a:lstStyle/>
          <a:p>
            <a:pPr marL="0" indent="0" algn="l">
              <a:buNone/>
            </a:pPr>
            <a:r>
              <a:rPr lang="en-US" sz="1620" dirty="0">
                <a:solidFill>
                  <a:srgbClr val="18324A"/>
                </a:solidFill>
                <a:latin typeface="Noto Sans CJK SC" pitchFamily="34" charset="0"/>
                <a:ea typeface="Noto Sans CJK SC" pitchFamily="34" charset="-122"/>
                <a:cs typeface="Noto Sans CJK SC" pitchFamily="34" charset="-120"/>
              </a:rPr>
              <a:t>对正式实验的直接价值：明确招募流程、训练节奏、评估节点与细节调整方向，降低后续实施风险。</a:t>
            </a:r>
            <a:endParaRPr lang="en-US" sz="16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292608"/>
            <a:ext cx="566928" cy="256032"/>
          </a:xfrm>
          <a:prstGeom prst="roundRect">
            <a:avLst/>
          </a:prstGeom>
          <a:solidFill>
            <a:srgbClr val="153E75"/>
          </a:solidFill>
          <a:ln>
            <a:solidFill>
              <a:srgbClr val="153E75"/>
            </a:solid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08</a:t>
            </a:r>
            <a:endParaRPr lang="en-US" sz="1400" dirty="0"/>
          </a:p>
        </p:txBody>
      </p:sp>
      <p:sp>
        <p:nvSpPr>
          <p:cNvPr id="3" name="Text 1"/>
          <p:cNvSpPr/>
          <p:nvPr/>
        </p:nvSpPr>
        <p:spPr>
          <a:xfrm>
            <a:off x="1234440" y="310896"/>
            <a:ext cx="9692640" cy="310896"/>
          </a:xfrm>
          <a:prstGeom prst="rect">
            <a:avLst/>
          </a:prstGeom>
          <a:noFill/>
          <a:ln/>
        </p:spPr>
        <p:txBody>
          <a:bodyPr wrap="square" lIns="0" tIns="0" rIns="0" bIns="0" rtlCol="0" anchor="ctr"/>
          <a:lstStyle/>
          <a:p>
            <a:pPr marL="0" indent="0">
              <a:buNone/>
            </a:pPr>
            <a:r>
              <a:rPr lang="en-US" sz="2300" b="1" dirty="0">
                <a:solidFill>
                  <a:srgbClr val="153E75"/>
                </a:solidFill>
                <a:latin typeface="Noto Sans CJK SC" pitchFamily="34" charset="0"/>
                <a:ea typeface="Noto Sans CJK SC" pitchFamily="34" charset="-122"/>
                <a:cs typeface="Noto Sans CJK SC" pitchFamily="34" charset="-120"/>
              </a:rPr>
              <a:t>正式实验筹备与中期成果清单</a:t>
            </a:r>
            <a:endParaRPr lang="en-US" sz="2300" dirty="0"/>
          </a:p>
        </p:txBody>
      </p:sp>
      <p:sp>
        <p:nvSpPr>
          <p:cNvPr id="4" name="Shape 2"/>
          <p:cNvSpPr/>
          <p:nvPr/>
        </p:nvSpPr>
        <p:spPr>
          <a:xfrm>
            <a:off x="530352" y="749808"/>
            <a:ext cx="11109960" cy="0"/>
          </a:xfrm>
          <a:prstGeom prst="line">
            <a:avLst/>
          </a:prstGeom>
          <a:noFill/>
          <a:ln w="12700">
            <a:solidFill>
              <a:srgbClr val="153E75"/>
            </a:solidFill>
            <a:prstDash val="solid"/>
          </a:ln>
        </p:spPr>
      </p:sp>
      <p:sp>
        <p:nvSpPr>
          <p:cNvPr id="5" name="Text 3"/>
          <p:cNvSpPr/>
          <p:nvPr/>
        </p:nvSpPr>
        <p:spPr>
          <a:xfrm>
            <a:off x="548640" y="822960"/>
            <a:ext cx="10972800" cy="210312"/>
          </a:xfrm>
          <a:prstGeom prst="rect">
            <a:avLst/>
          </a:prstGeom>
          <a:noFill/>
          <a:ln/>
        </p:spPr>
        <p:txBody>
          <a:bodyPr wrap="square" lIns="0" tIns="0" rIns="0" bIns="0" rtlCol="0" anchor="ctr"/>
          <a:lstStyle/>
          <a:p>
            <a:pPr marL="0" indent="0">
              <a:buNone/>
            </a:pPr>
            <a:r>
              <a:rPr lang="en-US" sz="1150" dirty="0">
                <a:solidFill>
                  <a:srgbClr val="5B6F84"/>
                </a:solidFill>
                <a:latin typeface="Noto Sans CJK SC" pitchFamily="34" charset="0"/>
                <a:ea typeface="Noto Sans CJK SC" pitchFamily="34" charset="-122"/>
                <a:cs typeface="Noto Sans CJK SC" pitchFamily="34" charset="-120"/>
              </a:rPr>
              <a:t>当前处于“从方案验证转向正式实施”的关键过渡期</a:t>
            </a:r>
            <a:endParaRPr lang="en-US" sz="1150" dirty="0"/>
          </a:p>
        </p:txBody>
      </p:sp>
      <p:sp>
        <p:nvSpPr>
          <p:cNvPr id="6" name="Shape 4"/>
          <p:cNvSpPr/>
          <p:nvPr/>
        </p:nvSpPr>
        <p:spPr>
          <a:xfrm>
            <a:off x="530352" y="6419088"/>
            <a:ext cx="11109960" cy="0"/>
          </a:xfrm>
          <a:prstGeom prst="line">
            <a:avLst/>
          </a:prstGeom>
          <a:noFill/>
          <a:ln w="12700">
            <a:solidFill>
              <a:srgbClr val="C8D8E8"/>
            </a:solidFill>
            <a:prstDash val="solid"/>
          </a:ln>
        </p:spPr>
      </p:sp>
      <p:sp>
        <p:nvSpPr>
          <p:cNvPr id="7" name="Text 5"/>
          <p:cNvSpPr/>
          <p:nvPr/>
        </p:nvSpPr>
        <p:spPr>
          <a:xfrm>
            <a:off x="548640" y="6473952"/>
            <a:ext cx="6400800" cy="164592"/>
          </a:xfrm>
          <a:prstGeom prst="rect">
            <a:avLst/>
          </a:prstGeom>
          <a:noFill/>
          <a:ln/>
        </p:spPr>
        <p:txBody>
          <a:bodyPr wrap="square" lIns="0" tIns="0" rIns="0" bIns="0" rtlCol="0" anchor="ctr"/>
          <a:lstStyle/>
          <a:p>
            <a:pPr marL="0" indent="0">
              <a:buNone/>
            </a:pPr>
            <a:r>
              <a:rPr lang="en-US" sz="980" dirty="0">
                <a:solidFill>
                  <a:srgbClr val="5B6F84"/>
                </a:solidFill>
                <a:latin typeface="Noto Sans CJK SC" pitchFamily="34" charset="0"/>
                <a:ea typeface="Noto Sans CJK SC" pitchFamily="34" charset="-122"/>
                <a:cs typeface="Noto Sans CJK SC" pitchFamily="34" charset="-120"/>
              </a:rPr>
              <a:t>大连理工大学大学生创新创业训练计划项目 · 中期检查报告</a:t>
            </a:r>
            <a:endParaRPr lang="en-US" sz="980" dirty="0"/>
          </a:p>
        </p:txBody>
      </p:sp>
      <p:sp>
        <p:nvSpPr>
          <p:cNvPr id="8" name="Text 6"/>
          <p:cNvSpPr/>
          <p:nvPr/>
        </p:nvSpPr>
        <p:spPr>
          <a:xfrm>
            <a:off x="713232" y="1243584"/>
            <a:ext cx="2011680" cy="310896"/>
          </a:xfrm>
          <a:prstGeom prst="roundRect">
            <a:avLst/>
          </a:prstGeom>
          <a:solidFill>
            <a:srgbClr val="EAF4FF"/>
          </a:solidFill>
          <a:ln>
            <a:solidFill>
              <a:srgbClr val="B8D7F5"/>
            </a:solidFill>
          </a:ln>
        </p:spPr>
        <p:txBody>
          <a:bodyPr wrap="square" lIns="1016" tIns="1016" rIns="1016" bIns="1016" rtlCol="0" anchor="ctr">
            <a:normAutofit/>
          </a:bodyPr>
          <a:lstStyle/>
          <a:p>
            <a:pPr marL="0" indent="0" algn="ctr">
              <a:buNone/>
            </a:pPr>
            <a:r>
              <a:rPr lang="en-US" sz="1600" b="1" dirty="0">
                <a:solidFill>
                  <a:srgbClr val="153E75"/>
                </a:solidFill>
                <a:latin typeface="Noto Sans CJK SC" pitchFamily="34" charset="0"/>
                <a:ea typeface="Noto Sans CJK SC" pitchFamily="34" charset="-122"/>
                <a:cs typeface="Noto Sans CJK SC" pitchFamily="34" charset="-120"/>
              </a:rPr>
              <a:t>正式实验前期筹备</a:t>
            </a:r>
            <a:endParaRPr lang="en-US" sz="1600" dirty="0"/>
          </a:p>
        </p:txBody>
      </p:sp>
      <p:sp>
        <p:nvSpPr>
          <p:cNvPr id="9" name="Text 7"/>
          <p:cNvSpPr/>
          <p:nvPr/>
        </p:nvSpPr>
        <p:spPr>
          <a:xfrm>
            <a:off x="786384" y="1719072"/>
            <a:ext cx="4937760" cy="508000"/>
          </a:xfrm>
          <a:prstGeom prst="rect">
            <a:avLst/>
          </a:prstGeom>
          <a:noFill/>
          <a:ln/>
        </p:spPr>
        <p:txBody>
          <a:bodyPr wrap="square" lIns="0" tIns="0" rIns="0" bIns="0" rtlCol="0" anchor="ctr">
            <a:normAutofit/>
          </a:bodyPr>
          <a:lstStyle/>
          <a:p>
            <a:pPr marL="0" indent="0">
              <a:buNone/>
            </a:pPr>
            <a:r>
              <a:rPr lang="en-US" sz="1600" dirty="0">
                <a:solidFill>
                  <a:srgbClr val="18324A"/>
                </a:solidFill>
                <a:latin typeface="Noto Sans CJK SC" pitchFamily="34" charset="0"/>
                <a:ea typeface="Noto Sans CJK SC" pitchFamily="34" charset="-122"/>
                <a:cs typeface="Noto Sans CJK SC" pitchFamily="34" charset="-120"/>
              </a:rPr>
              <a:t>• 已完成受试者招募宣传与纳入标准初筛；</a:t>
            </a:r>
            <a:endParaRPr lang="en-US" sz="1600" dirty="0"/>
          </a:p>
        </p:txBody>
      </p:sp>
      <p:sp>
        <p:nvSpPr>
          <p:cNvPr id="10" name="Text 8"/>
          <p:cNvSpPr/>
          <p:nvPr/>
        </p:nvSpPr>
        <p:spPr>
          <a:xfrm>
            <a:off x="786384" y="2318512"/>
            <a:ext cx="4937760" cy="508000"/>
          </a:xfrm>
          <a:prstGeom prst="rect">
            <a:avLst/>
          </a:prstGeom>
          <a:noFill/>
          <a:ln/>
        </p:spPr>
        <p:txBody>
          <a:bodyPr wrap="square" lIns="0" tIns="0" rIns="0" bIns="0" rtlCol="0" anchor="ctr">
            <a:normAutofit/>
          </a:bodyPr>
          <a:lstStyle/>
          <a:p>
            <a:pPr marL="0" indent="0">
              <a:buNone/>
            </a:pPr>
            <a:r>
              <a:rPr lang="en-US" sz="1600" dirty="0">
                <a:solidFill>
                  <a:srgbClr val="18324A"/>
                </a:solidFill>
                <a:latin typeface="Noto Sans CJK SC" pitchFamily="34" charset="0"/>
                <a:ea typeface="Noto Sans CJK SC" pitchFamily="34" charset="-122"/>
                <a:cs typeface="Noto Sans CJK SC" pitchFamily="34" charset="-120"/>
              </a:rPr>
              <a:t>• 已完成部分受试者基线数据采集；</a:t>
            </a:r>
            <a:endParaRPr lang="en-US" sz="1600" dirty="0"/>
          </a:p>
        </p:txBody>
      </p:sp>
      <p:sp>
        <p:nvSpPr>
          <p:cNvPr id="11" name="Text 9"/>
          <p:cNvSpPr/>
          <p:nvPr/>
        </p:nvSpPr>
        <p:spPr>
          <a:xfrm>
            <a:off x="786384" y="2917952"/>
            <a:ext cx="4937760" cy="508000"/>
          </a:xfrm>
          <a:prstGeom prst="rect">
            <a:avLst/>
          </a:prstGeom>
          <a:noFill/>
          <a:ln/>
        </p:spPr>
        <p:txBody>
          <a:bodyPr wrap="square" lIns="0" tIns="0" rIns="0" bIns="0" rtlCol="0" anchor="ctr">
            <a:normAutofit/>
          </a:bodyPr>
          <a:lstStyle/>
          <a:p>
            <a:pPr marL="0" indent="0">
              <a:buNone/>
            </a:pPr>
            <a:r>
              <a:rPr lang="en-US" sz="1600" dirty="0">
                <a:solidFill>
                  <a:srgbClr val="18324A"/>
                </a:solidFill>
                <a:latin typeface="Noto Sans CJK SC" pitchFamily="34" charset="0"/>
                <a:ea typeface="Noto Sans CJK SC" pitchFamily="34" charset="-122"/>
                <a:cs typeface="Noto Sans CJK SC" pitchFamily="34" charset="-120"/>
              </a:rPr>
              <a:t>• 已同步推进实验伦理报备前期准备；</a:t>
            </a:r>
            <a:endParaRPr lang="en-US" sz="1600" dirty="0"/>
          </a:p>
        </p:txBody>
      </p:sp>
      <p:sp>
        <p:nvSpPr>
          <p:cNvPr id="12" name="Text 10"/>
          <p:cNvSpPr/>
          <p:nvPr/>
        </p:nvSpPr>
        <p:spPr>
          <a:xfrm>
            <a:off x="786384" y="3517392"/>
            <a:ext cx="4937760" cy="508000"/>
          </a:xfrm>
          <a:prstGeom prst="rect">
            <a:avLst/>
          </a:prstGeom>
          <a:noFill/>
          <a:ln/>
        </p:spPr>
        <p:txBody>
          <a:bodyPr wrap="square" lIns="0" tIns="0" rIns="0" bIns="0" rtlCol="0" anchor="ctr">
            <a:normAutofit/>
          </a:bodyPr>
          <a:lstStyle/>
          <a:p>
            <a:pPr marL="0" indent="0">
              <a:buNone/>
            </a:pPr>
            <a:r>
              <a:rPr lang="en-US" sz="1600" dirty="0">
                <a:solidFill>
                  <a:srgbClr val="18324A"/>
                </a:solidFill>
                <a:latin typeface="Noto Sans CJK SC" pitchFamily="34" charset="0"/>
                <a:ea typeface="Noto Sans CJK SC" pitchFamily="34" charset="-122"/>
                <a:cs typeface="Noto Sans CJK SC" pitchFamily="34" charset="-120"/>
              </a:rPr>
              <a:t>• 团队定期通过小组会议复盘进展并调整细节。</a:t>
            </a:r>
            <a:endParaRPr lang="en-US" sz="1600" dirty="0"/>
          </a:p>
        </p:txBody>
      </p:sp>
      <p:sp>
        <p:nvSpPr>
          <p:cNvPr id="13" name="Text 11"/>
          <p:cNvSpPr/>
          <p:nvPr/>
        </p:nvSpPr>
        <p:spPr>
          <a:xfrm>
            <a:off x="786384" y="4116832"/>
            <a:ext cx="4937760" cy="741680"/>
          </a:xfrm>
          <a:prstGeom prst="rect">
            <a:avLst/>
          </a:prstGeom>
          <a:noFill/>
          <a:ln/>
        </p:spPr>
        <p:txBody>
          <a:bodyPr wrap="square" lIns="0" tIns="0" rIns="0" bIns="0" rtlCol="0" anchor="ctr">
            <a:normAutofit/>
          </a:bodyPr>
          <a:lstStyle/>
          <a:p>
            <a:pPr marL="0" indent="0">
              <a:buNone/>
            </a:pPr>
            <a:r>
              <a:rPr lang="en-US" sz="1600" dirty="0">
                <a:solidFill>
                  <a:srgbClr val="18324A"/>
                </a:solidFill>
                <a:latin typeface="Noto Sans CJK SC" pitchFamily="34" charset="0"/>
                <a:ea typeface="Noto Sans CJK SC" pitchFamily="34" charset="-122"/>
                <a:cs typeface="Noto Sans CJK SC" pitchFamily="34" charset="-120"/>
              </a:rPr>
              <a:t>• 说明：此处展示的是前期筹备进度，不等同于正式实验结果。</a:t>
            </a:r>
            <a:endParaRPr lang="en-US" sz="1600" dirty="0"/>
          </a:p>
        </p:txBody>
      </p:sp>
      <p:sp>
        <p:nvSpPr>
          <p:cNvPr id="14" name="Text 12"/>
          <p:cNvSpPr/>
          <p:nvPr/>
        </p:nvSpPr>
        <p:spPr>
          <a:xfrm>
            <a:off x="6199632" y="1243584"/>
            <a:ext cx="2377440" cy="310896"/>
          </a:xfrm>
          <a:prstGeom prst="roundRect">
            <a:avLst/>
          </a:prstGeom>
          <a:solidFill>
            <a:srgbClr val="E9F7F3"/>
          </a:solidFill>
          <a:ln>
            <a:solidFill>
              <a:srgbClr val="B7E2D3"/>
            </a:solidFill>
          </a:ln>
        </p:spPr>
        <p:txBody>
          <a:bodyPr wrap="square" lIns="1016" tIns="1016" rIns="1016" bIns="1016" rtlCol="0" anchor="ctr">
            <a:normAutofit/>
          </a:bodyPr>
          <a:lstStyle/>
          <a:p>
            <a:pPr marL="0" indent="0" algn="ctr">
              <a:buNone/>
            </a:pPr>
            <a:r>
              <a:rPr lang="en-US" sz="1600" b="1" dirty="0" err="1">
                <a:solidFill>
                  <a:srgbClr val="2D8C8C"/>
                </a:solidFill>
                <a:latin typeface="Noto Sans CJK SC" pitchFamily="34" charset="0"/>
                <a:ea typeface="Noto Sans CJK SC" pitchFamily="34" charset="-122"/>
                <a:cs typeface="Noto Sans CJK SC" pitchFamily="34" charset="-120"/>
              </a:rPr>
              <a:t>中期已形成的阶段性成果</a:t>
            </a:r>
            <a:endParaRPr lang="en-US" sz="1600" dirty="0"/>
          </a:p>
        </p:txBody>
      </p:sp>
      <p:sp>
        <p:nvSpPr>
          <p:cNvPr id="15" name="Text 13"/>
          <p:cNvSpPr/>
          <p:nvPr/>
        </p:nvSpPr>
        <p:spPr>
          <a:xfrm>
            <a:off x="6272784" y="1719072"/>
            <a:ext cx="4892040" cy="496316"/>
          </a:xfrm>
          <a:prstGeom prst="rect">
            <a:avLst/>
          </a:prstGeom>
          <a:noFill/>
          <a:ln/>
        </p:spPr>
        <p:txBody>
          <a:bodyPr wrap="square" lIns="0" tIns="0" rIns="0" bIns="0" rtlCol="0" anchor="ctr">
            <a:normAutofit/>
          </a:bodyPr>
          <a:lstStyle/>
          <a:p>
            <a:pPr marL="0" indent="0">
              <a:buNone/>
            </a:pPr>
            <a:r>
              <a:rPr lang="en-US" sz="1520" dirty="0">
                <a:solidFill>
                  <a:srgbClr val="18324A"/>
                </a:solidFill>
                <a:latin typeface="Noto Sans CJK SC" pitchFamily="34" charset="0"/>
                <a:ea typeface="Noto Sans CJK SC" pitchFamily="34" charset="-122"/>
                <a:cs typeface="Noto Sans CJK SC" pitchFamily="34" charset="-120"/>
              </a:rPr>
              <a:t>• 核心理论体系与理论研究报告；</a:t>
            </a:r>
            <a:endParaRPr lang="en-US" sz="1520" dirty="0"/>
          </a:p>
        </p:txBody>
      </p:sp>
      <p:sp>
        <p:nvSpPr>
          <p:cNvPr id="16" name="Text 14"/>
          <p:cNvSpPr/>
          <p:nvPr/>
        </p:nvSpPr>
        <p:spPr>
          <a:xfrm>
            <a:off x="6272784" y="2288540"/>
            <a:ext cx="4892040" cy="496316"/>
          </a:xfrm>
          <a:prstGeom prst="rect">
            <a:avLst/>
          </a:prstGeom>
          <a:noFill/>
          <a:ln/>
        </p:spPr>
        <p:txBody>
          <a:bodyPr wrap="square" lIns="0" tIns="0" rIns="0" bIns="0" rtlCol="0" anchor="ctr">
            <a:normAutofit/>
          </a:bodyPr>
          <a:lstStyle/>
          <a:p>
            <a:pPr marL="0" indent="0">
              <a:buNone/>
            </a:pPr>
            <a:r>
              <a:rPr lang="en-US" sz="1520" dirty="0">
                <a:solidFill>
                  <a:srgbClr val="18324A"/>
                </a:solidFill>
                <a:latin typeface="Noto Sans CJK SC" pitchFamily="34" charset="0"/>
                <a:ea typeface="Noto Sans CJK SC" pitchFamily="34" charset="-122"/>
                <a:cs typeface="Noto Sans CJK SC" pitchFamily="34" charset="-120"/>
              </a:rPr>
              <a:t>• 系统整体架构设计文档；</a:t>
            </a:r>
            <a:endParaRPr lang="en-US" sz="1520" dirty="0"/>
          </a:p>
        </p:txBody>
      </p:sp>
      <p:sp>
        <p:nvSpPr>
          <p:cNvPr id="17" name="Text 15"/>
          <p:cNvSpPr/>
          <p:nvPr/>
        </p:nvSpPr>
        <p:spPr>
          <a:xfrm>
            <a:off x="6272784" y="2858008"/>
            <a:ext cx="4892040" cy="496316"/>
          </a:xfrm>
          <a:prstGeom prst="rect">
            <a:avLst/>
          </a:prstGeom>
          <a:noFill/>
          <a:ln/>
        </p:spPr>
        <p:txBody>
          <a:bodyPr wrap="square" lIns="0" tIns="0" rIns="0" bIns="0" rtlCol="0" anchor="ctr">
            <a:normAutofit/>
          </a:bodyPr>
          <a:lstStyle/>
          <a:p>
            <a:pPr marL="0" indent="0">
              <a:buNone/>
            </a:pPr>
            <a:r>
              <a:rPr lang="en-US" sz="1520" dirty="0">
                <a:solidFill>
                  <a:srgbClr val="18324A"/>
                </a:solidFill>
                <a:latin typeface="Noto Sans CJK SC" pitchFamily="34" charset="0"/>
                <a:ea typeface="Noto Sans CJK SC" pitchFamily="34" charset="-122"/>
                <a:cs typeface="Noto Sans CJK SC" pitchFamily="34" charset="-120"/>
              </a:rPr>
              <a:t>• 三大核心算法原理文档；</a:t>
            </a:r>
            <a:endParaRPr lang="en-US" sz="1520" dirty="0"/>
          </a:p>
        </p:txBody>
      </p:sp>
      <p:sp>
        <p:nvSpPr>
          <p:cNvPr id="18" name="Text 16"/>
          <p:cNvSpPr/>
          <p:nvPr/>
        </p:nvSpPr>
        <p:spPr>
          <a:xfrm>
            <a:off x="6272784" y="3427476"/>
            <a:ext cx="4892040" cy="496316"/>
          </a:xfrm>
          <a:prstGeom prst="rect">
            <a:avLst/>
          </a:prstGeom>
          <a:noFill/>
          <a:ln/>
        </p:spPr>
        <p:txBody>
          <a:bodyPr wrap="square" lIns="0" tIns="0" rIns="0" bIns="0" rtlCol="0" anchor="ctr">
            <a:normAutofit/>
          </a:bodyPr>
          <a:lstStyle/>
          <a:p>
            <a:pPr marL="0" indent="0">
              <a:buNone/>
            </a:pPr>
            <a:r>
              <a:rPr lang="en-US" sz="1520" dirty="0">
                <a:solidFill>
                  <a:srgbClr val="18324A"/>
                </a:solidFill>
                <a:latin typeface="Noto Sans CJK SC" pitchFamily="34" charset="0"/>
                <a:ea typeface="Noto Sans CJK SC" pitchFamily="34" charset="-122"/>
                <a:cs typeface="Noto Sans CJK SC" pitchFamily="34" charset="-120"/>
              </a:rPr>
              <a:t>• 随机对照试验全流程方案；</a:t>
            </a:r>
            <a:endParaRPr lang="en-US" sz="1520" dirty="0"/>
          </a:p>
        </p:txBody>
      </p:sp>
      <p:sp>
        <p:nvSpPr>
          <p:cNvPr id="21" name="Text 19"/>
          <p:cNvSpPr/>
          <p:nvPr/>
        </p:nvSpPr>
        <p:spPr>
          <a:xfrm>
            <a:off x="6272784" y="3980435"/>
            <a:ext cx="4892040" cy="496316"/>
          </a:xfrm>
          <a:prstGeom prst="rect">
            <a:avLst/>
          </a:prstGeom>
          <a:noFill/>
          <a:ln/>
        </p:spPr>
        <p:txBody>
          <a:bodyPr wrap="square" lIns="0" tIns="0" rIns="0" bIns="0" rtlCol="0" anchor="ctr">
            <a:normAutofit/>
          </a:bodyPr>
          <a:lstStyle/>
          <a:p>
            <a:pPr marL="0" indent="0">
              <a:buNone/>
            </a:pPr>
            <a:r>
              <a:rPr lang="en-US" sz="1520" dirty="0">
                <a:solidFill>
                  <a:srgbClr val="18324A"/>
                </a:solidFill>
                <a:latin typeface="Noto Sans CJK SC" pitchFamily="34" charset="0"/>
                <a:ea typeface="Noto Sans CJK SC" pitchFamily="34" charset="-122"/>
                <a:cs typeface="Noto Sans CJK SC" pitchFamily="34" charset="-120"/>
              </a:rPr>
              <a:t>• 会议论文与口头报告交流证明。</a:t>
            </a:r>
            <a:endParaRPr lang="en-US" sz="1520" dirty="0"/>
          </a:p>
        </p:txBody>
      </p:sp>
      <p:sp>
        <p:nvSpPr>
          <p:cNvPr id="22" name="Text 20"/>
          <p:cNvSpPr/>
          <p:nvPr/>
        </p:nvSpPr>
        <p:spPr>
          <a:xfrm>
            <a:off x="749808" y="5742432"/>
            <a:ext cx="1005840" cy="292608"/>
          </a:xfrm>
          <a:prstGeom prst="roundRect">
            <a:avLst/>
          </a:prstGeom>
          <a:solidFill>
            <a:srgbClr val="FFF2E8"/>
          </a:solidFill>
          <a:ln>
            <a:solidFill>
              <a:srgbClr val="F3C89F"/>
            </a:solidFill>
          </a:ln>
        </p:spPr>
        <p:txBody>
          <a:bodyPr wrap="square" lIns="1016" tIns="1016" rIns="1016" bIns="1016" rtlCol="0" anchor="ctr">
            <a:normAutofit/>
          </a:bodyPr>
          <a:lstStyle/>
          <a:p>
            <a:pPr marL="0" indent="0" algn="ctr">
              <a:buNone/>
            </a:pPr>
            <a:r>
              <a:rPr lang="en-US" sz="1550" b="1" dirty="0">
                <a:solidFill>
                  <a:srgbClr val="D8902F"/>
                </a:solidFill>
                <a:latin typeface="Noto Sans CJK SC" pitchFamily="34" charset="0"/>
                <a:ea typeface="Noto Sans CJK SC" pitchFamily="34" charset="-122"/>
                <a:cs typeface="Noto Sans CJK SC" pitchFamily="34" charset="-120"/>
              </a:rPr>
              <a:t>结论</a:t>
            </a:r>
            <a:endParaRPr lang="en-US" sz="1550" dirty="0"/>
          </a:p>
        </p:txBody>
      </p:sp>
      <p:sp>
        <p:nvSpPr>
          <p:cNvPr id="23" name="Text 21"/>
          <p:cNvSpPr/>
          <p:nvPr/>
        </p:nvSpPr>
        <p:spPr>
          <a:xfrm>
            <a:off x="1810512" y="5705856"/>
            <a:ext cx="9601200" cy="365760"/>
          </a:xfrm>
          <a:prstGeom prst="rect">
            <a:avLst/>
          </a:prstGeom>
          <a:noFill/>
          <a:ln/>
        </p:spPr>
        <p:txBody>
          <a:bodyPr wrap="square" lIns="1016" tIns="1016" rIns="1016" bIns="1016" rtlCol="0" anchor="ctr">
            <a:normAutofit/>
          </a:bodyPr>
          <a:lstStyle/>
          <a:p>
            <a:pPr marL="0" indent="0" algn="l">
              <a:buNone/>
            </a:pPr>
            <a:r>
              <a:rPr lang="en-US" sz="1700" dirty="0">
                <a:solidFill>
                  <a:srgbClr val="18324A"/>
                </a:solidFill>
                <a:latin typeface="Noto Sans CJK SC" pitchFamily="34" charset="0"/>
                <a:ea typeface="Noto Sans CJK SC" pitchFamily="34" charset="-122"/>
                <a:cs typeface="Noto Sans CJK SC" pitchFamily="34" charset="-120"/>
              </a:rPr>
              <a:t>项目的“可汇报成果”已经较完整，但“可演示系统”仍属于下一阶段目标。</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292608"/>
            <a:ext cx="566928" cy="256032"/>
          </a:xfrm>
          <a:prstGeom prst="roundRect">
            <a:avLst/>
          </a:prstGeom>
          <a:solidFill>
            <a:srgbClr val="153E75"/>
          </a:solidFill>
          <a:ln>
            <a:solidFill>
              <a:srgbClr val="153E75"/>
            </a:solid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09</a:t>
            </a:r>
            <a:endParaRPr lang="en-US" sz="1400" dirty="0"/>
          </a:p>
        </p:txBody>
      </p:sp>
      <p:sp>
        <p:nvSpPr>
          <p:cNvPr id="3" name="Text 1"/>
          <p:cNvSpPr/>
          <p:nvPr/>
        </p:nvSpPr>
        <p:spPr>
          <a:xfrm>
            <a:off x="1234440" y="310896"/>
            <a:ext cx="9692640" cy="310896"/>
          </a:xfrm>
          <a:prstGeom prst="rect">
            <a:avLst/>
          </a:prstGeom>
          <a:noFill/>
          <a:ln/>
        </p:spPr>
        <p:txBody>
          <a:bodyPr wrap="square" lIns="0" tIns="0" rIns="0" bIns="0" rtlCol="0" anchor="ctr"/>
          <a:lstStyle/>
          <a:p>
            <a:pPr marL="0" indent="0">
              <a:buNone/>
            </a:pPr>
            <a:r>
              <a:rPr lang="en-US" sz="2300" b="1" dirty="0">
                <a:solidFill>
                  <a:srgbClr val="153E75"/>
                </a:solidFill>
                <a:latin typeface="Noto Sans CJK SC" pitchFamily="34" charset="0"/>
                <a:ea typeface="Noto Sans CJK SC" pitchFamily="34" charset="-122"/>
                <a:cs typeface="Noto Sans CJK SC" pitchFamily="34" charset="-120"/>
              </a:rPr>
              <a:t>下一阶段计划与风险把控</a:t>
            </a:r>
            <a:endParaRPr lang="en-US" sz="2300" dirty="0"/>
          </a:p>
        </p:txBody>
      </p:sp>
      <p:sp>
        <p:nvSpPr>
          <p:cNvPr id="4" name="Shape 2"/>
          <p:cNvSpPr/>
          <p:nvPr/>
        </p:nvSpPr>
        <p:spPr>
          <a:xfrm>
            <a:off x="530352" y="749808"/>
            <a:ext cx="11109960" cy="0"/>
          </a:xfrm>
          <a:prstGeom prst="line">
            <a:avLst/>
          </a:prstGeom>
          <a:noFill/>
          <a:ln w="12700">
            <a:solidFill>
              <a:srgbClr val="153E75"/>
            </a:solidFill>
            <a:prstDash val="solid"/>
          </a:ln>
        </p:spPr>
      </p:sp>
      <p:sp>
        <p:nvSpPr>
          <p:cNvPr id="5" name="Text 3"/>
          <p:cNvSpPr/>
          <p:nvPr/>
        </p:nvSpPr>
        <p:spPr>
          <a:xfrm>
            <a:off x="548640" y="822960"/>
            <a:ext cx="10972800" cy="210312"/>
          </a:xfrm>
          <a:prstGeom prst="rect">
            <a:avLst/>
          </a:prstGeom>
          <a:noFill/>
          <a:ln/>
        </p:spPr>
        <p:txBody>
          <a:bodyPr wrap="square" lIns="0" tIns="0" rIns="0" bIns="0" rtlCol="0" anchor="ctr"/>
          <a:lstStyle/>
          <a:p>
            <a:pPr marL="0" indent="0">
              <a:buNone/>
            </a:pPr>
            <a:r>
              <a:rPr lang="en-US" sz="1150" dirty="0">
                <a:solidFill>
                  <a:srgbClr val="5B6F84"/>
                </a:solidFill>
                <a:latin typeface="Noto Sans CJK SC" pitchFamily="34" charset="0"/>
                <a:ea typeface="Noto Sans CJK SC" pitchFamily="34" charset="-122"/>
                <a:cs typeface="Noto Sans CJK SC" pitchFamily="34" charset="-120"/>
              </a:rPr>
              <a:t>后续工作将从“理论/设计成果”进一步推进到“正式实验 + 系统开发”</a:t>
            </a:r>
            <a:endParaRPr lang="en-US" sz="1150" dirty="0"/>
          </a:p>
        </p:txBody>
      </p:sp>
      <p:sp>
        <p:nvSpPr>
          <p:cNvPr id="6" name="Shape 4"/>
          <p:cNvSpPr/>
          <p:nvPr/>
        </p:nvSpPr>
        <p:spPr>
          <a:xfrm>
            <a:off x="530352" y="6419088"/>
            <a:ext cx="11109960" cy="0"/>
          </a:xfrm>
          <a:prstGeom prst="line">
            <a:avLst/>
          </a:prstGeom>
          <a:noFill/>
          <a:ln w="12700">
            <a:solidFill>
              <a:srgbClr val="C8D8E8"/>
            </a:solidFill>
            <a:prstDash val="solid"/>
          </a:ln>
        </p:spPr>
      </p:sp>
      <p:sp>
        <p:nvSpPr>
          <p:cNvPr id="7" name="Text 5"/>
          <p:cNvSpPr/>
          <p:nvPr/>
        </p:nvSpPr>
        <p:spPr>
          <a:xfrm>
            <a:off x="548640" y="6473952"/>
            <a:ext cx="6400800" cy="164592"/>
          </a:xfrm>
          <a:prstGeom prst="rect">
            <a:avLst/>
          </a:prstGeom>
          <a:noFill/>
          <a:ln/>
        </p:spPr>
        <p:txBody>
          <a:bodyPr wrap="square" lIns="0" tIns="0" rIns="0" bIns="0" rtlCol="0" anchor="ctr"/>
          <a:lstStyle/>
          <a:p>
            <a:pPr marL="0" indent="0">
              <a:buNone/>
            </a:pPr>
            <a:r>
              <a:rPr lang="en-US" sz="980" dirty="0">
                <a:solidFill>
                  <a:srgbClr val="5B6F84"/>
                </a:solidFill>
                <a:latin typeface="Noto Sans CJK SC" pitchFamily="34" charset="0"/>
                <a:ea typeface="Noto Sans CJK SC" pitchFamily="34" charset="-122"/>
                <a:cs typeface="Noto Sans CJK SC" pitchFamily="34" charset="-120"/>
              </a:rPr>
              <a:t>大连理工大学大学生创新创业训练计划项目 · 中期检查报告</a:t>
            </a:r>
            <a:endParaRPr lang="en-US" sz="980" dirty="0"/>
          </a:p>
        </p:txBody>
      </p:sp>
      <p:sp>
        <p:nvSpPr>
          <p:cNvPr id="8" name="Text 6"/>
          <p:cNvSpPr/>
          <p:nvPr/>
        </p:nvSpPr>
        <p:spPr>
          <a:xfrm>
            <a:off x="713232" y="1243584"/>
            <a:ext cx="1645920" cy="310896"/>
          </a:xfrm>
          <a:prstGeom prst="roundRect">
            <a:avLst/>
          </a:prstGeom>
          <a:solidFill>
            <a:srgbClr val="EAF4FF"/>
          </a:solidFill>
          <a:ln>
            <a:solidFill>
              <a:srgbClr val="B8D7F5"/>
            </a:solidFill>
          </a:ln>
        </p:spPr>
        <p:txBody>
          <a:bodyPr wrap="square" lIns="1016" tIns="1016" rIns="1016" bIns="1016" rtlCol="0" anchor="ctr">
            <a:normAutofit/>
          </a:bodyPr>
          <a:lstStyle/>
          <a:p>
            <a:pPr marL="0" indent="0" algn="ctr">
              <a:buNone/>
            </a:pPr>
            <a:r>
              <a:rPr lang="en-US" sz="1600" b="1" dirty="0">
                <a:solidFill>
                  <a:srgbClr val="153E75"/>
                </a:solidFill>
                <a:latin typeface="Noto Sans CJK SC" pitchFamily="34" charset="0"/>
                <a:ea typeface="Noto Sans CJK SC" pitchFamily="34" charset="-122"/>
                <a:cs typeface="Noto Sans CJK SC" pitchFamily="34" charset="-120"/>
              </a:rPr>
              <a:t>下一阶段计划</a:t>
            </a:r>
            <a:endParaRPr lang="en-US" sz="1600" dirty="0"/>
          </a:p>
        </p:txBody>
      </p:sp>
      <p:sp>
        <p:nvSpPr>
          <p:cNvPr id="9" name="Text 7"/>
          <p:cNvSpPr/>
          <p:nvPr/>
        </p:nvSpPr>
        <p:spPr>
          <a:xfrm>
            <a:off x="713232" y="1664208"/>
            <a:ext cx="5440680" cy="3429000"/>
          </a:xfrm>
          <a:prstGeom prst="roundRect">
            <a:avLst/>
          </a:prstGeom>
          <a:solidFill>
            <a:srgbClr val="FFFFFF"/>
          </a:solidFill>
          <a:ln>
            <a:solidFill>
              <a:srgbClr val="C8D8E8"/>
            </a:solidFill>
          </a:ln>
        </p:spPr>
        <p:txBody>
          <a:bodyPr wrap="square" lIns="1016" tIns="1016" rIns="1016" bIns="1016" rtlCol="0" anchor="ctr">
            <a:normAutofit/>
          </a:bodyPr>
          <a:lstStyle/>
          <a:p>
            <a:pPr marL="0" indent="0" algn="l">
              <a:buNone/>
            </a:pPr>
            <a:r>
              <a:rPr lang="en-US" sz="1610" dirty="0">
                <a:solidFill>
                  <a:srgbClr val="18324A"/>
                </a:solidFill>
                <a:latin typeface="Noto Sans CJK SC" pitchFamily="34" charset="0"/>
                <a:ea typeface="Noto Sans CJK SC" pitchFamily="34" charset="-122"/>
                <a:cs typeface="Noto Sans CJK SC" pitchFamily="34" charset="-120"/>
              </a:rPr>
              <a:t>1. 2026年5月底前完成正式实验干预与数据采集，并完成全量数据清洗、整理与统计分析。</a:t>
            </a:r>
            <a:endParaRPr lang="en-US" sz="1610" dirty="0"/>
          </a:p>
          <a:p>
            <a:pPr marL="0" indent="0" algn="l">
              <a:buNone/>
            </a:pPr>
            <a:endParaRPr lang="en-US" sz="1610" dirty="0"/>
          </a:p>
          <a:p>
            <a:pPr marL="0" indent="0" algn="l">
              <a:buNone/>
            </a:pPr>
            <a:r>
              <a:rPr lang="en-US" sz="1610" dirty="0">
                <a:solidFill>
                  <a:srgbClr val="18324A"/>
                </a:solidFill>
                <a:latin typeface="Noto Sans CJK SC" pitchFamily="34" charset="0"/>
                <a:ea typeface="Noto Sans CJK SC" pitchFamily="34" charset="-122"/>
                <a:cs typeface="Noto Sans CJK SC" pitchFamily="34" charset="-120"/>
              </a:rPr>
              <a:t>2. 基于已完成的系统架构与算法方案，推进 VR 身心脑协同训练系统的代码开发、模块集成与测试优化。</a:t>
            </a:r>
            <a:endParaRPr lang="en-US" sz="1610" dirty="0"/>
          </a:p>
          <a:p>
            <a:pPr marL="0" indent="0" algn="l">
              <a:buNone/>
            </a:pPr>
            <a:endParaRPr lang="en-US" sz="1610" dirty="0"/>
          </a:p>
          <a:p>
            <a:pPr marL="0" indent="0" algn="l">
              <a:buNone/>
            </a:pPr>
            <a:r>
              <a:rPr lang="en-US" sz="1610" dirty="0">
                <a:solidFill>
                  <a:srgbClr val="18324A"/>
                </a:solidFill>
                <a:latin typeface="Noto Sans CJK SC" pitchFamily="34" charset="0"/>
                <a:ea typeface="Noto Sans CJK SC" pitchFamily="34" charset="-122"/>
                <a:cs typeface="Noto Sans CJK SC" pitchFamily="34" charset="-120"/>
              </a:rPr>
              <a:t>3. 结合正式实验结果完善论文，完成期刊论文修改、润色与投稿；预申报实用新型国家专利。</a:t>
            </a:r>
            <a:endParaRPr lang="en-US" sz="1610" dirty="0"/>
          </a:p>
        </p:txBody>
      </p:sp>
      <p:sp>
        <p:nvSpPr>
          <p:cNvPr id="10" name="Text 8"/>
          <p:cNvSpPr/>
          <p:nvPr/>
        </p:nvSpPr>
        <p:spPr>
          <a:xfrm>
            <a:off x="6492240" y="2010775"/>
            <a:ext cx="1737360" cy="310896"/>
          </a:xfrm>
          <a:prstGeom prst="roundRect">
            <a:avLst/>
          </a:prstGeom>
          <a:solidFill>
            <a:srgbClr val="E9F7F3"/>
          </a:solidFill>
          <a:ln>
            <a:solidFill>
              <a:srgbClr val="B7E2D3"/>
            </a:solidFill>
          </a:ln>
        </p:spPr>
        <p:txBody>
          <a:bodyPr wrap="square" lIns="1016" tIns="1016" rIns="1016" bIns="1016" rtlCol="0" anchor="ctr">
            <a:normAutofit/>
          </a:bodyPr>
          <a:lstStyle/>
          <a:p>
            <a:pPr marL="0" indent="0" algn="ctr">
              <a:buNone/>
            </a:pPr>
            <a:r>
              <a:rPr lang="en-US" sz="1600" b="1" dirty="0">
                <a:solidFill>
                  <a:srgbClr val="2D8C8C"/>
                </a:solidFill>
                <a:latin typeface="Noto Sans CJK SC" pitchFamily="34" charset="0"/>
                <a:ea typeface="Noto Sans CJK SC" pitchFamily="34" charset="-122"/>
                <a:cs typeface="Noto Sans CJK SC" pitchFamily="34" charset="-120"/>
              </a:rPr>
              <a:t>主要风险与应对</a:t>
            </a:r>
            <a:endParaRPr lang="en-US" sz="1600" dirty="0"/>
          </a:p>
        </p:txBody>
      </p:sp>
      <p:sp>
        <p:nvSpPr>
          <p:cNvPr id="11" name="Text 9"/>
          <p:cNvSpPr/>
          <p:nvPr/>
        </p:nvSpPr>
        <p:spPr>
          <a:xfrm>
            <a:off x="6492240" y="2782538"/>
            <a:ext cx="1188720" cy="274320"/>
          </a:xfrm>
          <a:prstGeom prst="roundRect">
            <a:avLst/>
          </a:prstGeom>
          <a:solidFill>
            <a:srgbClr val="153E75"/>
          </a:solidFill>
          <a:ln>
            <a:solidFill>
              <a:srgbClr val="153E75"/>
            </a:solidFill>
          </a:ln>
        </p:spPr>
        <p:txBody>
          <a:bodyPr wrap="square" lIns="1016" tIns="1016" rIns="1016" bIns="1016" rtlCol="0" anchor="ctr">
            <a:normAutofit/>
          </a:bodyPr>
          <a:lstStyle/>
          <a:p>
            <a:pPr marL="0" indent="0" algn="ctr">
              <a:buNone/>
            </a:pPr>
            <a:r>
              <a:rPr lang="en-US" sz="1270" b="1" dirty="0">
                <a:solidFill>
                  <a:srgbClr val="FFFFFF"/>
                </a:solidFill>
                <a:latin typeface="Noto Sans CJK SC" pitchFamily="34" charset="0"/>
                <a:ea typeface="Noto Sans CJK SC" pitchFamily="34" charset="-122"/>
                <a:cs typeface="Noto Sans CJK SC" pitchFamily="34" charset="-120"/>
              </a:rPr>
              <a:t>招募与依从性</a:t>
            </a:r>
            <a:endParaRPr lang="en-US" sz="1270" dirty="0"/>
          </a:p>
        </p:txBody>
      </p:sp>
      <p:sp>
        <p:nvSpPr>
          <p:cNvPr id="12" name="Text 10"/>
          <p:cNvSpPr/>
          <p:nvPr/>
        </p:nvSpPr>
        <p:spPr>
          <a:xfrm>
            <a:off x="7845552" y="2746807"/>
            <a:ext cx="3566160" cy="438912"/>
          </a:xfrm>
          <a:prstGeom prst="roundRect">
            <a:avLst/>
          </a:prstGeom>
          <a:solidFill>
            <a:srgbClr val="FFFFFF"/>
          </a:solidFill>
          <a:ln>
            <a:solidFill>
              <a:srgbClr val="C8D8E8"/>
            </a:solidFill>
          </a:ln>
        </p:spPr>
        <p:txBody>
          <a:bodyPr wrap="square" lIns="1016" tIns="1016" rIns="1016" bIns="1016" rtlCol="0" anchor="ctr">
            <a:normAutofit lnSpcReduction="10000"/>
          </a:bodyPr>
          <a:lstStyle/>
          <a:p>
            <a:pPr marL="0" indent="0" algn="l">
              <a:buNone/>
            </a:pPr>
            <a:r>
              <a:rPr lang="en-US" sz="1430" dirty="0">
                <a:solidFill>
                  <a:srgbClr val="18324A"/>
                </a:solidFill>
                <a:latin typeface="Noto Sans CJK SC" pitchFamily="34" charset="0"/>
                <a:ea typeface="Noto Sans CJK SC" pitchFamily="34" charset="-122"/>
                <a:cs typeface="Noto Sans CJK SC" pitchFamily="34" charset="-120"/>
              </a:rPr>
              <a:t>通过前期宣传、标准化指导与游戏化任务设计提高参与率。</a:t>
            </a:r>
            <a:endParaRPr lang="en-US" sz="1430" dirty="0"/>
          </a:p>
        </p:txBody>
      </p:sp>
      <p:sp>
        <p:nvSpPr>
          <p:cNvPr id="13" name="Text 11"/>
          <p:cNvSpPr/>
          <p:nvPr/>
        </p:nvSpPr>
        <p:spPr>
          <a:xfrm>
            <a:off x="6492240" y="3663983"/>
            <a:ext cx="1188720" cy="274320"/>
          </a:xfrm>
          <a:prstGeom prst="roundRect">
            <a:avLst/>
          </a:prstGeom>
          <a:solidFill>
            <a:srgbClr val="2D8C8C"/>
          </a:solidFill>
          <a:ln>
            <a:solidFill>
              <a:srgbClr val="2D8C8C"/>
            </a:solidFill>
          </a:ln>
        </p:spPr>
        <p:txBody>
          <a:bodyPr wrap="square" lIns="1016" tIns="1016" rIns="1016" bIns="1016" rtlCol="0" anchor="ctr">
            <a:normAutofit/>
          </a:bodyPr>
          <a:lstStyle/>
          <a:p>
            <a:pPr marL="0" indent="0" algn="ctr">
              <a:buNone/>
            </a:pPr>
            <a:r>
              <a:rPr lang="en-US" sz="1270" b="1" dirty="0">
                <a:solidFill>
                  <a:srgbClr val="FFFFFF"/>
                </a:solidFill>
                <a:latin typeface="Noto Sans CJK SC" pitchFamily="34" charset="0"/>
                <a:ea typeface="Noto Sans CJK SC" pitchFamily="34" charset="-122"/>
                <a:cs typeface="Noto Sans CJK SC" pitchFamily="34" charset="-120"/>
              </a:rPr>
              <a:t>实验一致性</a:t>
            </a:r>
            <a:endParaRPr lang="en-US" sz="1270" dirty="0"/>
          </a:p>
        </p:txBody>
      </p:sp>
      <p:sp>
        <p:nvSpPr>
          <p:cNvPr id="14" name="Text 12"/>
          <p:cNvSpPr/>
          <p:nvPr/>
        </p:nvSpPr>
        <p:spPr>
          <a:xfrm>
            <a:off x="7845552" y="3589918"/>
            <a:ext cx="3566160" cy="438912"/>
          </a:xfrm>
          <a:prstGeom prst="roundRect">
            <a:avLst/>
          </a:prstGeom>
          <a:solidFill>
            <a:srgbClr val="FFFFFF"/>
          </a:solidFill>
          <a:ln>
            <a:solidFill>
              <a:srgbClr val="C8D8E8"/>
            </a:solidFill>
          </a:ln>
        </p:spPr>
        <p:txBody>
          <a:bodyPr wrap="square" lIns="1016" tIns="1016" rIns="1016" bIns="1016" rtlCol="0" anchor="ctr">
            <a:normAutofit lnSpcReduction="10000"/>
          </a:bodyPr>
          <a:lstStyle/>
          <a:p>
            <a:pPr marL="0" indent="0" algn="l">
              <a:buNone/>
            </a:pPr>
            <a:r>
              <a:rPr lang="en-US" sz="1430" dirty="0">
                <a:solidFill>
                  <a:srgbClr val="18324A"/>
                </a:solidFill>
                <a:latin typeface="Noto Sans CJK SC" pitchFamily="34" charset="0"/>
                <a:ea typeface="Noto Sans CJK SC" pitchFamily="34" charset="-122"/>
                <a:cs typeface="Noto Sans CJK SC" pitchFamily="34" charset="-120"/>
              </a:rPr>
              <a:t>依托操作手册与预实验经验，保证流程标准化。</a:t>
            </a:r>
            <a:endParaRPr lang="en-US" sz="1430" dirty="0"/>
          </a:p>
        </p:txBody>
      </p:sp>
      <p:sp>
        <p:nvSpPr>
          <p:cNvPr id="15" name="Text 13"/>
          <p:cNvSpPr/>
          <p:nvPr/>
        </p:nvSpPr>
        <p:spPr>
          <a:xfrm>
            <a:off x="6492240" y="4514620"/>
            <a:ext cx="1188720" cy="274320"/>
          </a:xfrm>
          <a:prstGeom prst="roundRect">
            <a:avLst/>
          </a:prstGeom>
          <a:solidFill>
            <a:srgbClr val="E57C2C"/>
          </a:solidFill>
          <a:ln>
            <a:solidFill>
              <a:srgbClr val="E57C2C"/>
            </a:solidFill>
          </a:ln>
        </p:spPr>
        <p:txBody>
          <a:bodyPr wrap="square" lIns="1016" tIns="1016" rIns="1016" bIns="1016" rtlCol="0" anchor="ctr">
            <a:normAutofit/>
          </a:bodyPr>
          <a:lstStyle/>
          <a:p>
            <a:pPr marL="0" indent="0" algn="ctr">
              <a:buNone/>
            </a:pPr>
            <a:r>
              <a:rPr lang="en-US" sz="1270" b="1" dirty="0">
                <a:solidFill>
                  <a:srgbClr val="FFFFFF"/>
                </a:solidFill>
                <a:latin typeface="Noto Sans CJK SC" pitchFamily="34" charset="0"/>
                <a:ea typeface="Noto Sans CJK SC" pitchFamily="34" charset="-122"/>
                <a:cs typeface="Noto Sans CJK SC" pitchFamily="34" charset="-120"/>
              </a:rPr>
              <a:t>VR 眩晕与体验</a:t>
            </a:r>
            <a:endParaRPr lang="en-US" sz="1270" dirty="0"/>
          </a:p>
        </p:txBody>
      </p:sp>
      <p:sp>
        <p:nvSpPr>
          <p:cNvPr id="16" name="Text 14"/>
          <p:cNvSpPr/>
          <p:nvPr/>
        </p:nvSpPr>
        <p:spPr>
          <a:xfrm>
            <a:off x="7845552" y="4433030"/>
            <a:ext cx="3566160" cy="438912"/>
          </a:xfrm>
          <a:prstGeom prst="roundRect">
            <a:avLst/>
          </a:prstGeom>
          <a:solidFill>
            <a:srgbClr val="FFFFFF"/>
          </a:solidFill>
          <a:ln>
            <a:solidFill>
              <a:srgbClr val="C8D8E8"/>
            </a:solidFill>
          </a:ln>
        </p:spPr>
        <p:txBody>
          <a:bodyPr wrap="square" lIns="1016" tIns="1016" rIns="1016" bIns="1016" rtlCol="0" anchor="ctr">
            <a:normAutofit lnSpcReduction="10000"/>
          </a:bodyPr>
          <a:lstStyle/>
          <a:p>
            <a:pPr marL="0" indent="0" algn="l">
              <a:buNone/>
            </a:pPr>
            <a:r>
              <a:rPr lang="en-US" sz="1430" dirty="0">
                <a:solidFill>
                  <a:srgbClr val="18324A"/>
                </a:solidFill>
                <a:latin typeface="Noto Sans CJK SC" pitchFamily="34" charset="0"/>
                <a:ea typeface="Noto Sans CJK SC" pitchFamily="34" charset="-122"/>
                <a:cs typeface="Noto Sans CJK SC" pitchFamily="34" charset="-120"/>
              </a:rPr>
              <a:t>在正式系统开发阶段落实渲染优化与眩晕缓解策略。</a:t>
            </a:r>
            <a:endParaRPr lang="en-US" sz="1430" dirty="0"/>
          </a:p>
        </p:txBody>
      </p:sp>
      <p:sp>
        <p:nvSpPr>
          <p:cNvPr id="19" name="Text 17"/>
          <p:cNvSpPr/>
          <p:nvPr/>
        </p:nvSpPr>
        <p:spPr>
          <a:xfrm>
            <a:off x="749808" y="5376672"/>
            <a:ext cx="1005840" cy="292608"/>
          </a:xfrm>
          <a:prstGeom prst="roundRect">
            <a:avLst/>
          </a:prstGeom>
          <a:solidFill>
            <a:srgbClr val="E9F7F3"/>
          </a:solidFill>
          <a:ln>
            <a:solidFill>
              <a:srgbClr val="B7E2D3"/>
            </a:solidFill>
          </a:ln>
        </p:spPr>
        <p:txBody>
          <a:bodyPr wrap="square" lIns="1016" tIns="1016" rIns="1016" bIns="1016" rtlCol="0" anchor="ctr">
            <a:normAutofit/>
          </a:bodyPr>
          <a:lstStyle/>
          <a:p>
            <a:pPr marL="0" indent="0" algn="ctr">
              <a:buNone/>
            </a:pPr>
            <a:r>
              <a:rPr lang="en-US" sz="1550" b="1" dirty="0">
                <a:solidFill>
                  <a:srgbClr val="2E8B57"/>
                </a:solidFill>
                <a:latin typeface="Noto Sans CJK SC" pitchFamily="34" charset="0"/>
                <a:ea typeface="Noto Sans CJK SC" pitchFamily="34" charset="-122"/>
                <a:cs typeface="Noto Sans CJK SC" pitchFamily="34" charset="-120"/>
              </a:rPr>
              <a:t>判断</a:t>
            </a:r>
            <a:endParaRPr lang="en-US" sz="1550" dirty="0"/>
          </a:p>
        </p:txBody>
      </p:sp>
      <p:sp>
        <p:nvSpPr>
          <p:cNvPr id="20" name="Text 18"/>
          <p:cNvSpPr/>
          <p:nvPr/>
        </p:nvSpPr>
        <p:spPr>
          <a:xfrm>
            <a:off x="1810512" y="5340096"/>
            <a:ext cx="9601200" cy="365760"/>
          </a:xfrm>
          <a:prstGeom prst="rect">
            <a:avLst/>
          </a:prstGeom>
          <a:noFill/>
          <a:ln/>
        </p:spPr>
        <p:txBody>
          <a:bodyPr wrap="square" lIns="1016" tIns="1016" rIns="1016" bIns="1016" rtlCol="0" anchor="ctr">
            <a:normAutofit/>
          </a:bodyPr>
          <a:lstStyle/>
          <a:p>
            <a:pPr marL="0" indent="0" algn="l">
              <a:buNone/>
            </a:pPr>
            <a:r>
              <a:rPr lang="en-US" sz="1700" dirty="0">
                <a:solidFill>
                  <a:srgbClr val="18324A"/>
                </a:solidFill>
                <a:latin typeface="Noto Sans CJK SC" pitchFamily="34" charset="0"/>
                <a:ea typeface="Noto Sans CJK SC" pitchFamily="34" charset="-122"/>
                <a:cs typeface="Noto Sans CJK SC" pitchFamily="34" charset="-120"/>
              </a:rPr>
              <a:t>项目整体具备继续执行的基础，关键是后续正式实验与系统开发的衔接质量。</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315D"/>
        </a:solidFill>
        <a:effectLst/>
      </p:bgPr>
    </p:bg>
    <p:spTree>
      <p:nvGrpSpPr>
        <p:cNvPr id="1" name=""/>
        <p:cNvGrpSpPr/>
        <p:nvPr/>
      </p:nvGrpSpPr>
      <p:grpSpPr>
        <a:xfrm>
          <a:off x="0" y="0"/>
          <a:ext cx="0" cy="0"/>
          <a:chOff x="0" y="0"/>
          <a:chExt cx="0" cy="0"/>
        </a:xfrm>
      </p:grpSpPr>
      <p:sp>
        <p:nvSpPr>
          <p:cNvPr id="2" name="Text 0"/>
          <p:cNvSpPr/>
          <p:nvPr/>
        </p:nvSpPr>
        <p:spPr>
          <a:xfrm>
            <a:off x="841248" y="896112"/>
            <a:ext cx="1645920" cy="256032"/>
          </a:xfrm>
          <a:prstGeom prst="rect">
            <a:avLst/>
          </a:prstGeom>
          <a:noFill/>
          <a:ln/>
        </p:spPr>
        <p:txBody>
          <a:bodyPr wrap="square" lIns="0" tIns="0" rIns="0" bIns="0" rtlCol="0" anchor="ctr"/>
          <a:lstStyle/>
          <a:p>
            <a:pPr marL="0" indent="0">
              <a:buNone/>
            </a:pPr>
            <a:r>
              <a:rPr lang="en-US" sz="2000" b="1" dirty="0">
                <a:solidFill>
                  <a:srgbClr val="A9C4E7"/>
                </a:solidFill>
                <a:latin typeface="Noto Sans CJK SC" pitchFamily="34" charset="0"/>
                <a:ea typeface="Noto Sans CJK SC" pitchFamily="34" charset="-122"/>
                <a:cs typeface="Noto Sans CJK SC" pitchFamily="34" charset="-120"/>
              </a:rPr>
              <a:t>中期结论</a:t>
            </a:r>
            <a:endParaRPr lang="en-US" sz="2000" dirty="0"/>
          </a:p>
        </p:txBody>
      </p:sp>
      <p:sp>
        <p:nvSpPr>
          <p:cNvPr id="3" name="Text 1"/>
          <p:cNvSpPr/>
          <p:nvPr/>
        </p:nvSpPr>
        <p:spPr>
          <a:xfrm>
            <a:off x="841248" y="1298448"/>
            <a:ext cx="6583680" cy="932688"/>
          </a:xfrm>
          <a:prstGeom prst="rect">
            <a:avLst/>
          </a:prstGeom>
          <a:noFill/>
          <a:ln/>
        </p:spPr>
        <p:txBody>
          <a:bodyPr wrap="square" lIns="0" tIns="0" rIns="0" bIns="0" rtlCol="0" anchor="ctr"/>
          <a:lstStyle/>
          <a:p>
            <a:pPr marL="0" indent="0">
              <a:buNone/>
            </a:pPr>
            <a:r>
              <a:rPr lang="en-US" sz="2700" b="1" dirty="0">
                <a:solidFill>
                  <a:srgbClr val="FFFFFF"/>
                </a:solidFill>
                <a:latin typeface="Noto Sans CJK SC" pitchFamily="34" charset="0"/>
                <a:ea typeface="Noto Sans CJK SC" pitchFamily="34" charset="-122"/>
                <a:cs typeface="Noto Sans CJK SC" pitchFamily="34" charset="-120"/>
              </a:rPr>
              <a:t>项目整体按计划推进，已形成较完整的</a:t>
            </a:r>
            <a:endParaRPr lang="en-US" sz="2700" dirty="0"/>
          </a:p>
          <a:p>
            <a:pPr marL="0" indent="0">
              <a:buNone/>
            </a:pPr>
            <a:r>
              <a:rPr lang="en-US" sz="2700" b="1" dirty="0">
                <a:solidFill>
                  <a:srgbClr val="FFFFFF"/>
                </a:solidFill>
                <a:latin typeface="Noto Sans CJK SC" pitchFamily="34" charset="0"/>
                <a:ea typeface="Noto Sans CJK SC" pitchFamily="34" charset="-122"/>
                <a:cs typeface="Noto Sans CJK SC" pitchFamily="34" charset="-120"/>
              </a:rPr>
              <a:t>理论、设计、预实验与学术交流成果。</a:t>
            </a:r>
            <a:endParaRPr lang="en-US" sz="2700" dirty="0"/>
          </a:p>
        </p:txBody>
      </p:sp>
      <p:sp>
        <p:nvSpPr>
          <p:cNvPr id="4" name="Text 2"/>
          <p:cNvSpPr/>
          <p:nvPr/>
        </p:nvSpPr>
        <p:spPr>
          <a:xfrm>
            <a:off x="896112" y="2907792"/>
            <a:ext cx="5806440" cy="741680"/>
          </a:xfrm>
          <a:prstGeom prst="rect">
            <a:avLst/>
          </a:prstGeom>
          <a:noFill/>
          <a:ln/>
        </p:spPr>
        <p:txBody>
          <a:bodyPr wrap="square" lIns="0" tIns="0" rIns="0" bIns="0" rtlCol="0" anchor="ctr">
            <a:normAutofit/>
          </a:bodyPr>
          <a:lstStyle/>
          <a:p>
            <a:pPr marL="0" indent="0">
              <a:buNone/>
            </a:pPr>
            <a:r>
              <a:rPr lang="en-US" sz="1600" dirty="0">
                <a:solidFill>
                  <a:srgbClr val="DCE7F5"/>
                </a:solidFill>
                <a:latin typeface="Noto Sans CJK SC" pitchFamily="34" charset="0"/>
                <a:ea typeface="Noto Sans CJK SC" pitchFamily="34" charset="-122"/>
                <a:cs typeface="Noto Sans CJK SC" pitchFamily="34" charset="-120"/>
              </a:rPr>
              <a:t>• </a:t>
            </a:r>
            <a:r>
              <a:rPr lang="en-US" sz="1600" dirty="0" err="1">
                <a:solidFill>
                  <a:srgbClr val="DCE7F5"/>
                </a:solidFill>
                <a:latin typeface="Noto Sans CJK SC" pitchFamily="34" charset="0"/>
                <a:ea typeface="Noto Sans CJK SC" pitchFamily="34" charset="-122"/>
                <a:cs typeface="Noto Sans CJK SC" pitchFamily="34" charset="-120"/>
              </a:rPr>
              <a:t>本阶段重点成果：会议论文、口头报告、理论研究报告</a:t>
            </a:r>
            <a:endParaRPr lang="en-US" sz="1600" dirty="0"/>
          </a:p>
        </p:txBody>
      </p:sp>
      <p:sp>
        <p:nvSpPr>
          <p:cNvPr id="6" name="Text 4"/>
          <p:cNvSpPr/>
          <p:nvPr/>
        </p:nvSpPr>
        <p:spPr>
          <a:xfrm>
            <a:off x="896112" y="3762248"/>
            <a:ext cx="5806440" cy="508000"/>
          </a:xfrm>
          <a:prstGeom prst="rect">
            <a:avLst/>
          </a:prstGeom>
          <a:noFill/>
          <a:ln/>
        </p:spPr>
        <p:txBody>
          <a:bodyPr wrap="square" lIns="0" tIns="0" rIns="0" bIns="0" rtlCol="0" anchor="ctr">
            <a:normAutofit/>
          </a:bodyPr>
          <a:lstStyle/>
          <a:p>
            <a:pPr marL="0" indent="0">
              <a:buNone/>
            </a:pPr>
            <a:r>
              <a:rPr lang="en-US" sz="1600" dirty="0">
                <a:solidFill>
                  <a:srgbClr val="DCE7F5"/>
                </a:solidFill>
                <a:latin typeface="Noto Sans CJK SC" pitchFamily="34" charset="0"/>
                <a:ea typeface="Noto Sans CJK SC" pitchFamily="34" charset="-122"/>
                <a:cs typeface="Noto Sans CJK SC" pitchFamily="34" charset="-120"/>
              </a:rPr>
              <a:t>• 下一阶段将进入正式实验实施与系统开发整合。</a:t>
            </a:r>
            <a:endParaRPr lang="en-US" sz="1600" dirty="0"/>
          </a:p>
        </p:txBody>
      </p:sp>
      <p:sp>
        <p:nvSpPr>
          <p:cNvPr id="7" name="Text 5"/>
          <p:cNvSpPr/>
          <p:nvPr/>
        </p:nvSpPr>
        <p:spPr>
          <a:xfrm>
            <a:off x="7863840" y="2011680"/>
            <a:ext cx="3566160" cy="2011680"/>
          </a:xfrm>
          <a:prstGeom prst="roundRect">
            <a:avLst/>
          </a:prstGeom>
          <a:solidFill>
            <a:srgbClr val="173F73"/>
          </a:solidFill>
          <a:ln>
            <a:solidFill>
              <a:srgbClr val="2C5D98"/>
            </a:solidFill>
          </a:ln>
        </p:spPr>
        <p:txBody>
          <a:bodyPr wrap="square" lIns="1016" tIns="1016" rIns="1016" bIns="1016" rtlCol="0" anchor="ctr">
            <a:normAutofit/>
          </a:bodyPr>
          <a:lstStyle/>
          <a:p>
            <a:pPr marL="0" indent="0" algn="ctr">
              <a:buNone/>
            </a:pPr>
            <a:r>
              <a:rPr lang="en-US" sz="2900" b="1" dirty="0">
                <a:solidFill>
                  <a:srgbClr val="FFFFFF"/>
                </a:solidFill>
                <a:latin typeface="Noto Sans CJK SC" pitchFamily="34" charset="0"/>
                <a:ea typeface="Noto Sans CJK SC" pitchFamily="34" charset="-122"/>
                <a:cs typeface="Noto Sans CJK SC" pitchFamily="34" charset="-120"/>
              </a:rPr>
              <a:t>请各位专家</a:t>
            </a:r>
            <a:endParaRPr lang="en-US" sz="2900" dirty="0"/>
          </a:p>
          <a:p>
            <a:pPr marL="0" indent="0" algn="ctr">
              <a:buNone/>
            </a:pPr>
            <a:r>
              <a:rPr lang="en-US" sz="2900" b="1" dirty="0">
                <a:solidFill>
                  <a:srgbClr val="FFFFFF"/>
                </a:solidFill>
                <a:latin typeface="Noto Sans CJK SC" pitchFamily="34" charset="0"/>
                <a:ea typeface="Noto Sans CJK SC" pitchFamily="34" charset="-122"/>
                <a:cs typeface="Noto Sans CJK SC" pitchFamily="34" charset="-120"/>
              </a:rPr>
              <a:t>批评指正</a:t>
            </a:r>
            <a:endParaRPr lang="en-US" sz="2900" dirty="0"/>
          </a:p>
        </p:txBody>
      </p:sp>
      <p:sp>
        <p:nvSpPr>
          <p:cNvPr id="9" name="Text 7"/>
          <p:cNvSpPr/>
          <p:nvPr/>
        </p:nvSpPr>
        <p:spPr>
          <a:xfrm>
            <a:off x="841248" y="6309360"/>
            <a:ext cx="5669280" cy="164592"/>
          </a:xfrm>
          <a:prstGeom prst="rect">
            <a:avLst/>
          </a:prstGeom>
          <a:noFill/>
          <a:ln/>
        </p:spPr>
        <p:txBody>
          <a:bodyPr wrap="square" lIns="0" tIns="0" rIns="0" bIns="0" rtlCol="0" anchor="ctr"/>
          <a:lstStyle/>
          <a:p>
            <a:pPr marL="0" indent="0">
              <a:buNone/>
            </a:pPr>
            <a:r>
              <a:rPr lang="en-US" sz="1050" dirty="0">
                <a:solidFill>
                  <a:srgbClr val="9FB9D8"/>
                </a:solidFill>
                <a:latin typeface="Noto Sans CJK SC" pitchFamily="34" charset="0"/>
                <a:ea typeface="Noto Sans CJK SC" pitchFamily="34" charset="-122"/>
                <a:cs typeface="Noto Sans CJK SC" pitchFamily="34" charset="-120"/>
              </a:rPr>
              <a:t>大连理工大学大学生创新创业训练计划项目 · 中期检查报告</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858</Words>
  <Application>Microsoft Office PowerPoint</Application>
  <PresentationFormat>宽屏</PresentationFormat>
  <Paragraphs>199</Paragraphs>
  <Slides>10</Slides>
  <Notes>10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10</vt:i4>
      </vt:variant>
    </vt:vector>
  </HeadingPairs>
  <TitlesOfParts>
    <vt:vector size="13" baseType="lpstr">
      <vt:lpstr>Noto Sans CJK SC</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虚拟现实（VR）技术支持下的大学生身心脑协同训练系统开发</dc:title>
  <dc:subject>中期检查报告</dc:subject>
  <dc:creator>OpenAI</dc:creator>
  <cp:lastModifiedBy>P olaris</cp:lastModifiedBy>
  <cp:revision>2</cp:revision>
  <dcterms:created xsi:type="dcterms:W3CDTF">2026-04-08T14:14:32Z</dcterms:created>
  <dcterms:modified xsi:type="dcterms:W3CDTF">2026-04-11T08:34:56Z</dcterms:modified>
</cp:coreProperties>
</file>